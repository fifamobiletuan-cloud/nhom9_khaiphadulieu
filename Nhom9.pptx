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7.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ed87e16-455c-5426-f3d0-b508c27fec90}">
          <p14:sldIdLst>
            <p14:sldId id="256"/>
            <p14:sldId id="257"/>
          </p14:sldIdLst>
        </p14:section>
        <p14:section name="Bài toán và dữ liệu" id="{5f084f9c-0634-8d38-7d34-2cffae29c621}">
          <p14:sldIdLst>
            <p14:sldId id="258"/>
            <p14:sldId id="259"/>
            <p14:sldId id="260"/>
            <p14:sldId id="261"/>
            <p14:sldId id="262"/>
          </p14:sldIdLst>
        </p14:section>
        <p14:section name="Tiền xử lý và biểu diễn văn bản" id="{ad1ae1af-3f55-8042-58eb-ae49931312dc}">
          <p14:sldIdLst>
            <p14:sldId id="263"/>
            <p14:sldId id="264"/>
            <p14:sldId id="265"/>
            <p14:sldId id="266"/>
            <p14:sldId id="267"/>
          </p14:sldIdLst>
        </p14:section>
        <p14:section name="Khai phá không giám sát" id="{d2e13307-d520-0659-22af-e300b93204a6}">
          <p14:sldIdLst>
            <p14:sldId id="268"/>
            <p14:sldId id="269"/>
            <p14:sldId id="270"/>
            <p14:sldId id="271"/>
          </p14:sldIdLst>
        </p14:section>
        <p14:section name="Mô hình và đánh giá" id="{b5fc3e60-8674-fdbd-1842-0dc4b523cb54}">
          <p14:sldIdLst>
            <p14:sldId id="272"/>
            <p14:sldId id="273"/>
            <p14:sldId id="274"/>
            <p14:sldId id="275"/>
            <p14:sldId id="276"/>
            <p14:sldId id="277"/>
          </p14:sldIdLst>
        </p14:section>
        <p14:section name="Ứng dụng" id="{ad6f19b9-65f1-b515-40fd-85a6fa18334a}">
          <p14:sldIdLst>
            <p14:sldId id="278"/>
            <p14:sldId id="279"/>
            <p14:sldId id="280"/>
            <p14:sldId id="281"/>
            <p14:sldId id="282"/>
          </p14:sldIdLst>
        </p14:section>
        <p14:section name="Kết luận" id="{aa1e8482-3a7e-ce43-8049-34f4b21706e6}">
          <p14:sldIdLst>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28"/>
                </a:solidFill>
                <a:latin typeface="+mn-lt"/>
              </a:defRPr>
            </a:pPr>
            <a:r>
              <a:rPr sz="1600" b="0" i="0" u="none" strike="noStrike">
                <a:solidFill>
                  <a:srgbClr val="1F2328"/>
                </a:solidFill>
                <a:latin typeface="+mn-lt"/>
              </a:rPr>
              <a:t>Số dấu “!” trung bình trong một review</a:t>
            </a:r>
          </a:p>
        </c:rich>
      </c:tx>
      <c:layout/>
      <c:overlay val="0"/>
    </c:title>
    <c:autoTitleDeleted val="0"/>
    <c:plotArea>
      <c:layout/>
      <c:barChart>
        <c:barDir val="col"/>
        <c:grouping val="clustered"/>
        <c:varyColors val="0"/>
        <c:ser>
          <c:idx val="0"/>
          <c:order val="0"/>
          <c:tx>
            <c:strRef>
              <c:f>Sheet1!$B$1</c:f>
              <c:strCache>
                <c:ptCount val="1"/>
                <c:pt idx="0">
                  <c:v>Số dấu !</c:v>
                </c:pt>
              </c:strCache>
            </c:strRef>
          </c:tx>
          <c:spPr>
            <a:solidFill>
              <a:srgbClr val="D9822B"/>
            </a:solidFill>
            <a:effectLst/>
          </c:spPr>
          <c:invertIfNegative val="0"/>
          <c:dLbls>
            <c:numFmt formatCode="0.0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D9822B"/>
              </a:solidFill>
              <a:effectLst/>
            </c:spPr>
          </c:dPt>
          <c:dPt>
            <c:idx val="1"/>
            <c:invertIfNegative val="0"/>
            <c:bubble3D val="0"/>
            <c:spPr>
              <a:solidFill>
                <a:srgbClr val="A9B0B8"/>
              </a:solidFill>
              <a:effectLst/>
            </c:spPr>
          </c:dPt>
          <c:dPt>
            <c:idx val="2"/>
            <c:invertIfNegative val="0"/>
            <c:bubble3D val="0"/>
            <c:spPr>
              <a:solidFill>
                <a:srgbClr val="A9B0B8"/>
              </a:solidFill>
              <a:effectLst/>
            </c:spPr>
          </c:dPt>
          <c:dPt>
            <c:idx val="3"/>
            <c:invertIfNegative val="0"/>
            <c:bubble3D val="0"/>
            <c:spPr>
              <a:solidFill>
                <a:srgbClr val="A9B0B8"/>
              </a:solidFill>
              <a:effectLst/>
            </c:spPr>
          </c:dPt>
          <c:dPt>
            <c:idx val="4"/>
            <c:invertIfNegative val="0"/>
            <c:bubble3D val="0"/>
            <c:spPr>
              <a:solidFill>
                <a:srgbClr val="D9822B"/>
              </a:solidFill>
              <a:effectLst/>
            </c:spPr>
          </c:dPt>
          <c:cat>
            <c:multiLvlStrRef>
              <c:f>Sheet1!$A$2:$A$6</c:f>
              <c:multiLvlStrCache>
                <c:ptCount val="5"/>
                <c:lvl>
                  <c:pt idx="0">
                    <c:v>1 sao</c:v>
                  </c:pt>
                  <c:pt idx="1">
                    <c:v>2 sao</c:v>
                  </c:pt>
                  <c:pt idx="2">
                    <c:v>3 sao</c:v>
                  </c:pt>
                  <c:pt idx="3">
                    <c:v>4 sao</c:v>
                  </c:pt>
                  <c:pt idx="4">
                    <c:v>5 sao</c:v>
                  </c:pt>
                </c:lvl>
              </c:multiLvlStrCache>
            </c:multiLvlStrRef>
          </c:cat>
          <c:val>
            <c:numRef>
              <c:f>Sheet1!$B$2:$B$6</c:f>
              <c:numCache>
                <c:formatCode>General</c:formatCode>
                <c:ptCount val="5"/>
                <c:pt idx="0">
                  <c:v>1.014</c:v>
                </c:pt>
                <c:pt idx="1">
                  <c:v>0.496</c:v>
                </c:pt>
                <c:pt idx="2">
                  <c:v>0.374</c:v>
                </c:pt>
                <c:pt idx="3">
                  <c:v>0.587</c:v>
                </c:pt>
                <c:pt idx="4">
                  <c:v>1.258</c:v>
                </c:pt>
              </c:numCache>
            </c:numRef>
          </c:val>
        </c:ser>
        <c:dLbls>
          <c:numFmt formatCode="0.0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B43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28"/>
                </a:solidFill>
                <a:latin typeface="+mn-lt"/>
              </a:defRPr>
            </a:pPr>
            <a:r>
              <a:rPr sz="1600" b="0" i="0" u="none" strike="noStrike">
                <a:solidFill>
                  <a:srgbClr val="1F2328"/>
                </a:solidFill>
                <a:latin typeface="+mn-lt"/>
              </a:rPr>
              <a:t>Hệ số Silhouette theo k</a:t>
            </a:r>
          </a:p>
        </c:rich>
      </c:tx>
      <c:layout/>
      <c:overlay val="0"/>
    </c:title>
    <c:autoTitleDeleted val="0"/>
    <c:plotArea>
      <c:layout/>
      <c:barChart>
        <c:barDir val="col"/>
        <c:grouping val="clustered"/>
        <c:varyColors val="0"/>
        <c:ser>
          <c:idx val="0"/>
          <c:order val="0"/>
          <c:tx>
            <c:strRef>
              <c:f>Sheet1!$B$1</c:f>
              <c:strCache>
                <c:ptCount val="1"/>
                <c:pt idx="0">
                  <c:v>Silhouette</c:v>
                </c:pt>
              </c:strCache>
            </c:strRef>
          </c:tx>
          <c:spPr>
            <a:solidFill>
              <a:srgbClr val="A9B0B8"/>
            </a:solidFill>
            <a:effectLst/>
          </c:spPr>
          <c:invertIfNegative val="0"/>
          <c:dLbls>
            <c:numFmt formatCode="0.00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A9B0B8"/>
              </a:solidFill>
              <a:effectLst/>
            </c:spPr>
          </c:dPt>
          <c:dPt>
            <c:idx val="1"/>
            <c:invertIfNegative val="0"/>
            <c:bubble3D val="0"/>
            <c:spPr>
              <a:solidFill>
                <a:srgbClr val="D9822B"/>
              </a:solidFill>
              <a:effectLst/>
            </c:spPr>
          </c:dPt>
          <c:dPt>
            <c:idx val="2"/>
            <c:invertIfNegative val="0"/>
            <c:bubble3D val="0"/>
            <c:spPr>
              <a:solidFill>
                <a:srgbClr val="A9B0B8"/>
              </a:solidFill>
              <a:effectLst/>
            </c:spPr>
          </c:dPt>
          <c:dPt>
            <c:idx val="3"/>
            <c:invertIfNegative val="0"/>
            <c:bubble3D val="0"/>
            <c:spPr>
              <a:solidFill>
                <a:srgbClr val="A9B0B8"/>
              </a:solidFill>
              <a:effectLst/>
            </c:spPr>
          </c:dPt>
          <c:cat>
            <c:multiLvlStrRef>
              <c:f>Sheet1!$A$2:$A$5</c:f>
              <c:multiLvlStrCache>
                <c:ptCount val="4"/>
                <c:lvl>
                  <c:pt idx="0">
                    <c:v>k = 4</c:v>
                  </c:pt>
                  <c:pt idx="1">
                    <c:v>k = 6</c:v>
                  </c:pt>
                  <c:pt idx="2">
                    <c:v>k = 8</c:v>
                  </c:pt>
                  <c:pt idx="3">
                    <c:v>k = 10</c:v>
                  </c:pt>
                </c:lvl>
              </c:multiLvlStrCache>
            </c:multiLvlStrRef>
          </c:cat>
          <c:val>
            <c:numRef>
              <c:f>Sheet1!$B$2:$B$5</c:f>
              <c:numCache>
                <c:formatCode>General</c:formatCode>
                <c:ptCount val="4"/>
                <c:pt idx="0">
                  <c:v>0.0409</c:v>
                </c:pt>
                <c:pt idx="1">
                  <c:v>0.048</c:v>
                </c:pt>
                <c:pt idx="2">
                  <c:v>0.0309</c:v>
                </c:pt>
                <c:pt idx="3">
                  <c:v>0.0376</c:v>
                </c:pt>
              </c:numCache>
            </c:numRef>
          </c:val>
        </c:ser>
        <c:dLbls>
          <c:numFmt formatCode="0.00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B43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28"/>
                </a:solidFill>
                <a:latin typeface="+mn-lt"/>
              </a:defRPr>
            </a:pPr>
            <a:r>
              <a:rPr sz="1600" b="0" i="0" u="none" strike="noStrike">
                <a:solidFill>
                  <a:srgbClr val="1F2328"/>
                </a:solidFill>
                <a:latin typeface="+mn-lt"/>
              </a:rPr>
              <a:t>Tỷ lệ 6 cụm trên 100,000 review (%)</a:t>
            </a:r>
          </a:p>
        </c:rich>
      </c:tx>
      <c:layout/>
      <c:overlay val="0"/>
    </c:title>
    <c:autoTitleDeleted val="0"/>
    <c:plotArea>
      <c:layout/>
      <c:barChart>
        <c:barDir val="bar"/>
        <c:grouping val="clustered"/>
        <c:varyColors val="0"/>
        <c:ser>
          <c:idx val="0"/>
          <c:order val="0"/>
          <c:tx>
            <c:strRef>
              <c:f>Sheet1!$B$1</c:f>
              <c:strCache>
                <c:ptCount val="1"/>
                <c:pt idx="0">
                  <c:v>Tỷ lệ</c:v>
                </c:pt>
              </c:strCache>
            </c:strRef>
          </c:tx>
          <c:spPr>
            <a:solidFill>
              <a:srgbClr val="A9B0B8"/>
            </a:solidFill>
            <a:effectLst/>
          </c:spPr>
          <c:invertIfNegative val="0"/>
          <c:dLbls>
            <c:numFmt formatCode="0.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A9B0B8"/>
              </a:solidFill>
              <a:effectLst/>
            </c:spPr>
          </c:dPt>
          <c:dPt>
            <c:idx val="1"/>
            <c:invertIfNegative val="0"/>
            <c:bubble3D val="0"/>
            <c:spPr>
              <a:solidFill>
                <a:srgbClr val="B5483A"/>
              </a:solidFill>
              <a:effectLst/>
            </c:spPr>
          </c:dPt>
          <c:dPt>
            <c:idx val="2"/>
            <c:invertIfNegative val="0"/>
            <c:bubble3D val="0"/>
            <c:spPr>
              <a:solidFill>
                <a:srgbClr val="B5483A"/>
              </a:solidFill>
              <a:effectLst/>
            </c:spPr>
          </c:dPt>
          <c:dPt>
            <c:idx val="3"/>
            <c:invertIfNegative val="0"/>
            <c:bubble3D val="0"/>
            <c:spPr>
              <a:solidFill>
                <a:srgbClr val="A9B0B8"/>
              </a:solidFill>
              <a:effectLst/>
            </c:spPr>
          </c:dPt>
          <c:dPt>
            <c:idx val="4"/>
            <c:invertIfNegative val="0"/>
            <c:bubble3D val="0"/>
            <c:spPr>
              <a:solidFill>
                <a:srgbClr val="A9B0B8"/>
              </a:solidFill>
              <a:effectLst/>
            </c:spPr>
          </c:dPt>
          <c:dPt>
            <c:idx val="5"/>
            <c:invertIfNegative val="0"/>
            <c:bubble3D val="0"/>
            <c:spPr>
              <a:solidFill>
                <a:srgbClr val="A9B0B8"/>
              </a:solidFill>
              <a:effectLst/>
            </c:spPr>
          </c:dPt>
          <c:cat>
            <c:multiLvlStrRef>
              <c:f>Sheet1!$A$2:$A$7</c:f>
              <c:multiLvlStrCache>
                <c:ptCount val="6"/>
                <c:lvl>
                  <c:pt idx="0">
                    <c:v>Sách</c:v>
                  </c:pt>
                  <c:pt idx="1">
                    <c:v>Sản phẩm chung, nhiều chê</c:v>
                  </c:pt>
                  <c:pt idx="2">
                    <c:v>Thiết bị, đồ dùng</c:v>
                  </c:pt>
                  <c:pt idx="3">
                    <c:v>Phim</c:v>
                  </c:pt>
                  <c:pt idx="4">
                    <c:v>Âm nhạc</c:v>
                  </c:pt>
                  <c:pt idx="5">
                    <c:v>Khen mạnh</c:v>
                  </c:pt>
                </c:lvl>
              </c:multiLvlStrCache>
            </c:multiLvlStrRef>
          </c:cat>
          <c:val>
            <c:numRef>
              <c:f>Sheet1!$B$2:$B$7</c:f>
              <c:numCache>
                <c:formatCode>General</c:formatCode>
                <c:ptCount val="6"/>
                <c:pt idx="0">
                  <c:v>27.1</c:v>
                </c:pt>
                <c:pt idx="1">
                  <c:v>23.4</c:v>
                </c:pt>
                <c:pt idx="2">
                  <c:v>14.9</c:v>
                </c:pt>
                <c:pt idx="3">
                  <c:v>13.1</c:v>
                </c:pt>
                <c:pt idx="4">
                  <c:v>12.5</c:v>
                </c:pt>
                <c:pt idx="5">
                  <c:v>8.9</c:v>
                </c:pt>
              </c:numCache>
            </c:numRef>
          </c:val>
        </c:ser>
        <c:dLbls>
          <c:numFmt formatCode="0.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B435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28"/>
                </a:solidFill>
                <a:latin typeface="+mn-lt"/>
              </a:defRPr>
            </a:pPr>
            <a:r>
              <a:rPr sz="1600" b="0" i="0" u="none" strike="noStrike">
                <a:solidFill>
                  <a:srgbClr val="1F2328"/>
                </a:solidFill>
                <a:latin typeface="+mn-lt"/>
              </a:rPr>
              <a:t>Phân bố mức sao của hai cụm từ (%)</a:t>
            </a:r>
          </a:p>
        </c:rich>
      </c:tx>
      <c:layout/>
      <c:overlay val="0"/>
    </c:title>
    <c:autoTitleDeleted val="0"/>
    <c:plotArea>
      <c:layout/>
      <c:barChart>
        <c:barDir val="col"/>
        <c:grouping val="clustered"/>
        <c:varyColors val="0"/>
        <c:ser>
          <c:idx val="0"/>
          <c:order val="0"/>
          <c:tx>
            <c:strRef>
              <c:f>Sheet1!$B$1</c:f>
              <c:strCache>
                <c:ptCount val="1"/>
                <c:pt idx="0">
                  <c:v>not bad</c:v>
                </c:pt>
              </c:strCache>
            </c:strRef>
          </c:tx>
          <c:spPr>
            <a:solidFill>
              <a:srgbClr val="3E7C6B"/>
            </a:solidFill>
            <a:effectLst/>
          </c:spPr>
          <c:invertIfNegative val="0"/>
          <c:dLbls>
            <c:numFmt formatCode="0.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1 sao</c:v>
                  </c:pt>
                  <c:pt idx="1">
                    <c:v>2 sao</c:v>
                  </c:pt>
                  <c:pt idx="2">
                    <c:v>3 sao</c:v>
                  </c:pt>
                  <c:pt idx="3">
                    <c:v>4 sao</c:v>
                  </c:pt>
                  <c:pt idx="4">
                    <c:v>5 sao</c:v>
                  </c:pt>
                </c:lvl>
              </c:multiLvlStrCache>
            </c:multiLvlStrRef>
          </c:cat>
          <c:val>
            <c:numRef>
              <c:f>Sheet1!$B$2:$B$6</c:f>
              <c:numCache>
                <c:formatCode>General</c:formatCode>
                <c:ptCount val="5"/>
                <c:pt idx="0">
                  <c:v>7.2</c:v>
                </c:pt>
                <c:pt idx="1">
                  <c:v>19.3</c:v>
                </c:pt>
                <c:pt idx="2">
                  <c:v>49.3</c:v>
                </c:pt>
                <c:pt idx="3">
                  <c:v>18.9</c:v>
                </c:pt>
                <c:pt idx="4">
                  <c:v>5.3</c:v>
                </c:pt>
              </c:numCache>
            </c:numRef>
          </c:val>
        </c:ser>
        <c:ser>
          <c:idx val="1"/>
          <c:order val="1"/>
          <c:tx>
            <c:strRef>
              <c:f>Sheet1!$C$1</c:f>
              <c:strCache>
                <c:ptCount val="1"/>
                <c:pt idx="0">
                  <c:v>not buy</c:v>
                </c:pt>
              </c:strCache>
            </c:strRef>
          </c:tx>
          <c:spPr>
            <a:solidFill>
              <a:srgbClr val="B5483A"/>
            </a:solidFill>
            <a:effectLst/>
          </c:spPr>
          <c:invertIfNegative val="0"/>
          <c:dLbls>
            <c:numFmt formatCode="0.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1 sao</c:v>
                  </c:pt>
                  <c:pt idx="1">
                    <c:v>2 sao</c:v>
                  </c:pt>
                  <c:pt idx="2">
                    <c:v>3 sao</c:v>
                  </c:pt>
                  <c:pt idx="3">
                    <c:v>4 sao</c:v>
                  </c:pt>
                  <c:pt idx="4">
                    <c:v>5 sao</c:v>
                  </c:pt>
                </c:lvl>
              </c:multiLvlStrCache>
            </c:multiLvlStrRef>
          </c:cat>
          <c:val>
            <c:numRef>
              <c:f>Sheet1!$C$2:$C$6</c:f>
              <c:numCache>
                <c:formatCode>General</c:formatCode>
                <c:ptCount val="5"/>
                <c:pt idx="0">
                  <c:v>58</c:v>
                </c:pt>
                <c:pt idx="1">
                  <c:v>23.6</c:v>
                </c:pt>
                <c:pt idx="2">
                  <c:v>10.9</c:v>
                </c:pt>
                <c:pt idx="3">
                  <c:v>4.2</c:v>
                </c:pt>
                <c:pt idx="4">
                  <c:v>3.4</c:v>
                </c:pt>
              </c:numCache>
            </c:numRef>
          </c:val>
        </c:ser>
        <c:dLbls>
          <c:numFmt formatCode="0.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B43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1F232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28"/>
                </a:solidFill>
                <a:latin typeface="+mn-lt"/>
              </a:defRPr>
            </a:pPr>
            <a:r>
              <a:rPr sz="1600" b="0" i="0" u="none" strike="noStrike">
                <a:solidFill>
                  <a:srgbClr val="1F2328"/>
                </a:solidFill>
                <a:latin typeface="+mn-lt"/>
              </a:rPr>
              <a:t>Logistic Regression: Macro F1 kiểm định (%) theo alpha</a:t>
            </a:r>
          </a:p>
        </c:rich>
      </c:tx>
      <c:layout/>
      <c:overlay val="0"/>
    </c:title>
    <c:autoTitleDeleted val="0"/>
    <c:plotArea>
      <c:layout/>
      <c:lineChart>
        <c:varyColors val="0"/>
        <c:ser>
          <c:idx val="0"/>
          <c:order val="0"/>
          <c:tx>
            <c:strRef>
              <c:f>Sheet1!$B$1</c:f>
              <c:strCache>
                <c:ptCount val="1"/>
                <c:pt idx="0">
                  <c:v>Macro F1</c:v>
                </c:pt>
              </c:strCache>
            </c:strRef>
          </c:tx>
          <c:spPr>
            <a:solidFill>
              <a:srgbClr val="D9822B"/>
            </a:solidFill>
            <a:ln w="38100" cap="flat">
              <a:solidFill>
                <a:srgbClr val="D9822B"/>
              </a:solidFill>
              <a:prstDash val="solid"/>
              <a:round/>
            </a:ln>
            <a:effectLst/>
          </c:spPr>
          <c:invertIfNegative val="0"/>
          <c:dLbls>
            <c:numFmt formatCode="0.00" sourceLinked="0"/>
            <c:txPr>
              <a:bodyPr/>
              <a:lstStyle/>
              <a:p>
                <a:pPr>
                  <a:defRPr b="0" i="0" strike="noStrike" sz="1400" u="none">
                    <a:solidFill>
                      <a:srgbClr val="1F2328"/>
                    </a:solidFill>
                    <a:latin typeface="+mn-lt"/>
                  </a:defRPr>
                </a:pPr>
              </a:p>
            </c:txPr>
            <c:dLblPos val="t"/>
            <c:showLegendKey val="0"/>
            <c:showVal val="1"/>
            <c:showCatName val="0"/>
            <c:showSerName val="0"/>
            <c:showPercent val="0"/>
            <c:showBubbleSize val="0"/>
            <c:showLeaderLines val="0"/>
          </c:dLbls>
          <c:marker>
            <c:symbol val="circle"/>
            <c:size val="10"/>
            <c:spPr>
              <a:solidFill>
                <a:srgbClr val="D9822B"/>
              </a:solidFill>
              <a:ln w="9525" cap="flat">
                <a:solidFill>
                  <a:srgbClr val="D9822B"/>
                </a:solidFill>
                <a:prstDash val="solid"/>
                <a:round/>
              </a:ln>
              <a:effectLst/>
            </c:spPr>
          </c:marker>
          <c:cat>
            <c:multiLvlStrRef>
              <c:f>Sheet1!$A$2:$A$7</c:f>
              <c:multiLvlStrCache>
                <c:ptCount val="6"/>
                <c:lvl>
                  <c:pt idx="0">
                    <c:v>1e-6</c:v>
                  </c:pt>
                  <c:pt idx="1">
                    <c:v>3e-6</c:v>
                  </c:pt>
                  <c:pt idx="2">
                    <c:v>1e-5</c:v>
                  </c:pt>
                  <c:pt idx="3">
                    <c:v>3e-5</c:v>
                  </c:pt>
                  <c:pt idx="4">
                    <c:v>1e-4</c:v>
                  </c:pt>
                  <c:pt idx="5">
                    <c:v>3e-4</c:v>
                  </c:pt>
                </c:lvl>
              </c:multiLvlStrCache>
            </c:multiLvlStrRef>
          </c:cat>
          <c:val>
            <c:numRef>
              <c:f>Sheet1!$B$2:$B$7</c:f>
              <c:numCache>
                <c:formatCode>General</c:formatCode>
                <c:ptCount val="6"/>
                <c:pt idx="0">
                  <c:v>49.19</c:v>
                </c:pt>
                <c:pt idx="1">
                  <c:v>51.33</c:v>
                </c:pt>
                <c:pt idx="2">
                  <c:v>52.44</c:v>
                </c:pt>
                <c:pt idx="3">
                  <c:v>52.06</c:v>
                </c:pt>
                <c:pt idx="4">
                  <c:v>50.55</c:v>
                </c:pt>
                <c:pt idx="5">
                  <c:v>48.55</c:v>
                </c:pt>
              </c:numCache>
            </c:numRef>
          </c:val>
          <c:smooth val="0"/>
        </c:ser>
        <c:dLbls>
          <c:numFmt formatCode="0.00" sourceLinked="0"/>
          <c:txPr>
            <a:bodyPr/>
            <a:lstStyle/>
            <a:p>
              <a:pPr>
                <a:defRPr b="0" i="0" strike="noStrike" sz="1400" u="none">
                  <a:solidFill>
                    <a:srgbClr val="1F2328"/>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B43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28"/>
                </a:solidFill>
                <a:latin typeface="+mn-lt"/>
              </a:defRPr>
            </a:pPr>
            <a:r>
              <a:rPr sz="1600" b="0" i="0" u="none" strike="noStrike">
                <a:solidFill>
                  <a:srgbClr val="1F2328"/>
                </a:solidFill>
                <a:latin typeface="+mn-lt"/>
              </a:rPr>
              <a:t>Kết quả trên tập test 97,500 review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5B6770"/>
            </a:solidFill>
            <a:effectLst/>
          </c:spPr>
          <c:invertIfNegative val="0"/>
          <c:dLbls>
            <c:numFmt formatCode="0.00" sourceLinked="0"/>
            <c:txPr>
              <a:bodyPr/>
              <a:lstStyle/>
              <a:p>
                <a:pPr>
                  <a:defRPr b="0" i="0" strike="noStrike" sz="13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Complement NB</c:v>
                  </c:pt>
                  <c:pt idx="1">
                    <c:v>SGD Linear SVM</c:v>
                  </c:pt>
                  <c:pt idx="2">
                    <c:v>SGD Logistic Reg.</c:v>
                  </c:pt>
                </c:lvl>
              </c:multiLvlStrCache>
            </c:multiLvlStrRef>
          </c:cat>
          <c:val>
            <c:numRef>
              <c:f>Sheet1!$B$2:$B$4</c:f>
              <c:numCache>
                <c:formatCode>General</c:formatCode>
                <c:ptCount val="3"/>
                <c:pt idx="0">
                  <c:v>50.26</c:v>
                </c:pt>
                <c:pt idx="1">
                  <c:v>52.1</c:v>
                </c:pt>
                <c:pt idx="2">
                  <c:v>54.48</c:v>
                </c:pt>
              </c:numCache>
            </c:numRef>
          </c:val>
        </c:ser>
        <c:ser>
          <c:idx val="1"/>
          <c:order val="1"/>
          <c:tx>
            <c:strRef>
              <c:f>Sheet1!$C$1</c:f>
              <c:strCache>
                <c:ptCount val="1"/>
                <c:pt idx="0">
                  <c:v>Macro F1</c:v>
                </c:pt>
              </c:strCache>
            </c:strRef>
          </c:tx>
          <c:spPr>
            <a:solidFill>
              <a:srgbClr val="D9822B"/>
            </a:solidFill>
            <a:effectLst/>
          </c:spPr>
          <c:invertIfNegative val="0"/>
          <c:dLbls>
            <c:numFmt formatCode="0.00" sourceLinked="0"/>
            <c:txPr>
              <a:bodyPr/>
              <a:lstStyle/>
              <a:p>
                <a:pPr>
                  <a:defRPr b="0" i="0" strike="noStrike" sz="13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Complement NB</c:v>
                  </c:pt>
                  <c:pt idx="1">
                    <c:v>SGD Linear SVM</c:v>
                  </c:pt>
                  <c:pt idx="2">
                    <c:v>SGD Logistic Reg.</c:v>
                  </c:pt>
                </c:lvl>
              </c:multiLvlStrCache>
            </c:multiLvlStrRef>
          </c:cat>
          <c:val>
            <c:numRef>
              <c:f>Sheet1!$C$2:$C$4</c:f>
              <c:numCache>
                <c:formatCode>General</c:formatCode>
                <c:ptCount val="3"/>
                <c:pt idx="0">
                  <c:v>47.99</c:v>
                </c:pt>
                <c:pt idx="1">
                  <c:v>49.27</c:v>
                </c:pt>
                <c:pt idx="2">
                  <c:v>53.8</c:v>
                </c:pt>
              </c:numCache>
            </c:numRef>
          </c:val>
        </c:ser>
        <c:dLbls>
          <c:numFmt formatCode="0.00" sourceLinked="0"/>
          <c:txPr>
            <a:bodyPr/>
            <a:lstStyle/>
            <a:p>
              <a:pPr>
                <a:defRPr b="0" i="0" strike="noStrike" sz="1300" u="none">
                  <a:solidFill>
                    <a:srgbClr val="1F23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B43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1F232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28"/>
                </a:solidFill>
                <a:latin typeface="+mn-lt"/>
              </a:defRPr>
            </a:pPr>
            <a:r>
              <a:rPr sz="1600" b="0" i="0" u="none" strike="noStrike">
                <a:solidFill>
                  <a:srgbClr val="1F2328"/>
                </a:solidFill>
                <a:latin typeface="+mn-lt"/>
              </a:rPr>
              <a:t>F1 theo từng mức sao (%)</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D9822B"/>
            </a:solidFill>
            <a:effectLst/>
          </c:spPr>
          <c:invertIfNegative val="0"/>
          <c:dLbls>
            <c:numFmt formatCode="0.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D9822B"/>
              </a:solidFill>
              <a:effectLst/>
            </c:spPr>
          </c:dPt>
          <c:dPt>
            <c:idx val="1"/>
            <c:invertIfNegative val="0"/>
            <c:bubble3D val="0"/>
            <c:spPr>
              <a:solidFill>
                <a:srgbClr val="A9B0B8"/>
              </a:solidFill>
              <a:effectLst/>
            </c:spPr>
          </c:dPt>
          <c:dPt>
            <c:idx val="2"/>
            <c:invertIfNegative val="0"/>
            <c:bubble3D val="0"/>
            <c:spPr>
              <a:solidFill>
                <a:srgbClr val="A9B0B8"/>
              </a:solidFill>
              <a:effectLst/>
            </c:spPr>
          </c:dPt>
          <c:dPt>
            <c:idx val="3"/>
            <c:invertIfNegative val="0"/>
            <c:bubble3D val="0"/>
            <c:spPr>
              <a:solidFill>
                <a:srgbClr val="A9B0B8"/>
              </a:solidFill>
              <a:effectLst/>
            </c:spPr>
          </c:dPt>
          <c:dPt>
            <c:idx val="4"/>
            <c:invertIfNegative val="0"/>
            <c:bubble3D val="0"/>
            <c:spPr>
              <a:solidFill>
                <a:srgbClr val="D9822B"/>
              </a:solidFill>
              <a:effectLst/>
            </c:spPr>
          </c:dPt>
          <c:cat>
            <c:multiLvlStrRef>
              <c:f>Sheet1!$A$2:$A$6</c:f>
              <c:multiLvlStrCache>
                <c:ptCount val="5"/>
                <c:lvl>
                  <c:pt idx="0">
                    <c:v>1 sao</c:v>
                  </c:pt>
                  <c:pt idx="1">
                    <c:v>2 sao</c:v>
                  </c:pt>
                  <c:pt idx="2">
                    <c:v>3 sao</c:v>
                  </c:pt>
                  <c:pt idx="3">
                    <c:v>4 sao</c:v>
                  </c:pt>
                  <c:pt idx="4">
                    <c:v>5 sao</c:v>
                  </c:pt>
                </c:lvl>
              </c:multiLvlStrCache>
            </c:multiLvlStrRef>
          </c:cat>
          <c:val>
            <c:numRef>
              <c:f>Sheet1!$B$2:$B$6</c:f>
              <c:numCache>
                <c:formatCode>General</c:formatCode>
                <c:ptCount val="5"/>
                <c:pt idx="0">
                  <c:v>65.95</c:v>
                </c:pt>
                <c:pt idx="1">
                  <c:v>45.63</c:v>
                </c:pt>
                <c:pt idx="2">
                  <c:v>45.1</c:v>
                </c:pt>
                <c:pt idx="3">
                  <c:v>46.07</c:v>
                </c:pt>
                <c:pt idx="4">
                  <c:v>66.25</c:v>
                </c:pt>
              </c:numCache>
            </c:numRef>
          </c:val>
        </c:ser>
        <c:dLbls>
          <c:numFmt formatCode="0.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B43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dự đoán số sao (1 đến 5) của một đánh giá sản phẩm Amazon chỉ từ nội dung văn bản. Nhóm làm theo quy trình CRISP-DM, từ xử lý dữ liệu, khai phá không giám sát, huấn luyện mô hình đến một ứng dụng chẩn đoán sản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thuyết trình chia làm bốn phần. Nếu thời gian ngắn, có thể bỏ qua các slide chi tiết về công thức và bảng số liệu, chỉ giữ các slide có số liệu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con số 93% và 5 đến 9% là số liệu báo cáo trích từ BrightLocal và Viện Nghiên cứu Tiếp thị Hoa Kỳ. Ý chính: review ảnh hưởng trực tiếp đến doanh thu, nhưng số lượng quá lớn để đọc bằng 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ngẫu nhiên chỉ 20%. Khó nhất là phân biệt các mức liền kề vì người chấm 4 hay 5 sao phụ thuộc tính cách. Ngoài ra còn mỉa mai và phủ định, nên khâu tiền xử lý không được xóa từ phủ định. Báo cáo còn nêu thêm hai khó khăn: review nhiều khía cạnh trái chiều và giới hạn bộ nhớ.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CRISP-DM có 6 giai đoạn tuần hoàn. Mỗi phần còn lại của bài thuyết trình tương ứng với một giai đoạn trong sáu ô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dữ liệu chuẩn, cân bằng hoàn toàn nên Accuracy và Micro-F1 trùng nhau, nhóm dùng thêm Macro F1. Ba cột: class_index, review_title, review_text.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600,000 x 50,000 dạng dày cần 240 GB, nên bắt buộc dùng CSR. PyArrow đọc nhanh gần 9 lần so với engine C mặc định của Pandas. Sai số biên 0.126% cho thấy mẫu 600,000 đủ đại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sạch quá tay sẽ mất tín hiệu. Hai quyết định chính: giữ các từ phủ định và biến dấu ! và ? thành token để mô hình học được cường độ cảm xúc. Trong ví dụ, ba dấu ? liền nhau thành hai token 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stop words chuẩn của NLTK có 179 từ, của Scikit-learn có 318 từ, và đều chứa các từ phủ định. Nhóm bỏ 10 từ phủ định ra khỏi danh sách xóa, còn 308 từ trung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cho thấy đặc trưng dấu ! không đơn điệu theo số sao, nên không thể suy ra cảm xúc chỉ từ một chiều. Quy luật chữ U giải thích vì sao nhóm giữ dấu ! thành token exclam.
Giá trị trung bình tính trên 600,000 review của tập train mẫu. Đặc trưng độ dài từ trung bình gần như không đổi nên ít giá trị, trong khi dấu !, dấu ? và chữ in hoa phân biệt được các mức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nén tần số bằng logarit để từ lặp nhiều không lấn át, IDF làm mịn để tránh chia cho 0, rồi chuẩn hóa L2 để độ dài review không ảnh hưởng. Mỗi vector có độ dài đúng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Sublinear TF dùng 1 + ln(tf), IDF dạng smooth, sau đó chuẩn hóa L2. Dùng bigram để phân biệt not bad và not good. Trung bình mỗi review có khoảng 55 đặc trưng khác 0, nên ma trận thưa tới 99.89%.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LSA không dùng nhãn sao. Nó chiếu 50,000 chiều xuống 100 chiều. Tổng phương sai giải thích chỉ 7.7% vì từ vựng đuôi dài, nên LSA hợp để khám phá chủ đề chứ không hợp để phân loại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MiniBatchKMeans dùng batch 1,024 mẫu, nhanh hơn KMeans thường hơn 15 lần mà chất lượng chênh dưới 1.5%. Hệ số Silhouette đo trên 10,000 review, đạt đỉnh ở k = 6. Giá trị Silhouette thấp nói chung vì từ vựng chồng lấn, nhưng k = 6 vẫn tách được các danh mục.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review là một giao dịch, các từ khóa và nhãn sao là các hạng mục. Lift = P(sao | từ) / 0.20 vì dữ liệu cân bằng. Ngưỡng support 0.1% tức từ phải xuất hiện ít nhất 600 lần. Có 27,575 luật từ 5,515 từ khóa, tính trong 0.7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bố P(sao | cụm từ). Ô tô màu là mức sao chiếm tỷ lệ cao nhất. Not bad rơi chủ yếu vào 3 sao, cho thấy nếu chỉ dùng từ đơn thì bad sẽ bị hiểu thành tiêu cực. Not buy và not waste thì cực kỳ tiêu cực.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 chọn trên tập kiểm định 30,000 mẫu (tách từ 150,000 mẫu train), không dùng tập test để tránh rò rỉ dữ liệu. Alpha quá nhỏ thì quá khớp, quá lớn thì dưới khớp, đường cong Macro F1 có dạng chuông úp, đỉnh ở 1e-5.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mô hình: Complement Naive Bayes, SGD Logistic Regression, SGD Linear SVM. Logistic thắng ở mọi chỉ số, và gần bằng kết quả bài báo gốc dù chạy trên laptop.
Off-by-one là tỷ lệ đoán đúng hoặc lệch tối đa 1 sao. MAE là sai số tuyệt đối trung bình tính bằng sao. Complement NB huấn luyện chỉ 0.3 giây nhưng kém về chất lượng. Hai mô hình SGD huấn luyện khoảng 12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đầu thang có từ khen chê rất rõ nên dễ đoán. Các mức giữa bị nhầm với mức liền kề, đúng với bản chất thang đo thứ bậc. Vì vậy Off-by-one và MAE phản ánh chất lượng thực tế tốt hơn Accuracy thuần.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lớp có 19,500 mẫu test. Hai đầu thang có F1 khoảng 66%, ba mức giữa chỉ khoảng 45 đến 46%. Người viết 4 sao dùng nhiều từ khen giống 5 sao, người viết 2 sao dùng nhiều từ chê giống 1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các từ có hệ số dương lớn nhất trong mô hình Logistic Regression cho từng mức sao. Mô hình tuyến tính có ưu điểm là diễn giải được: có thể đọc trực tiếp từ nào đẩy review về mức sao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nhóm nguyên nhân: mỉa mai, review khen nội dung nhưng chê vận chuyển, tiêu đề mâu thuẫn với nội dung, và nhãn nhiễu do người mua bấm nhầm số sao. Ca 4 là lỗi dữ liệu chứ không phải lỗi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nhận hai chuỗi tiêu đề và nội dung, trả về nhãn sao kèm phân phối xác suất. Tệp joblib chứa cả từ điển 50,000 từ và trọng số mô hình, nên triển khai được trên máy chủ nhỏ hoặc hàm serverless.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kịch bản đại diện ba thái cực. Kịch bản 2 cho thấy khi review có khen có chê, xác suất dồn vào 3 sao và phần còn lại chia cho 2 sao và 4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biết sản phẩm 2.5 sao là chưa đủ, người bán cần biết khách phàn nàn về điều gì. Điều kiện P(1) + P(2) từ 0.5 giúp không bắt nhầm câu khen có chứa từ khóa như “high quality”.
Thử trên 3,000 review tiêu cực (1–2 sao) và 3,000 review tích cực (4–5 sao). Cả 9 nhóm đều xuất hiện ở bài chê nhiều hơn bài khen từ 4.2 đến 11.4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sản phẩm gồm 50 review lấy từ tập test, chọn theo kịch bản. Sao dự đoán sát sao thật. Lưu ý ở sản phẩm B, giá cả (33%) đứng trước giao hàng (30%), nên nếu hội đồng hỏi thì cần giải thích là từ điển giá cả có các từ rộng như money,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số cấp sản phẩm nhỏ vì sai số từng review (MAE 0.612) triệt tiêu khi gộp 50 review. Cần nói rõ đây là sản phẩm mô phỏng từ tập test, chưa phải dữ liệu bán hàng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kỹ thuật tuyến tính kết hợp biểu diễn tốt và ma trận thưa đủ cho bài toán này, nhẹ và giải thích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Hạn chế chính là châm biếm và từ điển tĩnh. Hướng tiếp theo là mô hình Transformer nhỏ và một ứng dụng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2328"/>
        </a:solidFill>
      </p:bgPr>
    </p:bg>
    <p:spTree>
      <p:nvGrpSpPr>
        <p:cNvPr id="1" name=""/>
        <p:cNvGrpSpPr/>
        <p:nvPr/>
      </p:nvGrpSpPr>
      <p:grpSpPr>
        <a:xfrm>
          <a:off x="0" y="0"/>
          <a:ext cx="0" cy="0"/>
          <a:chOff x="0" y="0"/>
          <a:chExt cx="0" cy="0"/>
        </a:xfrm>
      </p:grpSpPr>
      <p:pic>
        <p:nvPicPr>
          <p:cNvPr id="2" name="Image 0" descr="Logo Trường Đại học Thủy lợi">    </p:cNvPr>
          <p:cNvPicPr>
            <a:picLocks noChangeAspect="1"/>
          </p:cNvPicPr>
          <p:nvPr/>
        </p:nvPicPr>
        <p:blipFill>
          <a:blip r:embed="rId1"/>
          <a:stretch>
            <a:fillRect/>
          </a:stretch>
        </p:blipFill>
        <p:spPr>
          <a:xfrm>
            <a:off x="9326880" y="1920240"/>
            <a:ext cx="2377440" cy="23774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5B6770"/>
                </a:solidFill>
              </a:rPr>
              <a:t>Phân loại đánh giá Amazon theo 5 mức sao</a:t>
            </a:r>
            <a:endParaRPr lang="en-US" sz="1100" dirty="0"/>
          </a:p>
        </p:txBody>
      </p:sp>
      <p:pic>
        <p:nvPicPr>
          <p:cNvPr id="3" name="Image 0" descr="Logo Trường Đại học Thủy lợi">    </p:cNvPr>
          <p:cNvPicPr>
            <a:picLocks noChangeAspect="1"/>
          </p:cNvPicPr>
          <p:nvPr/>
        </p:nvPicPr>
        <p:blipFill>
          <a:blip r:embed="rId1"/>
          <a:stretch>
            <a:fillRect/>
          </a:stretch>
        </p:blipFill>
        <p:spPr>
          <a:xfrm>
            <a:off x="10863072" y="301752"/>
            <a:ext cx="777240" cy="777240"/>
          </a:xfrm>
          <a:prstGeom prst="rect">
            <a:avLst/>
          </a:prstGeom>
        </p:spPr>
      </p:pic>
      <p:sp>
        <p:nvSpPr>
          <p:cNvPr id="4" name="Text 1"/>
          <p:cNvSpPr/>
          <p:nvPr>
            <p:ph idx="102" type="title" hasCustomPrompt="1"/>
          </p:nvPr>
        </p:nvSpPr>
        <p:spPr>
          <a:xfrm>
            <a:off x="548640" y="365760"/>
            <a:ext cx="9994392" cy="8686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F2328"/>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A9B0B8"/>
                </a:solidFill>
              </a:rPr>
              <a:t>Phân loại đánh giá Amazon theo 5 mức sao</a:t>
            </a:r>
            <a:endParaRPr lang="en-US" sz="1100" dirty="0"/>
          </a:p>
        </p:txBody>
      </p:sp>
      <p:pic>
        <p:nvPicPr>
          <p:cNvPr id="3" name="Image 0" descr="Logo Trường Đại học Thủy lợi">    </p:cNvPr>
          <p:cNvPicPr>
            <a:picLocks noChangeAspect="1"/>
          </p:cNvPicPr>
          <p:nvPr/>
        </p:nvPicPr>
        <p:blipFill>
          <a:blip r:embed="rId1"/>
          <a:stretch>
            <a:fillRect/>
          </a:stretch>
        </p:blipFill>
        <p:spPr>
          <a:xfrm>
            <a:off x="10863072" y="301752"/>
            <a:ext cx="777240" cy="777240"/>
          </a:xfrm>
          <a:prstGeom prst="rect">
            <a:avLst/>
          </a:prstGeom>
        </p:spPr>
      </p:pic>
      <p:sp>
        <p:nvSpPr>
          <p:cNvPr id="4" name="Text 1"/>
          <p:cNvSpPr/>
          <p:nvPr>
            <p:ph idx="102" type="title" hasCustomPrompt="1"/>
          </p:nvPr>
        </p:nvSpPr>
        <p:spPr>
          <a:xfrm>
            <a:off x="548640" y="365760"/>
            <a:ext cx="9994392" cy="868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0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1371600"/>
            <a:ext cx="8229600" cy="17373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Phân loại đánh giá sản phẩm Amazon theo 5 mức sao</a:t>
            </a:r>
            <a:endParaRPr lang="en-US" sz="4000" dirty="0"/>
          </a:p>
        </p:txBody>
      </p:sp>
      <p:sp>
        <p:nvSpPr>
          <p:cNvPr id="4" name="Star 1"/>
          <p:cNvSpPr/>
          <p:nvPr/>
        </p:nvSpPr>
        <p:spPr>
          <a:xfrm>
            <a:off x="731520" y="3337560"/>
            <a:ext cx="457200" cy="457200"/>
          </a:xfrm>
          <a:prstGeom prst="star5">
            <a:avLst/>
          </a:prstGeom>
          <a:solidFill>
            <a:schemeClr val="accent1"/>
          </a:solidFill>
          <a:ln w="19050">
            <a:solidFill>
              <a:schemeClr val="accent1"/>
            </a:solidFill>
            <a:prstDash val="solid"/>
          </a:ln>
        </p:spPr>
      </p:sp>
      <p:sp>
        <p:nvSpPr>
          <p:cNvPr id="5" name="Star 2"/>
          <p:cNvSpPr/>
          <p:nvPr/>
        </p:nvSpPr>
        <p:spPr>
          <a:xfrm>
            <a:off x="1280160" y="3337560"/>
            <a:ext cx="457200" cy="457200"/>
          </a:xfrm>
          <a:prstGeom prst="star5">
            <a:avLst/>
          </a:prstGeom>
          <a:solidFill>
            <a:schemeClr val="accent1"/>
          </a:solidFill>
          <a:ln w="19050">
            <a:solidFill>
              <a:schemeClr val="accent1"/>
            </a:solidFill>
            <a:prstDash val="solid"/>
          </a:ln>
        </p:spPr>
      </p:sp>
      <p:sp>
        <p:nvSpPr>
          <p:cNvPr id="6" name="Star 3"/>
          <p:cNvSpPr/>
          <p:nvPr/>
        </p:nvSpPr>
        <p:spPr>
          <a:xfrm>
            <a:off x="1828800" y="3337560"/>
            <a:ext cx="457200" cy="457200"/>
          </a:xfrm>
          <a:prstGeom prst="star5">
            <a:avLst/>
          </a:prstGeom>
          <a:solidFill>
            <a:schemeClr val="accent1"/>
          </a:solidFill>
          <a:ln w="19050">
            <a:solidFill>
              <a:schemeClr val="accent1"/>
            </a:solidFill>
            <a:prstDash val="solid"/>
          </a:ln>
        </p:spPr>
      </p:sp>
      <p:sp>
        <p:nvSpPr>
          <p:cNvPr id="7" name="Star 4"/>
          <p:cNvSpPr/>
          <p:nvPr/>
        </p:nvSpPr>
        <p:spPr>
          <a:xfrm>
            <a:off x="2377440" y="3337560"/>
            <a:ext cx="457200" cy="457200"/>
          </a:xfrm>
          <a:prstGeom prst="star5">
            <a:avLst/>
          </a:prstGeom>
          <a:solidFill>
            <a:schemeClr val="accent1"/>
          </a:solidFill>
          <a:ln w="19050">
            <a:solidFill>
              <a:schemeClr val="accent1"/>
            </a:solidFill>
            <a:prstDash val="solid"/>
          </a:ln>
        </p:spPr>
      </p:sp>
      <p:sp>
        <p:nvSpPr>
          <p:cNvPr id="8" name="Star 5"/>
          <p:cNvSpPr/>
          <p:nvPr/>
        </p:nvSpPr>
        <p:spPr>
          <a:xfrm>
            <a:off x="2926080" y="3337560"/>
            <a:ext cx="457200" cy="457200"/>
          </a:xfrm>
          <a:prstGeom prst="star5">
            <a:avLst/>
          </a:prstGeom>
          <a:ln w="19050">
            <a:solidFill>
              <a:schemeClr val="accent1"/>
            </a:solidFill>
            <a:prstDash val="solid"/>
          </a:ln>
        </p:spPr>
      </p:sp>
      <p:sp>
        <p:nvSpPr>
          <p:cNvPr id="9" name="Text 6"/>
          <p:cNvSpPr txBox="1"/>
          <p:nvPr/>
        </p:nvSpPr>
        <p:spPr>
          <a:xfrm>
            <a:off x="731520" y="4114800"/>
            <a:ext cx="8229600" cy="457200"/>
          </a:xfrm>
          <a:prstGeom prst="rect">
            <a:avLst/>
          </a:prstGeom>
          <a:noFill/>
          <a:ln/>
        </p:spPr>
        <p:txBody>
          <a:bodyPr wrap="square" lIns="0" tIns="0" rIns="0" bIns="0" rtlCol="0" anchor="t"/>
          <a:lstStyle/>
          <a:p>
            <a:pPr indent="0" marL="0">
              <a:buNone/>
            </a:pPr>
            <a:r>
              <a:rPr lang="en-US" sz="2200" dirty="0">
                <a:solidFill>
                  <a:schemeClr val="accent5"/>
                </a:solidFill>
              </a:rPr>
              <a:t>Đồ án môn Khai phá dữ liệu</a:t>
            </a:r>
            <a:endParaRPr lang="en-US" sz="2200" dirty="0"/>
          </a:p>
        </p:txBody>
      </p:sp>
      <p:sp>
        <p:nvSpPr>
          <p:cNvPr id="10" name="Text 7"/>
          <p:cNvSpPr txBox="1"/>
          <p:nvPr/>
        </p:nvSpPr>
        <p:spPr>
          <a:xfrm>
            <a:off x="731520" y="4892040"/>
            <a:ext cx="10058400" cy="365760"/>
          </a:xfrm>
          <a:prstGeom prst="rect">
            <a:avLst/>
          </a:prstGeom>
          <a:noFill/>
          <a:ln/>
        </p:spPr>
        <p:txBody>
          <a:bodyPr wrap="square" lIns="0" tIns="0" rIns="0" bIns="0" rtlCol="0" anchor="t"/>
          <a:lstStyle/>
          <a:p>
            <a:pPr indent="0" marL="0">
              <a:buNone/>
            </a:pPr>
            <a:r>
              <a:rPr lang="en-US" sz="1800" b="1" dirty="0">
                <a:solidFill>
                  <a:schemeClr val="bg1"/>
                </a:solidFill>
              </a:rPr>
              <a:t>Nguyễn Huỳnh Anh Tuấn  |  Lê Văn Tính  |  Nguyễn Anh Vũ</a:t>
            </a:r>
            <a:endParaRPr lang="en-US" sz="1800" dirty="0"/>
          </a:p>
        </p:txBody>
      </p:sp>
      <p:sp>
        <p:nvSpPr>
          <p:cNvPr id="11" name="Text 8"/>
          <p:cNvSpPr txBox="1"/>
          <p:nvPr/>
        </p:nvSpPr>
        <p:spPr>
          <a:xfrm>
            <a:off x="731520" y="5303520"/>
            <a:ext cx="10058400" cy="320040"/>
          </a:xfrm>
          <a:prstGeom prst="rect">
            <a:avLst/>
          </a:prstGeom>
          <a:noFill/>
          <a:ln/>
        </p:spPr>
        <p:txBody>
          <a:bodyPr wrap="square" lIns="0" tIns="0" rIns="0" bIns="0" rtlCol="0" anchor="t"/>
          <a:lstStyle/>
          <a:p>
            <a:pPr indent="0" marL="0">
              <a:buNone/>
            </a:pPr>
            <a:r>
              <a:rPr lang="en-US" sz="1600" dirty="0">
                <a:solidFill>
                  <a:schemeClr val="accent5"/>
                </a:solidFill>
              </a:rPr>
              <a:t>Lớp S26-65CNTT  |  GVHD: ThS. Vũ Thị Hạnh</a:t>
            </a:r>
            <a:endParaRPr lang="en-US" sz="1600" dirty="0"/>
          </a:p>
        </p:txBody>
      </p:sp>
      <p:sp>
        <p:nvSpPr>
          <p:cNvPr id="12" name="Text 9"/>
          <p:cNvSpPr txBox="1"/>
          <p:nvPr/>
        </p:nvSpPr>
        <p:spPr>
          <a:xfrm>
            <a:off x="731520" y="5669280"/>
            <a:ext cx="10058400" cy="320040"/>
          </a:xfrm>
          <a:prstGeom prst="rect">
            <a:avLst/>
          </a:prstGeom>
          <a:noFill/>
          <a:ln/>
        </p:spPr>
        <p:txBody>
          <a:bodyPr wrap="square" lIns="0" tIns="0" rIns="0" bIns="0" rtlCol="0" anchor="t"/>
          <a:lstStyle/>
          <a:p>
            <a:pPr indent="0" marL="0">
              <a:buNone/>
            </a:pPr>
            <a:r>
              <a:rPr lang="en-US" sz="1600" dirty="0">
                <a:solidFill>
                  <a:schemeClr val="accent5"/>
                </a:solidFill>
              </a:rPr>
              <a:t>Trường Đại học Thủy lợi, Bộ môn Công nghệ thông tin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Nội dung trình bày</a:t>
            </a:r>
            <a:endParaRPr lang="en-US" sz="3000" dirty="0"/>
          </a:p>
        </p:txBody>
      </p:sp>
      <p:sp>
        <p:nvSpPr>
          <p:cNvPr id="4" name="Card"/>
          <p:cNvSpPr/>
          <p:nvPr/>
        </p:nvSpPr>
        <p:spPr>
          <a:xfrm>
            <a:off x="548640" y="1600200"/>
            <a:ext cx="11091672" cy="960120"/>
          </a:xfrm>
          <a:prstGeom prst="roundRect">
            <a:avLst>
              <a:gd name="adj" fmla="val 9524"/>
            </a:avLst>
          </a:prstGeom>
          <a:solidFill>
            <a:schemeClr val="bg2"/>
          </a:solidFill>
          <a:ln/>
        </p:spPr>
      </p:sp>
      <p:sp>
        <p:nvSpPr>
          <p:cNvPr id="5" name="Step 1"/>
          <p:cNvSpPr/>
          <p:nvPr/>
        </p:nvSpPr>
        <p:spPr>
          <a:xfrm>
            <a:off x="822960" y="180594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737360" y="1728216"/>
            <a:ext cx="9601200" cy="411480"/>
          </a:xfrm>
          <a:prstGeom prst="rect">
            <a:avLst/>
          </a:prstGeom>
          <a:noFill/>
          <a:ln/>
        </p:spPr>
        <p:txBody>
          <a:bodyPr wrap="square" lIns="0" tIns="0" rIns="0" bIns="0" rtlCol="0" anchor="t"/>
          <a:lstStyle/>
          <a:p>
            <a:pPr indent="0" marL="0">
              <a:buNone/>
            </a:pPr>
            <a:r>
              <a:rPr lang="en-US" sz="2200" b="1" dirty="0">
                <a:solidFill>
                  <a:schemeClr val="tx1"/>
                </a:solidFill>
              </a:rPr>
              <a:t>Bài toán và dữ liệu</a:t>
            </a:r>
            <a:endParaRPr lang="en-US" sz="2200" dirty="0"/>
          </a:p>
        </p:txBody>
      </p:sp>
      <p:sp>
        <p:nvSpPr>
          <p:cNvPr id="7" name="Text 4"/>
          <p:cNvSpPr txBox="1"/>
          <p:nvPr/>
        </p:nvSpPr>
        <p:spPr>
          <a:xfrm>
            <a:off x="1737360" y="2148840"/>
            <a:ext cx="9601200" cy="320040"/>
          </a:xfrm>
          <a:prstGeom prst="rect">
            <a:avLst/>
          </a:prstGeom>
          <a:noFill/>
          <a:ln/>
        </p:spPr>
        <p:txBody>
          <a:bodyPr wrap="square" lIns="0" tIns="0" rIns="0" bIns="0" rtlCol="0" anchor="t"/>
          <a:lstStyle/>
          <a:p>
            <a:pPr indent="0" marL="0">
              <a:buNone/>
            </a:pPr>
            <a:r>
              <a:rPr lang="en-US" sz="1600" dirty="0">
                <a:solidFill>
                  <a:schemeClr val="accent2"/>
                </a:solidFill>
              </a:rPr>
              <a:t>Vì sao bài toán khó, 3.65 triệu review</a:t>
            </a:r>
            <a:endParaRPr lang="en-US" sz="1600" dirty="0"/>
          </a:p>
        </p:txBody>
      </p:sp>
      <p:sp>
        <p:nvSpPr>
          <p:cNvPr id="8" name="Card"/>
          <p:cNvSpPr/>
          <p:nvPr/>
        </p:nvSpPr>
        <p:spPr>
          <a:xfrm>
            <a:off x="548640" y="2743200"/>
            <a:ext cx="11091672" cy="960120"/>
          </a:xfrm>
          <a:prstGeom prst="roundRect">
            <a:avLst>
              <a:gd name="adj" fmla="val 9524"/>
            </a:avLst>
          </a:prstGeom>
          <a:solidFill>
            <a:schemeClr val="bg2"/>
          </a:solidFill>
          <a:ln/>
        </p:spPr>
      </p:sp>
      <p:sp>
        <p:nvSpPr>
          <p:cNvPr id="9" name="Step 2"/>
          <p:cNvSpPr/>
          <p:nvPr/>
        </p:nvSpPr>
        <p:spPr>
          <a:xfrm>
            <a:off x="822960" y="294894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1737360" y="2871216"/>
            <a:ext cx="9601200" cy="411480"/>
          </a:xfrm>
          <a:prstGeom prst="rect">
            <a:avLst/>
          </a:prstGeom>
          <a:noFill/>
          <a:ln/>
        </p:spPr>
        <p:txBody>
          <a:bodyPr wrap="square" lIns="0" tIns="0" rIns="0" bIns="0" rtlCol="0" anchor="t"/>
          <a:lstStyle/>
          <a:p>
            <a:pPr indent="0" marL="0">
              <a:buNone/>
            </a:pPr>
            <a:r>
              <a:rPr lang="en-US" sz="2200" b="1" dirty="0">
                <a:solidFill>
                  <a:schemeClr val="tx1"/>
                </a:solidFill>
              </a:rPr>
              <a:t>Tiền xử lý và biểu diễn văn bản</a:t>
            </a:r>
            <a:endParaRPr lang="en-US" sz="2200" dirty="0"/>
          </a:p>
        </p:txBody>
      </p:sp>
      <p:sp>
        <p:nvSpPr>
          <p:cNvPr id="11" name="Text 8"/>
          <p:cNvSpPr txBox="1"/>
          <p:nvPr/>
        </p:nvSpPr>
        <p:spPr>
          <a:xfrm>
            <a:off x="1737360" y="3291840"/>
            <a:ext cx="9601200" cy="320040"/>
          </a:xfrm>
          <a:prstGeom prst="rect">
            <a:avLst/>
          </a:prstGeom>
          <a:noFill/>
          <a:ln/>
        </p:spPr>
        <p:txBody>
          <a:bodyPr wrap="square" lIns="0" tIns="0" rIns="0" bIns="0" rtlCol="0" anchor="t"/>
          <a:lstStyle/>
          <a:p>
            <a:pPr indent="0" marL="0">
              <a:buNone/>
            </a:pPr>
            <a:r>
              <a:rPr lang="en-US" sz="1600" dirty="0">
                <a:solidFill>
                  <a:schemeClr val="accent2"/>
                </a:solidFill>
              </a:rPr>
              <a:t>Giữ từ phủ định, TF-IDF với bigram</a:t>
            </a:r>
            <a:endParaRPr lang="en-US" sz="1600" dirty="0"/>
          </a:p>
        </p:txBody>
      </p:sp>
      <p:sp>
        <p:nvSpPr>
          <p:cNvPr id="12" name="Card"/>
          <p:cNvSpPr/>
          <p:nvPr/>
        </p:nvSpPr>
        <p:spPr>
          <a:xfrm>
            <a:off x="548640" y="3886200"/>
            <a:ext cx="11091672" cy="960120"/>
          </a:xfrm>
          <a:prstGeom prst="roundRect">
            <a:avLst>
              <a:gd name="adj" fmla="val 9524"/>
            </a:avLst>
          </a:prstGeom>
          <a:solidFill>
            <a:schemeClr val="bg2"/>
          </a:solidFill>
          <a:ln/>
        </p:spPr>
      </p:sp>
      <p:sp>
        <p:nvSpPr>
          <p:cNvPr id="13" name="Step 3"/>
          <p:cNvSpPr/>
          <p:nvPr/>
        </p:nvSpPr>
        <p:spPr>
          <a:xfrm>
            <a:off x="822960" y="409194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1737360" y="4014216"/>
            <a:ext cx="9601200" cy="411480"/>
          </a:xfrm>
          <a:prstGeom prst="rect">
            <a:avLst/>
          </a:prstGeom>
          <a:noFill/>
          <a:ln/>
        </p:spPr>
        <p:txBody>
          <a:bodyPr wrap="square" lIns="0" tIns="0" rIns="0" bIns="0" rtlCol="0" anchor="t"/>
          <a:lstStyle/>
          <a:p>
            <a:pPr indent="0" marL="0">
              <a:buNone/>
            </a:pPr>
            <a:r>
              <a:rPr lang="en-US" sz="2200" b="1" dirty="0">
                <a:solidFill>
                  <a:schemeClr val="tx1"/>
                </a:solidFill>
              </a:rPr>
              <a:t>Khai phá không giám sát</a:t>
            </a:r>
            <a:endParaRPr lang="en-US" sz="2200" dirty="0"/>
          </a:p>
        </p:txBody>
      </p:sp>
      <p:sp>
        <p:nvSpPr>
          <p:cNvPr id="15" name="Text 12"/>
          <p:cNvSpPr txBox="1"/>
          <p:nvPr/>
        </p:nvSpPr>
        <p:spPr>
          <a:xfrm>
            <a:off x="1737360" y="4434840"/>
            <a:ext cx="9601200" cy="320040"/>
          </a:xfrm>
          <a:prstGeom prst="rect">
            <a:avLst/>
          </a:prstGeom>
          <a:noFill/>
          <a:ln/>
        </p:spPr>
        <p:txBody>
          <a:bodyPr wrap="square" lIns="0" tIns="0" rIns="0" bIns="0" rtlCol="0" anchor="t"/>
          <a:lstStyle/>
          <a:p>
            <a:pPr indent="0" marL="0">
              <a:buNone/>
            </a:pPr>
            <a:r>
              <a:rPr lang="en-US" sz="1600" dirty="0">
                <a:solidFill>
                  <a:schemeClr val="accent2"/>
                </a:solidFill>
              </a:rPr>
              <a:t>LSA, KMeans, luật kết hợp</a:t>
            </a:r>
            <a:endParaRPr lang="en-US" sz="1600" dirty="0"/>
          </a:p>
        </p:txBody>
      </p:sp>
      <p:sp>
        <p:nvSpPr>
          <p:cNvPr id="16" name="Card"/>
          <p:cNvSpPr/>
          <p:nvPr/>
        </p:nvSpPr>
        <p:spPr>
          <a:xfrm>
            <a:off x="548640" y="5029200"/>
            <a:ext cx="11091672" cy="960120"/>
          </a:xfrm>
          <a:prstGeom prst="roundRect">
            <a:avLst>
              <a:gd name="adj" fmla="val 9524"/>
            </a:avLst>
          </a:prstGeom>
          <a:solidFill>
            <a:schemeClr val="bg2"/>
          </a:solidFill>
          <a:ln/>
        </p:spPr>
      </p:sp>
      <p:sp>
        <p:nvSpPr>
          <p:cNvPr id="17" name="Step 4"/>
          <p:cNvSpPr/>
          <p:nvPr/>
        </p:nvSpPr>
        <p:spPr>
          <a:xfrm>
            <a:off x="822960" y="523494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5"/>
          <p:cNvSpPr txBox="1"/>
          <p:nvPr/>
        </p:nvSpPr>
        <p:spPr>
          <a:xfrm>
            <a:off x="1737360" y="5157216"/>
            <a:ext cx="9601200" cy="411480"/>
          </a:xfrm>
          <a:prstGeom prst="rect">
            <a:avLst/>
          </a:prstGeom>
          <a:noFill/>
          <a:ln/>
        </p:spPr>
        <p:txBody>
          <a:bodyPr wrap="square" lIns="0" tIns="0" rIns="0" bIns="0" rtlCol="0" anchor="t"/>
          <a:lstStyle/>
          <a:p>
            <a:pPr indent="0" marL="0">
              <a:buNone/>
            </a:pPr>
            <a:r>
              <a:rPr lang="en-US" sz="2200" b="1" dirty="0">
                <a:solidFill>
                  <a:schemeClr val="tx1"/>
                </a:solidFill>
              </a:rPr>
              <a:t>Mô hình, đánh giá và ứng dụng</a:t>
            </a:r>
            <a:endParaRPr lang="en-US" sz="2200" dirty="0"/>
          </a:p>
        </p:txBody>
      </p:sp>
      <p:sp>
        <p:nvSpPr>
          <p:cNvPr id="19" name="Text 16"/>
          <p:cNvSpPr txBox="1"/>
          <p:nvPr/>
        </p:nvSpPr>
        <p:spPr>
          <a:xfrm>
            <a:off x="1737360" y="5577840"/>
            <a:ext cx="9601200" cy="320040"/>
          </a:xfrm>
          <a:prstGeom prst="rect">
            <a:avLst/>
          </a:prstGeom>
          <a:noFill/>
          <a:ln/>
        </p:spPr>
        <p:txBody>
          <a:bodyPr wrap="square" lIns="0" tIns="0" rIns="0" bIns="0" rtlCol="0" anchor="t"/>
          <a:lstStyle/>
          <a:p>
            <a:pPr indent="0" marL="0">
              <a:buNone/>
            </a:pPr>
            <a:r>
              <a:rPr lang="en-US" sz="1600" dirty="0">
                <a:solidFill>
                  <a:schemeClr val="accent2"/>
                </a:solidFill>
              </a:rPr>
              <a:t>3 mô hình, phân tích lỗi, chẩn đoán sản phẩm</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Vì sao cần tự động đọc review</a:t>
            </a:r>
            <a:endParaRPr lang="en-US" sz="3000" dirty="0"/>
          </a:p>
        </p:txBody>
      </p:sp>
      <p:sp>
        <p:nvSpPr>
          <p:cNvPr id="4" name="Card"/>
          <p:cNvSpPr/>
          <p:nvPr/>
        </p:nvSpPr>
        <p:spPr>
          <a:xfrm>
            <a:off x="548640" y="1554480"/>
            <a:ext cx="3474720" cy="3017520"/>
          </a:xfrm>
          <a:prstGeom prst="roundRect">
            <a:avLst>
              <a:gd name="adj" fmla="val 3030"/>
            </a:avLst>
          </a:prstGeom>
          <a:solidFill>
            <a:schemeClr val="bg2"/>
          </a:solidFill>
          <a:ln/>
        </p:spPr>
      </p:sp>
      <p:sp>
        <p:nvSpPr>
          <p:cNvPr id="5" name="Text 2"/>
          <p:cNvSpPr txBox="1"/>
          <p:nvPr/>
        </p:nvSpPr>
        <p:spPr>
          <a:xfrm>
            <a:off x="868680" y="1828800"/>
            <a:ext cx="2834640" cy="1005840"/>
          </a:xfrm>
          <a:prstGeom prst="rect">
            <a:avLst/>
          </a:prstGeom>
          <a:noFill/>
          <a:ln/>
        </p:spPr>
        <p:txBody>
          <a:bodyPr wrap="square" lIns="0" tIns="0" rIns="0" bIns="0" rtlCol="0" anchor="ctr"/>
          <a:lstStyle/>
          <a:p>
            <a:pPr indent="0" marL="0">
              <a:buNone/>
            </a:pPr>
            <a:r>
              <a:rPr lang="en-US" sz="5400" b="1" dirty="0">
                <a:solidFill>
                  <a:schemeClr val="accent1"/>
                </a:solidFill>
              </a:rPr>
              <a:t>93%</a:t>
            </a:r>
            <a:endParaRPr lang="en-US" sz="5400" dirty="0"/>
          </a:p>
        </p:txBody>
      </p:sp>
      <p:sp>
        <p:nvSpPr>
          <p:cNvPr id="6" name="Text 3"/>
          <p:cNvSpPr txBox="1"/>
          <p:nvPr/>
        </p:nvSpPr>
        <p:spPr>
          <a:xfrm>
            <a:off x="868680" y="3108960"/>
            <a:ext cx="2834640" cy="1463040"/>
          </a:xfrm>
          <a:prstGeom prst="rect">
            <a:avLst/>
          </a:prstGeom>
          <a:noFill/>
          <a:ln/>
        </p:spPr>
        <p:txBody>
          <a:bodyPr wrap="square" lIns="0" tIns="0" rIns="0" bIns="0" rtlCol="0" anchor="t"/>
          <a:lstStyle/>
          <a:p>
            <a:pPr indent="0" marL="0">
              <a:buNone/>
            </a:pPr>
            <a:r>
              <a:rPr lang="en-US" sz="1800" dirty="0">
                <a:solidFill>
                  <a:schemeClr val="tx1"/>
                </a:solidFill>
              </a:rPr>
              <a:t>người mua online nói review của người dùng trước ảnh hưởng đến quyết định mua</a:t>
            </a:r>
            <a:endParaRPr lang="en-US" sz="1800" dirty="0"/>
          </a:p>
        </p:txBody>
      </p:sp>
      <p:sp>
        <p:nvSpPr>
          <p:cNvPr id="7" name="Card"/>
          <p:cNvSpPr/>
          <p:nvPr/>
        </p:nvSpPr>
        <p:spPr>
          <a:xfrm>
            <a:off x="4357116" y="1554480"/>
            <a:ext cx="3474720" cy="3017520"/>
          </a:xfrm>
          <a:prstGeom prst="roundRect">
            <a:avLst>
              <a:gd name="adj" fmla="val 3030"/>
            </a:avLst>
          </a:prstGeom>
          <a:solidFill>
            <a:schemeClr val="bg2"/>
          </a:solidFill>
          <a:ln/>
        </p:spPr>
      </p:sp>
      <p:sp>
        <p:nvSpPr>
          <p:cNvPr id="8" name="Text 5"/>
          <p:cNvSpPr txBox="1"/>
          <p:nvPr/>
        </p:nvSpPr>
        <p:spPr>
          <a:xfrm>
            <a:off x="4677156" y="1828800"/>
            <a:ext cx="2834640" cy="1005840"/>
          </a:xfrm>
          <a:prstGeom prst="rect">
            <a:avLst/>
          </a:prstGeom>
          <a:noFill/>
          <a:ln/>
        </p:spPr>
        <p:txBody>
          <a:bodyPr wrap="square" lIns="0" tIns="0" rIns="0" bIns="0" rtlCol="0" anchor="ctr"/>
          <a:lstStyle/>
          <a:p>
            <a:pPr indent="0" marL="0">
              <a:buNone/>
            </a:pPr>
            <a:r>
              <a:rPr lang="en-US" sz="5400" b="1" dirty="0">
                <a:solidFill>
                  <a:schemeClr val="accent1"/>
                </a:solidFill>
              </a:rPr>
              <a:t>5–9%</a:t>
            </a:r>
            <a:endParaRPr lang="en-US" sz="5400" dirty="0"/>
          </a:p>
        </p:txBody>
      </p:sp>
      <p:sp>
        <p:nvSpPr>
          <p:cNvPr id="9" name="Text 6"/>
          <p:cNvSpPr txBox="1"/>
          <p:nvPr/>
        </p:nvSpPr>
        <p:spPr>
          <a:xfrm>
            <a:off x="4677156" y="3108960"/>
            <a:ext cx="2834640" cy="1463040"/>
          </a:xfrm>
          <a:prstGeom prst="rect">
            <a:avLst/>
          </a:prstGeom>
          <a:noFill/>
          <a:ln/>
        </p:spPr>
        <p:txBody>
          <a:bodyPr wrap="square" lIns="0" tIns="0" rIns="0" bIns="0" rtlCol="0" anchor="t"/>
          <a:lstStyle/>
          <a:p>
            <a:pPr indent="0" marL="0">
              <a:buNone/>
            </a:pPr>
            <a:r>
              <a:rPr lang="en-US" sz="1800" dirty="0">
                <a:solidFill>
                  <a:schemeClr val="tx1"/>
                </a:solidFill>
              </a:rPr>
              <a:t>doanh thu có thể mất khi điểm trung bình giảm 1 sao</a:t>
            </a:r>
            <a:endParaRPr lang="en-US" sz="1800" dirty="0"/>
          </a:p>
        </p:txBody>
      </p:sp>
      <p:sp>
        <p:nvSpPr>
          <p:cNvPr id="10" name="Card"/>
          <p:cNvSpPr/>
          <p:nvPr/>
        </p:nvSpPr>
        <p:spPr>
          <a:xfrm>
            <a:off x="8165592" y="1554480"/>
            <a:ext cx="3474720" cy="3017520"/>
          </a:xfrm>
          <a:prstGeom prst="roundRect">
            <a:avLst>
              <a:gd name="adj" fmla="val 3030"/>
            </a:avLst>
          </a:prstGeom>
          <a:solidFill>
            <a:schemeClr val="bg2"/>
          </a:solidFill>
          <a:ln/>
        </p:spPr>
      </p:sp>
      <p:sp>
        <p:nvSpPr>
          <p:cNvPr id="11" name="Text 8"/>
          <p:cNvSpPr txBox="1"/>
          <p:nvPr/>
        </p:nvSpPr>
        <p:spPr>
          <a:xfrm>
            <a:off x="8485632" y="1828800"/>
            <a:ext cx="2834640" cy="1005840"/>
          </a:xfrm>
          <a:prstGeom prst="rect">
            <a:avLst/>
          </a:prstGeom>
          <a:noFill/>
          <a:ln/>
        </p:spPr>
        <p:txBody>
          <a:bodyPr wrap="square" lIns="0" tIns="0" rIns="0" bIns="0" rtlCol="0" anchor="ctr"/>
          <a:lstStyle/>
          <a:p>
            <a:pPr indent="0" marL="0">
              <a:buNone/>
            </a:pPr>
            <a:r>
              <a:rPr lang="en-US" sz="5400" b="1" dirty="0">
                <a:solidFill>
                  <a:schemeClr val="accent1"/>
                </a:solidFill>
              </a:rPr>
              <a:t>80%+</a:t>
            </a:r>
            <a:endParaRPr lang="en-US" sz="5400" dirty="0"/>
          </a:p>
        </p:txBody>
      </p:sp>
      <p:sp>
        <p:nvSpPr>
          <p:cNvPr id="12" name="Text 9"/>
          <p:cNvSpPr txBox="1"/>
          <p:nvPr/>
        </p:nvSpPr>
        <p:spPr>
          <a:xfrm>
            <a:off x="8485632" y="3108960"/>
            <a:ext cx="2834640" cy="1463040"/>
          </a:xfrm>
          <a:prstGeom prst="rect">
            <a:avLst/>
          </a:prstGeom>
          <a:noFill/>
          <a:ln/>
        </p:spPr>
        <p:txBody>
          <a:bodyPr wrap="square" lIns="0" tIns="0" rIns="0" bIns="0" rtlCol="0" anchor="t"/>
          <a:lstStyle/>
          <a:p>
            <a:pPr indent="0" marL="0">
              <a:buNone/>
            </a:pPr>
            <a:r>
              <a:rPr lang="en-US" sz="1800" dirty="0">
                <a:solidFill>
                  <a:schemeClr val="tx1"/>
                </a:solidFill>
              </a:rPr>
              <a:t>dữ liệu số là văn bản tự do, cần text mining để chuyển thành số</a:t>
            </a:r>
            <a:endParaRPr lang="en-US" sz="1800" dirty="0"/>
          </a:p>
        </p:txBody>
      </p:sp>
      <p:sp>
        <p:nvSpPr>
          <p:cNvPr id="13" name="Text 10"/>
          <p:cNvSpPr txBox="1"/>
          <p:nvPr/>
        </p:nvSpPr>
        <p:spPr>
          <a:xfrm>
            <a:off x="548640" y="5074920"/>
            <a:ext cx="11091672" cy="457200"/>
          </a:xfrm>
          <a:prstGeom prst="rect">
            <a:avLst/>
          </a:prstGeom>
          <a:noFill/>
          <a:ln/>
        </p:spPr>
        <p:txBody>
          <a:bodyPr wrap="square" lIns="0" tIns="0" rIns="0" bIns="0" rtlCol="0" anchor="t"/>
          <a:lstStyle/>
          <a:p>
            <a:pPr indent="0" marL="0">
              <a:buNone/>
            </a:pPr>
            <a:r>
              <a:rPr lang="en-US" sz="2200" b="1" dirty="0">
                <a:solidFill>
                  <a:schemeClr val="tx1"/>
                </a:solidFill>
              </a:rPr>
              <a:t>Review quá nhiều để đọc tay, nên cần tự động hóa.</a:t>
            </a:r>
            <a:endParaRPr lang="en-US" sz="2200" dirty="0"/>
          </a:p>
        </p:txBody>
      </p:sp>
      <p:sp>
        <p:nvSpPr>
          <p:cNvPr id="14" name="Text 11"/>
          <p:cNvSpPr txBox="1"/>
          <p:nvPr/>
        </p:nvSpPr>
        <p:spPr>
          <a:xfrm>
            <a:off x="548640" y="5806440"/>
            <a:ext cx="11091672" cy="274320"/>
          </a:xfrm>
          <a:prstGeom prst="rect">
            <a:avLst/>
          </a:prstGeom>
          <a:noFill/>
          <a:ln/>
        </p:spPr>
        <p:txBody>
          <a:bodyPr wrap="square" lIns="0" tIns="0" rIns="0" bIns="0" rtlCol="0" anchor="t"/>
          <a:lstStyle/>
          <a:p>
            <a:pPr indent="0" marL="0">
              <a:buNone/>
            </a:pPr>
            <a:r>
              <a:rPr lang="en-US" sz="1200" dirty="0">
                <a:solidFill>
                  <a:schemeClr val="accent2"/>
                </a:solidFill>
              </a:rPr>
              <a:t>Nguồn: BrightLocal và Viện Nghiên cứu Tiếp thị Hoa Kỳ, theo báo cáo của nhóm.</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Đoán số sao từ lời nhận xét</a:t>
            </a:r>
            <a:endParaRPr lang="en-US" sz="3000" dirty="0"/>
          </a:p>
        </p:txBody>
      </p:sp>
      <p:sp>
        <p:nvSpPr>
          <p:cNvPr id="4" name="Text 1"/>
          <p:cNvSpPr txBox="1"/>
          <p:nvPr/>
        </p:nvSpPr>
        <p:spPr>
          <a:xfrm>
            <a:off x="548640" y="1508760"/>
            <a:ext cx="4206240" cy="1371600"/>
          </a:xfrm>
          <a:prstGeom prst="rect">
            <a:avLst/>
          </a:prstGeom>
          <a:noFill/>
          <a:ln/>
        </p:spPr>
        <p:txBody>
          <a:bodyPr wrap="square" lIns="0" tIns="0" rIns="0" bIns="0" rtlCol="0" anchor="ctr"/>
          <a:lstStyle/>
          <a:p>
            <a:pPr indent="0" marL="0">
              <a:buNone/>
            </a:pPr>
            <a:r>
              <a:rPr lang="en-US" sz="8800" b="1" dirty="0">
                <a:solidFill>
                  <a:schemeClr val="accent1"/>
                </a:solidFill>
              </a:rPr>
              <a:t>20%</a:t>
            </a:r>
            <a:endParaRPr lang="en-US" sz="8800" dirty="0"/>
          </a:p>
        </p:txBody>
      </p:sp>
      <p:sp>
        <p:nvSpPr>
          <p:cNvPr id="5" name="Text 2"/>
          <p:cNvSpPr txBox="1"/>
          <p:nvPr/>
        </p:nvSpPr>
        <p:spPr>
          <a:xfrm>
            <a:off x="548640" y="2926080"/>
            <a:ext cx="4206240" cy="914400"/>
          </a:xfrm>
          <a:prstGeom prst="rect">
            <a:avLst/>
          </a:prstGeom>
          <a:noFill/>
          <a:ln/>
        </p:spPr>
        <p:txBody>
          <a:bodyPr wrap="square" lIns="0" tIns="0" rIns="0" bIns="0" rtlCol="0" anchor="t"/>
          <a:lstStyle/>
          <a:p>
            <a:pPr indent="0" marL="0">
              <a:buNone/>
            </a:pPr>
            <a:r>
              <a:rPr lang="en-US" sz="1800" dirty="0">
                <a:solidFill>
                  <a:schemeClr val="tx1"/>
                </a:solidFill>
              </a:rPr>
              <a:t>xác suất đoán trúng nếu chọn ngẫu nhiên, vì 5 mức sao chia đều nhau</a:t>
            </a:r>
            <a:endParaRPr lang="en-US" sz="1800" dirty="0"/>
          </a:p>
        </p:txBody>
      </p:sp>
      <p:sp>
        <p:nvSpPr>
          <p:cNvPr id="6" name="Card"/>
          <p:cNvSpPr/>
          <p:nvPr/>
        </p:nvSpPr>
        <p:spPr>
          <a:xfrm>
            <a:off x="548640" y="4114800"/>
            <a:ext cx="4206240" cy="1783080"/>
          </a:xfrm>
          <a:prstGeom prst="roundRect">
            <a:avLst>
              <a:gd name="adj" fmla="val 5128"/>
            </a:avLst>
          </a:prstGeom>
          <a:solidFill>
            <a:schemeClr val="bg2"/>
          </a:solidFill>
          <a:ln/>
        </p:spPr>
      </p:sp>
      <p:sp>
        <p:nvSpPr>
          <p:cNvPr id="7" name="Text 4"/>
          <p:cNvSpPr txBox="1"/>
          <p:nvPr/>
        </p:nvSpPr>
        <p:spPr>
          <a:xfrm>
            <a:off x="822960" y="4297680"/>
            <a:ext cx="3657600" cy="1463040"/>
          </a:xfrm>
          <a:prstGeom prst="rect">
            <a:avLst/>
          </a:prstGeom>
          <a:noFill/>
          <a:ln/>
        </p:spPr>
        <p:txBody>
          <a:bodyPr wrap="square" lIns="0" tIns="0" rIns="0" bIns="0" rtlCol="0" anchor="t"/>
          <a:lstStyle/>
          <a:p>
            <a:pPr indent="0" marL="0">
              <a:buNone/>
            </a:pPr>
            <a:r>
              <a:rPr lang="en-US" sz="1600" b="1" dirty="0">
                <a:solidFill>
                  <a:schemeClr val="tx1"/>
                </a:solidFill>
              </a:rPr>
              <a:t>Đầu vào</a:t>
            </a:r>
            <a:endParaRPr lang="en-US" sz="1600" dirty="0"/>
          </a:p>
          <a:p>
            <a:pPr indent="0" marL="0">
              <a:buNone/>
            </a:pPr>
            <a:r>
              <a:rPr lang="en-US" sz="1600" dirty="0">
                <a:solidFill>
                  <a:schemeClr val="tx1"/>
                </a:solidFill>
              </a:rPr>
              <a:t>Tiêu đề và nội dung review tiếng Anh</a:t>
            </a:r>
            <a:endParaRPr lang="en-US" sz="1600" dirty="0"/>
          </a:p>
          <a:p>
            <a:pPr indent="0" marL="0">
              <a:buNone/>
            </a:pPr>
            <a:r>
              <a:rPr lang="en-US" sz="800" dirty="0">
                <a:solidFill>
                  <a:schemeClr val="tx1"/>
                </a:solidFill>
              </a:rPr>
              <a:t> </a:t>
            </a:r>
            <a:endParaRPr lang="en-US" sz="1600" dirty="0"/>
          </a:p>
          <a:p>
            <a:pPr indent="0" marL="0">
              <a:buNone/>
            </a:pPr>
            <a:r>
              <a:rPr lang="en-US" sz="1600" b="1" dirty="0">
                <a:solidFill>
                  <a:schemeClr val="tx1"/>
                </a:solidFill>
              </a:rPr>
              <a:t>Đầu ra</a:t>
            </a:r>
            <a:endParaRPr lang="en-US" sz="1600" dirty="0"/>
          </a:p>
          <a:p>
            <a:pPr indent="0" marL="0">
              <a:buNone/>
            </a:pPr>
            <a:r>
              <a:rPr lang="en-US" sz="1600" dirty="0">
                <a:solidFill>
                  <a:schemeClr val="tx1"/>
                </a:solidFill>
              </a:rPr>
              <a:t>Một nhãn từ 1 đến 5 sao</a:t>
            </a:r>
            <a:endParaRPr lang="en-US" sz="1600" dirty="0"/>
          </a:p>
        </p:txBody>
      </p:sp>
      <p:sp>
        <p:nvSpPr>
          <p:cNvPr id="8" name="Card"/>
          <p:cNvSpPr/>
          <p:nvPr/>
        </p:nvSpPr>
        <p:spPr>
          <a:xfrm>
            <a:off x="5212080" y="1554480"/>
            <a:ext cx="6428232" cy="1371600"/>
          </a:xfrm>
          <a:prstGeom prst="roundRect">
            <a:avLst>
              <a:gd name="adj" fmla="val 6667"/>
            </a:avLst>
          </a:prstGeom>
          <a:solidFill>
            <a:schemeClr val="bg2"/>
          </a:solidFill>
          <a:ln/>
        </p:spPr>
      </p:sp>
      <p:sp>
        <p:nvSpPr>
          <p:cNvPr id="9" name="Text 6"/>
          <p:cNvSpPr txBox="1"/>
          <p:nvPr/>
        </p:nvSpPr>
        <p:spPr>
          <a:xfrm>
            <a:off x="5486400" y="1709928"/>
            <a:ext cx="5852160" cy="320040"/>
          </a:xfrm>
          <a:prstGeom prst="rect">
            <a:avLst/>
          </a:prstGeom>
          <a:noFill/>
          <a:ln/>
        </p:spPr>
        <p:txBody>
          <a:bodyPr wrap="square" lIns="0" tIns="0" rIns="0" bIns="0" rtlCol="0" anchor="t"/>
          <a:lstStyle/>
          <a:p>
            <a:pPr indent="0" marL="0">
              <a:buNone/>
            </a:pPr>
            <a:r>
              <a:rPr lang="en-US" sz="2000" b="1" dirty="0">
                <a:solidFill>
                  <a:schemeClr val="accent6"/>
                </a:solidFill>
              </a:rPr>
              <a:t>Ranh giới mờ</a:t>
            </a:r>
            <a:endParaRPr lang="en-US" sz="2000" dirty="0"/>
          </a:p>
        </p:txBody>
      </p:sp>
      <p:sp>
        <p:nvSpPr>
          <p:cNvPr id="10" name="Text 7"/>
          <p:cNvSpPr txBox="1"/>
          <p:nvPr/>
        </p:nvSpPr>
        <p:spPr>
          <a:xfrm>
            <a:off x="5486400" y="2103120"/>
            <a:ext cx="5897880" cy="731520"/>
          </a:xfrm>
          <a:prstGeom prst="rect">
            <a:avLst/>
          </a:prstGeom>
          <a:noFill/>
          <a:ln/>
        </p:spPr>
        <p:txBody>
          <a:bodyPr wrap="square" lIns="0" tIns="0" rIns="0" bIns="0" rtlCol="0" anchor="t"/>
          <a:lstStyle/>
          <a:p>
            <a:pPr indent="0" marL="0">
              <a:buNone/>
            </a:pPr>
            <a:r>
              <a:rPr lang="en-US" sz="1600" dirty="0">
                <a:solidFill>
                  <a:schemeClr val="tx1"/>
                </a:solidFill>
              </a:rPr>
              <a:t>“Good product” được 5 sao, còn “Very good, highly recommend, but nothing in this world is truly perfect” chỉ được 4 sao.</a:t>
            </a:r>
            <a:endParaRPr lang="en-US" sz="1600" dirty="0"/>
          </a:p>
        </p:txBody>
      </p:sp>
      <p:sp>
        <p:nvSpPr>
          <p:cNvPr id="11" name="Card"/>
          <p:cNvSpPr/>
          <p:nvPr/>
        </p:nvSpPr>
        <p:spPr>
          <a:xfrm>
            <a:off x="5212080" y="3108960"/>
            <a:ext cx="6428232" cy="1371600"/>
          </a:xfrm>
          <a:prstGeom prst="roundRect">
            <a:avLst>
              <a:gd name="adj" fmla="val 6667"/>
            </a:avLst>
          </a:prstGeom>
          <a:solidFill>
            <a:schemeClr val="bg2"/>
          </a:solidFill>
          <a:ln/>
        </p:spPr>
      </p:sp>
      <p:sp>
        <p:nvSpPr>
          <p:cNvPr id="12" name="Text 9"/>
          <p:cNvSpPr txBox="1"/>
          <p:nvPr/>
        </p:nvSpPr>
        <p:spPr>
          <a:xfrm>
            <a:off x="5486400" y="3264408"/>
            <a:ext cx="5852160" cy="320040"/>
          </a:xfrm>
          <a:prstGeom prst="rect">
            <a:avLst/>
          </a:prstGeom>
          <a:noFill/>
          <a:ln/>
        </p:spPr>
        <p:txBody>
          <a:bodyPr wrap="square" lIns="0" tIns="0" rIns="0" bIns="0" rtlCol="0" anchor="t"/>
          <a:lstStyle/>
          <a:p>
            <a:pPr indent="0" marL="0">
              <a:buNone/>
            </a:pPr>
            <a:r>
              <a:rPr lang="en-US" sz="2000" b="1" dirty="0">
                <a:solidFill>
                  <a:schemeClr val="accent6"/>
                </a:solidFill>
              </a:rPr>
              <a:t>Mỉa mai</a:t>
            </a:r>
            <a:endParaRPr lang="en-US" sz="2000" dirty="0"/>
          </a:p>
        </p:txBody>
      </p:sp>
      <p:sp>
        <p:nvSpPr>
          <p:cNvPr id="13" name="Text 10"/>
          <p:cNvSpPr txBox="1"/>
          <p:nvPr/>
        </p:nvSpPr>
        <p:spPr>
          <a:xfrm>
            <a:off x="5486400" y="3657600"/>
            <a:ext cx="5897880" cy="731520"/>
          </a:xfrm>
          <a:prstGeom prst="rect">
            <a:avLst/>
          </a:prstGeom>
          <a:noFill/>
          <a:ln/>
        </p:spPr>
        <p:txBody>
          <a:bodyPr wrap="square" lIns="0" tIns="0" rIns="0" bIns="0" rtlCol="0" anchor="t"/>
          <a:lstStyle/>
          <a:p>
            <a:pPr indent="0" marL="0">
              <a:buNone/>
            </a:pPr>
            <a:r>
              <a:rPr lang="en-US" sz="1600" dirty="0">
                <a:solidFill>
                  <a:schemeClr val="tx1"/>
                </a:solidFill>
              </a:rPr>
              <a:t>“What a brilliant masterpiece of junk!” là review 1 sao, nhưng câu chữ toàn từ khen.</a:t>
            </a:r>
            <a:endParaRPr lang="en-US" sz="1600" dirty="0"/>
          </a:p>
        </p:txBody>
      </p:sp>
      <p:sp>
        <p:nvSpPr>
          <p:cNvPr id="14" name="Card"/>
          <p:cNvSpPr/>
          <p:nvPr/>
        </p:nvSpPr>
        <p:spPr>
          <a:xfrm>
            <a:off x="5212080" y="4663440"/>
            <a:ext cx="6428232" cy="1371600"/>
          </a:xfrm>
          <a:prstGeom prst="roundRect">
            <a:avLst>
              <a:gd name="adj" fmla="val 6667"/>
            </a:avLst>
          </a:prstGeom>
          <a:solidFill>
            <a:schemeClr val="bg2"/>
          </a:solidFill>
          <a:ln/>
        </p:spPr>
      </p:sp>
      <p:sp>
        <p:nvSpPr>
          <p:cNvPr id="15" name="Text 12"/>
          <p:cNvSpPr txBox="1"/>
          <p:nvPr/>
        </p:nvSpPr>
        <p:spPr>
          <a:xfrm>
            <a:off x="5486400" y="4818888"/>
            <a:ext cx="5852160" cy="320040"/>
          </a:xfrm>
          <a:prstGeom prst="rect">
            <a:avLst/>
          </a:prstGeom>
          <a:noFill/>
          <a:ln/>
        </p:spPr>
        <p:txBody>
          <a:bodyPr wrap="square" lIns="0" tIns="0" rIns="0" bIns="0" rtlCol="0" anchor="t"/>
          <a:lstStyle/>
          <a:p>
            <a:pPr indent="0" marL="0">
              <a:buNone/>
            </a:pPr>
            <a:r>
              <a:rPr lang="en-US" sz="2000" b="1" dirty="0">
                <a:solidFill>
                  <a:schemeClr val="accent6"/>
                </a:solidFill>
              </a:rPr>
              <a:t>Phủ định</a:t>
            </a:r>
            <a:endParaRPr lang="en-US" sz="2000" dirty="0"/>
          </a:p>
        </p:txBody>
      </p:sp>
      <p:sp>
        <p:nvSpPr>
          <p:cNvPr id="16" name="Text 13"/>
          <p:cNvSpPr txBox="1"/>
          <p:nvPr/>
        </p:nvSpPr>
        <p:spPr>
          <a:xfrm>
            <a:off x="5486400" y="5212080"/>
            <a:ext cx="5897880" cy="731520"/>
          </a:xfrm>
          <a:prstGeom prst="rect">
            <a:avLst/>
          </a:prstGeom>
          <a:noFill/>
          <a:ln/>
        </p:spPr>
        <p:txBody>
          <a:bodyPr wrap="square" lIns="0" tIns="0" rIns="0" bIns="0" rtlCol="0" anchor="t"/>
          <a:lstStyle/>
          <a:p>
            <a:pPr indent="0" marL="0">
              <a:buNone/>
            </a:pPr>
            <a:r>
              <a:rPr lang="en-US" sz="1600" dirty="0">
                <a:solidFill>
                  <a:schemeClr val="tx1"/>
                </a:solidFill>
              </a:rPr>
              <a:t>“not buy” rất tiêu cực, còn “not bad” gần như trung lập.</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Quy trình CRISP-DM trong đồ án</a:t>
            </a:r>
            <a:endParaRPr lang="en-US" sz="3000" dirty="0"/>
          </a:p>
        </p:txBody>
      </p:sp>
      <p:sp>
        <p:nvSpPr>
          <p:cNvPr id="4" name="Card"/>
          <p:cNvSpPr/>
          <p:nvPr/>
        </p:nvSpPr>
        <p:spPr>
          <a:xfrm>
            <a:off x="548640" y="1554480"/>
            <a:ext cx="3474720" cy="2103120"/>
          </a:xfrm>
          <a:prstGeom prst="roundRect">
            <a:avLst>
              <a:gd name="adj" fmla="val 4348"/>
            </a:avLst>
          </a:prstGeom>
          <a:solidFill>
            <a:schemeClr val="bg2"/>
          </a:solidFill>
          <a:ln/>
        </p:spPr>
      </p:sp>
      <p:sp>
        <p:nvSpPr>
          <p:cNvPr id="5" name="Step 1"/>
          <p:cNvSpPr/>
          <p:nvPr/>
        </p:nvSpPr>
        <p:spPr>
          <a:xfrm>
            <a:off x="822960" y="182880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554480" y="1828800"/>
            <a:ext cx="2286000" cy="548640"/>
          </a:xfrm>
          <a:prstGeom prst="rect">
            <a:avLst/>
          </a:prstGeom>
          <a:noFill/>
          <a:ln/>
        </p:spPr>
        <p:txBody>
          <a:bodyPr wrap="square" lIns="0" tIns="0" rIns="0" bIns="0" rtlCol="0" anchor="ctr"/>
          <a:lstStyle/>
          <a:p>
            <a:pPr indent="0" marL="0">
              <a:buNone/>
            </a:pPr>
            <a:r>
              <a:rPr lang="en-US" sz="2000" b="1" dirty="0">
                <a:solidFill>
                  <a:schemeClr val="tx1"/>
                </a:solidFill>
              </a:rPr>
              <a:t>Thấu hiểu nghiệp vụ</a:t>
            </a:r>
            <a:endParaRPr lang="en-US" sz="2000" dirty="0"/>
          </a:p>
        </p:txBody>
      </p:sp>
      <p:sp>
        <p:nvSpPr>
          <p:cNvPr id="7" name="Text 4"/>
          <p:cNvSpPr txBox="1"/>
          <p:nvPr/>
        </p:nvSpPr>
        <p:spPr>
          <a:xfrm>
            <a:off x="822960" y="2651760"/>
            <a:ext cx="2926080" cy="822960"/>
          </a:xfrm>
          <a:prstGeom prst="rect">
            <a:avLst/>
          </a:prstGeom>
          <a:noFill/>
          <a:ln/>
        </p:spPr>
        <p:txBody>
          <a:bodyPr wrap="square" lIns="0" tIns="0" rIns="0" bIns="0" rtlCol="0" anchor="t"/>
          <a:lstStyle/>
          <a:p>
            <a:pPr indent="0" marL="0">
              <a:buNone/>
            </a:pPr>
            <a:r>
              <a:rPr lang="en-US" sz="1800" dirty="0">
                <a:solidFill>
                  <a:schemeClr val="tx1"/>
                </a:solidFill>
              </a:rPr>
              <a:t>Biến thang 5 sao thành bài toán phân loại</a:t>
            </a:r>
            <a:endParaRPr lang="en-US" sz="1800" dirty="0"/>
          </a:p>
        </p:txBody>
      </p:sp>
      <p:sp>
        <p:nvSpPr>
          <p:cNvPr id="8" name="Card"/>
          <p:cNvSpPr/>
          <p:nvPr/>
        </p:nvSpPr>
        <p:spPr>
          <a:xfrm>
            <a:off x="4357116" y="1554480"/>
            <a:ext cx="3474720" cy="2103120"/>
          </a:xfrm>
          <a:prstGeom prst="roundRect">
            <a:avLst>
              <a:gd name="adj" fmla="val 4348"/>
            </a:avLst>
          </a:prstGeom>
          <a:solidFill>
            <a:schemeClr val="bg2"/>
          </a:solidFill>
          <a:ln/>
        </p:spPr>
      </p:sp>
      <p:sp>
        <p:nvSpPr>
          <p:cNvPr id="9" name="Step 2"/>
          <p:cNvSpPr/>
          <p:nvPr/>
        </p:nvSpPr>
        <p:spPr>
          <a:xfrm>
            <a:off x="4631436" y="182880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5362956" y="1828800"/>
            <a:ext cx="2286000" cy="548640"/>
          </a:xfrm>
          <a:prstGeom prst="rect">
            <a:avLst/>
          </a:prstGeom>
          <a:noFill/>
          <a:ln/>
        </p:spPr>
        <p:txBody>
          <a:bodyPr wrap="square" lIns="0" tIns="0" rIns="0" bIns="0" rtlCol="0" anchor="ctr"/>
          <a:lstStyle/>
          <a:p>
            <a:pPr indent="0" marL="0">
              <a:buNone/>
            </a:pPr>
            <a:r>
              <a:rPr lang="en-US" sz="2000" b="1" dirty="0">
                <a:solidFill>
                  <a:schemeClr val="tx1"/>
                </a:solidFill>
              </a:rPr>
              <a:t>Thấu hiểu dữ liệu</a:t>
            </a:r>
            <a:endParaRPr lang="en-US" sz="2000" dirty="0"/>
          </a:p>
        </p:txBody>
      </p:sp>
      <p:sp>
        <p:nvSpPr>
          <p:cNvPr id="11" name="Text 8"/>
          <p:cNvSpPr txBox="1"/>
          <p:nvPr/>
        </p:nvSpPr>
        <p:spPr>
          <a:xfrm>
            <a:off x="4631436" y="2651760"/>
            <a:ext cx="2926080" cy="822960"/>
          </a:xfrm>
          <a:prstGeom prst="rect">
            <a:avLst/>
          </a:prstGeom>
          <a:noFill/>
          <a:ln/>
        </p:spPr>
        <p:txBody>
          <a:bodyPr wrap="square" lIns="0" tIns="0" rIns="0" bIns="0" rtlCol="0" anchor="t"/>
          <a:lstStyle/>
          <a:p>
            <a:pPr indent="0" marL="0">
              <a:buNone/>
            </a:pPr>
            <a:r>
              <a:rPr lang="en-US" sz="1800" dirty="0">
                <a:solidFill>
                  <a:schemeClr val="tx1"/>
                </a:solidFill>
              </a:rPr>
              <a:t>Khám phá 3.65 triệu bản ghi</a:t>
            </a:r>
            <a:endParaRPr lang="en-US" sz="1800" dirty="0"/>
          </a:p>
        </p:txBody>
      </p:sp>
      <p:sp>
        <p:nvSpPr>
          <p:cNvPr id="12" name="Card"/>
          <p:cNvSpPr/>
          <p:nvPr/>
        </p:nvSpPr>
        <p:spPr>
          <a:xfrm>
            <a:off x="8165592" y="1554480"/>
            <a:ext cx="3474720" cy="2103120"/>
          </a:xfrm>
          <a:prstGeom prst="roundRect">
            <a:avLst>
              <a:gd name="adj" fmla="val 4348"/>
            </a:avLst>
          </a:prstGeom>
          <a:solidFill>
            <a:schemeClr val="bg2"/>
          </a:solidFill>
          <a:ln/>
        </p:spPr>
      </p:sp>
      <p:sp>
        <p:nvSpPr>
          <p:cNvPr id="13" name="Step 3"/>
          <p:cNvSpPr/>
          <p:nvPr/>
        </p:nvSpPr>
        <p:spPr>
          <a:xfrm>
            <a:off x="8439912" y="182880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9171432" y="1828800"/>
            <a:ext cx="2286000" cy="548640"/>
          </a:xfrm>
          <a:prstGeom prst="rect">
            <a:avLst/>
          </a:prstGeom>
          <a:noFill/>
          <a:ln/>
        </p:spPr>
        <p:txBody>
          <a:bodyPr wrap="square" lIns="0" tIns="0" rIns="0" bIns="0" rtlCol="0" anchor="ctr"/>
          <a:lstStyle/>
          <a:p>
            <a:pPr indent="0" marL="0">
              <a:buNone/>
            </a:pPr>
            <a:r>
              <a:rPr lang="en-US" sz="2000" b="1" dirty="0">
                <a:solidFill>
                  <a:schemeClr val="tx1"/>
                </a:solidFill>
              </a:rPr>
              <a:t>Chuẩn bị dữ liệu</a:t>
            </a:r>
            <a:endParaRPr lang="en-US" sz="2000" dirty="0"/>
          </a:p>
        </p:txBody>
      </p:sp>
      <p:sp>
        <p:nvSpPr>
          <p:cNvPr id="15" name="Text 12"/>
          <p:cNvSpPr txBox="1"/>
          <p:nvPr/>
        </p:nvSpPr>
        <p:spPr>
          <a:xfrm>
            <a:off x="8439912" y="2651760"/>
            <a:ext cx="2926080" cy="822960"/>
          </a:xfrm>
          <a:prstGeom prst="rect">
            <a:avLst/>
          </a:prstGeom>
          <a:noFill/>
          <a:ln/>
        </p:spPr>
        <p:txBody>
          <a:bodyPr wrap="square" lIns="0" tIns="0" rIns="0" bIns="0" rtlCol="0" anchor="t"/>
          <a:lstStyle/>
          <a:p>
            <a:pPr indent="0" marL="0">
              <a:buNone/>
            </a:pPr>
            <a:r>
              <a:rPr lang="en-US" sz="1800" dirty="0">
                <a:solidFill>
                  <a:schemeClr val="tx1"/>
                </a:solidFill>
              </a:rPr>
              <a:t>Tiền xử lý, đặc trưng, TF-IDF</a:t>
            </a:r>
            <a:endParaRPr lang="en-US" sz="1800" dirty="0"/>
          </a:p>
        </p:txBody>
      </p:sp>
      <p:sp>
        <p:nvSpPr>
          <p:cNvPr id="16" name="Card"/>
          <p:cNvSpPr/>
          <p:nvPr/>
        </p:nvSpPr>
        <p:spPr>
          <a:xfrm>
            <a:off x="548640" y="3840480"/>
            <a:ext cx="3474720" cy="2103120"/>
          </a:xfrm>
          <a:prstGeom prst="roundRect">
            <a:avLst>
              <a:gd name="adj" fmla="val 4348"/>
            </a:avLst>
          </a:prstGeom>
          <a:solidFill>
            <a:schemeClr val="bg2"/>
          </a:solidFill>
          <a:ln/>
        </p:spPr>
      </p:sp>
      <p:sp>
        <p:nvSpPr>
          <p:cNvPr id="17" name="Step 4"/>
          <p:cNvSpPr/>
          <p:nvPr/>
        </p:nvSpPr>
        <p:spPr>
          <a:xfrm>
            <a:off x="822960" y="411480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5"/>
          <p:cNvSpPr txBox="1"/>
          <p:nvPr/>
        </p:nvSpPr>
        <p:spPr>
          <a:xfrm>
            <a:off x="1554480" y="4114800"/>
            <a:ext cx="2286000" cy="548640"/>
          </a:xfrm>
          <a:prstGeom prst="rect">
            <a:avLst/>
          </a:prstGeom>
          <a:noFill/>
          <a:ln/>
        </p:spPr>
        <p:txBody>
          <a:bodyPr wrap="square" lIns="0" tIns="0" rIns="0" bIns="0" rtlCol="0" anchor="ctr"/>
          <a:lstStyle/>
          <a:p>
            <a:pPr indent="0" marL="0">
              <a:buNone/>
            </a:pPr>
            <a:r>
              <a:rPr lang="en-US" sz="2000" b="1" dirty="0">
                <a:solidFill>
                  <a:schemeClr val="tx1"/>
                </a:solidFill>
              </a:rPr>
              <a:t>Mô hình hóa</a:t>
            </a:r>
            <a:endParaRPr lang="en-US" sz="2000" dirty="0"/>
          </a:p>
        </p:txBody>
      </p:sp>
      <p:sp>
        <p:nvSpPr>
          <p:cNvPr id="19" name="Text 16"/>
          <p:cNvSpPr txBox="1"/>
          <p:nvPr/>
        </p:nvSpPr>
        <p:spPr>
          <a:xfrm>
            <a:off x="822960" y="4937760"/>
            <a:ext cx="2926080" cy="822960"/>
          </a:xfrm>
          <a:prstGeom prst="rect">
            <a:avLst/>
          </a:prstGeom>
          <a:noFill/>
          <a:ln/>
        </p:spPr>
        <p:txBody>
          <a:bodyPr wrap="square" lIns="0" tIns="0" rIns="0" bIns="0" rtlCol="0" anchor="t"/>
          <a:lstStyle/>
          <a:p>
            <a:pPr indent="0" marL="0">
              <a:buNone/>
            </a:pPr>
            <a:r>
              <a:rPr lang="en-US" sz="1800" dirty="0">
                <a:solidFill>
                  <a:schemeClr val="tx1"/>
                </a:solidFill>
              </a:rPr>
              <a:t>LSA, KMeans, 3 mô hình học máy</a:t>
            </a:r>
            <a:endParaRPr lang="en-US" sz="1800" dirty="0"/>
          </a:p>
        </p:txBody>
      </p:sp>
      <p:sp>
        <p:nvSpPr>
          <p:cNvPr id="20" name="Card"/>
          <p:cNvSpPr/>
          <p:nvPr/>
        </p:nvSpPr>
        <p:spPr>
          <a:xfrm>
            <a:off x="4357116" y="3840480"/>
            <a:ext cx="3474720" cy="2103120"/>
          </a:xfrm>
          <a:prstGeom prst="roundRect">
            <a:avLst>
              <a:gd name="adj" fmla="val 4348"/>
            </a:avLst>
          </a:prstGeom>
          <a:solidFill>
            <a:schemeClr val="bg2"/>
          </a:solidFill>
          <a:ln/>
        </p:spPr>
      </p:sp>
      <p:sp>
        <p:nvSpPr>
          <p:cNvPr id="21" name="Step 5"/>
          <p:cNvSpPr/>
          <p:nvPr/>
        </p:nvSpPr>
        <p:spPr>
          <a:xfrm>
            <a:off x="4631436" y="411480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2" name="Text 19"/>
          <p:cNvSpPr txBox="1"/>
          <p:nvPr/>
        </p:nvSpPr>
        <p:spPr>
          <a:xfrm>
            <a:off x="5362956" y="4114800"/>
            <a:ext cx="2286000" cy="548640"/>
          </a:xfrm>
          <a:prstGeom prst="rect">
            <a:avLst/>
          </a:prstGeom>
          <a:noFill/>
          <a:ln/>
        </p:spPr>
        <p:txBody>
          <a:bodyPr wrap="square" lIns="0" tIns="0" rIns="0" bIns="0" rtlCol="0" anchor="ctr"/>
          <a:lstStyle/>
          <a:p>
            <a:pPr indent="0" marL="0">
              <a:buNone/>
            </a:pPr>
            <a:r>
              <a:rPr lang="en-US" sz="2000" b="1" dirty="0">
                <a:solidFill>
                  <a:schemeClr val="tx1"/>
                </a:solidFill>
              </a:rPr>
              <a:t>Đánh giá</a:t>
            </a:r>
            <a:endParaRPr lang="en-US" sz="2000" dirty="0"/>
          </a:p>
        </p:txBody>
      </p:sp>
      <p:sp>
        <p:nvSpPr>
          <p:cNvPr id="23" name="Text 20"/>
          <p:cNvSpPr txBox="1"/>
          <p:nvPr/>
        </p:nvSpPr>
        <p:spPr>
          <a:xfrm>
            <a:off x="4631436" y="4937760"/>
            <a:ext cx="2926080" cy="822960"/>
          </a:xfrm>
          <a:prstGeom prst="rect">
            <a:avLst/>
          </a:prstGeom>
          <a:noFill/>
          <a:ln/>
        </p:spPr>
        <p:txBody>
          <a:bodyPr wrap="square" lIns="0" tIns="0" rIns="0" bIns="0" rtlCol="0" anchor="t"/>
          <a:lstStyle/>
          <a:p>
            <a:pPr indent="0" marL="0">
              <a:buNone/>
            </a:pPr>
            <a:r>
              <a:rPr lang="en-US" sz="1800" dirty="0">
                <a:solidFill>
                  <a:schemeClr val="tx1"/>
                </a:solidFill>
              </a:rPr>
              <a:t>8 chỉ số trên 97,500 mẫu test</a:t>
            </a:r>
            <a:endParaRPr lang="en-US" sz="1800" dirty="0"/>
          </a:p>
        </p:txBody>
      </p:sp>
      <p:sp>
        <p:nvSpPr>
          <p:cNvPr id="24" name="Card"/>
          <p:cNvSpPr/>
          <p:nvPr/>
        </p:nvSpPr>
        <p:spPr>
          <a:xfrm>
            <a:off x="8165592" y="3840480"/>
            <a:ext cx="3474720" cy="2103120"/>
          </a:xfrm>
          <a:prstGeom prst="roundRect">
            <a:avLst>
              <a:gd name="adj" fmla="val 4348"/>
            </a:avLst>
          </a:prstGeom>
          <a:solidFill>
            <a:schemeClr val="bg2"/>
          </a:solidFill>
          <a:ln/>
        </p:spPr>
      </p:sp>
      <p:sp>
        <p:nvSpPr>
          <p:cNvPr id="25" name="Step 6"/>
          <p:cNvSpPr/>
          <p:nvPr/>
        </p:nvSpPr>
        <p:spPr>
          <a:xfrm>
            <a:off x="8439912" y="411480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6" name="Text 23"/>
          <p:cNvSpPr txBox="1"/>
          <p:nvPr/>
        </p:nvSpPr>
        <p:spPr>
          <a:xfrm>
            <a:off x="9171432" y="4114800"/>
            <a:ext cx="2286000" cy="548640"/>
          </a:xfrm>
          <a:prstGeom prst="rect">
            <a:avLst/>
          </a:prstGeom>
          <a:noFill/>
          <a:ln/>
        </p:spPr>
        <p:txBody>
          <a:bodyPr wrap="square" lIns="0" tIns="0" rIns="0" bIns="0" rtlCol="0" anchor="ctr"/>
          <a:lstStyle/>
          <a:p>
            <a:pPr indent="0" marL="0">
              <a:buNone/>
            </a:pPr>
            <a:r>
              <a:rPr lang="en-US" sz="2000" b="1" dirty="0">
                <a:solidFill>
                  <a:schemeClr val="tx1"/>
                </a:solidFill>
              </a:rPr>
              <a:t>Triển khai</a:t>
            </a:r>
            <a:endParaRPr lang="en-US" sz="2000" dirty="0"/>
          </a:p>
        </p:txBody>
      </p:sp>
      <p:sp>
        <p:nvSpPr>
          <p:cNvPr id="27" name="Text 24"/>
          <p:cNvSpPr txBox="1"/>
          <p:nvPr/>
        </p:nvSpPr>
        <p:spPr>
          <a:xfrm>
            <a:off x="8439912" y="4937760"/>
            <a:ext cx="2926080" cy="822960"/>
          </a:xfrm>
          <a:prstGeom prst="rect">
            <a:avLst/>
          </a:prstGeom>
          <a:noFill/>
          <a:ln/>
        </p:spPr>
        <p:txBody>
          <a:bodyPr wrap="square" lIns="0" tIns="0" rIns="0" bIns="0" rtlCol="0" anchor="t"/>
          <a:lstStyle/>
          <a:p>
            <a:pPr indent="0" marL="0">
              <a:buNone/>
            </a:pPr>
            <a:r>
              <a:rPr lang="en-US" sz="1800" dirty="0">
                <a:solidFill>
                  <a:schemeClr val="tx1"/>
                </a:solidFill>
              </a:rPr>
              <a:t>Suy luận và chẩn đoán sản phẩm</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Dữ liệu: 3.65 triệu review, chia đều 5 mức sao</a:t>
            </a:r>
            <a:endParaRPr lang="en-US" sz="3000" dirty="0"/>
          </a:p>
        </p:txBody>
      </p:sp>
      <p:sp>
        <p:nvSpPr>
          <p:cNvPr id="4" name="Text 1"/>
          <p:cNvSpPr txBox="1"/>
          <p:nvPr/>
        </p:nvSpPr>
        <p:spPr>
          <a:xfrm>
            <a:off x="548640" y="1508760"/>
            <a:ext cx="4937760" cy="914400"/>
          </a:xfrm>
          <a:prstGeom prst="rect">
            <a:avLst/>
          </a:prstGeom>
          <a:noFill/>
          <a:ln/>
        </p:spPr>
        <p:txBody>
          <a:bodyPr wrap="square" lIns="0" tIns="0" rIns="0" bIns="0" rtlCol="0" anchor="ctr"/>
          <a:lstStyle/>
          <a:p>
            <a:pPr indent="0" marL="0">
              <a:buNone/>
            </a:pPr>
            <a:r>
              <a:rPr lang="en-US" sz="5400" b="1" dirty="0">
                <a:solidFill>
                  <a:schemeClr val="accent1"/>
                </a:solidFill>
              </a:rPr>
              <a:t>3.65 triệu</a:t>
            </a:r>
            <a:endParaRPr lang="en-US" sz="5400" dirty="0"/>
          </a:p>
        </p:txBody>
      </p:sp>
      <p:sp>
        <p:nvSpPr>
          <p:cNvPr id="5" name="Text 2"/>
          <p:cNvSpPr txBox="1"/>
          <p:nvPr/>
        </p:nvSpPr>
        <p:spPr>
          <a:xfrm>
            <a:off x="548640" y="2514600"/>
            <a:ext cx="4846320" cy="731520"/>
          </a:xfrm>
          <a:prstGeom prst="rect">
            <a:avLst/>
          </a:prstGeom>
          <a:noFill/>
          <a:ln/>
        </p:spPr>
        <p:txBody>
          <a:bodyPr wrap="square" lIns="0" tIns="0" rIns="0" bIns="0" rtlCol="0" anchor="t"/>
          <a:lstStyle/>
          <a:p>
            <a:pPr indent="0" marL="0">
              <a:buNone/>
            </a:pPr>
            <a:r>
              <a:rPr lang="en-US" sz="1600" dirty="0">
                <a:solidFill>
                  <a:schemeClr val="accent2"/>
                </a:solidFill>
              </a:rPr>
              <a:t>review Amazon từ 1996 đến 2014 (Amazon Review Full Score, NeurIPS 2015)</a:t>
            </a:r>
            <a:endParaRPr lang="en-US" sz="1600" dirty="0"/>
          </a:p>
        </p:txBody>
      </p:sp>
      <p:sp>
        <p:nvSpPr>
          <p:cNvPr id="6" name="Text 3"/>
          <p:cNvSpPr txBox="1"/>
          <p:nvPr/>
        </p:nvSpPr>
        <p:spPr>
          <a:xfrm>
            <a:off x="548640" y="3611880"/>
            <a:ext cx="4846320" cy="822960"/>
          </a:xfrm>
          <a:prstGeom prst="rect">
            <a:avLst/>
          </a:prstGeom>
          <a:noFill/>
          <a:ln/>
        </p:spPr>
        <p:txBody>
          <a:bodyPr wrap="square" lIns="0" tIns="0" rIns="0" bIns="0" rtlCol="0" anchor="t"/>
          <a:lstStyle/>
          <a:p>
            <a:pPr indent="0" marL="0">
              <a:buNone/>
            </a:pPr>
            <a:r>
              <a:rPr lang="en-US" sz="1800" b="1" dirty="0">
                <a:solidFill>
                  <a:schemeClr val="tx1"/>
                </a:solidFill>
              </a:rPr>
              <a:t>Cân bằng sẵn: </a:t>
            </a:r>
            <a:pPr indent="0" marL="0">
              <a:buNone/>
            </a:pPr>
            <a:r>
              <a:rPr lang="en-US" sz="1800" dirty="0">
                <a:solidFill>
                  <a:schemeClr val="tx1"/>
                </a:solidFill>
              </a:rPr>
              <a:t>mỗi mức sao chiếm đúng 20%, không cần lấy mẫu lại.</a:t>
            </a:r>
            <a:endParaRPr lang="en-US" sz="1800" dirty="0"/>
          </a:p>
        </p:txBody>
      </p:sp>
      <p:sp>
        <p:nvSpPr>
          <p:cNvPr id="7" name="Text 4"/>
          <p:cNvSpPr txBox="1"/>
          <p:nvPr/>
        </p:nvSpPr>
        <p:spPr>
          <a:xfrm>
            <a:off x="548640" y="4663440"/>
            <a:ext cx="4846320" cy="822960"/>
          </a:xfrm>
          <a:prstGeom prst="rect">
            <a:avLst/>
          </a:prstGeom>
          <a:noFill/>
          <a:ln/>
        </p:spPr>
        <p:txBody>
          <a:bodyPr wrap="square" lIns="0" tIns="0" rIns="0" bIns="0" rtlCol="0" anchor="t"/>
          <a:lstStyle/>
          <a:p>
            <a:pPr indent="0" marL="0">
              <a:buNone/>
            </a:pPr>
            <a:r>
              <a:rPr lang="en-US" sz="1800" b="1" dirty="0">
                <a:solidFill>
                  <a:schemeClr val="tx1"/>
                </a:solidFill>
              </a:rPr>
              <a:t>Ít dữ liệu thiếu: </a:t>
            </a:r>
            <a:pPr indent="0" marL="0">
              <a:buNone/>
            </a:pPr>
            <a:r>
              <a:rPr lang="en-US" sz="1800" dirty="0">
                <a:solidFill>
                  <a:schemeClr val="tx1"/>
                </a:solidFill>
              </a:rPr>
              <a:t>chỉ 214 dòng thiếu tiêu đề, đã thay bằng chuỗi rỗng.</a:t>
            </a:r>
            <a:endParaRPr lang="en-US" sz="1800" dirty="0"/>
          </a:p>
        </p:txBody>
      </p:sp>
      <p:sp>
        <p:nvSpPr>
          <p:cNvPr id="8" name="Text 5"/>
          <p:cNvSpPr txBox="1"/>
          <p:nvPr/>
        </p:nvSpPr>
        <p:spPr>
          <a:xfrm>
            <a:off x="5943600" y="1554480"/>
            <a:ext cx="5669280" cy="365760"/>
          </a:xfrm>
          <a:prstGeom prst="rect">
            <a:avLst/>
          </a:prstGeom>
          <a:noFill/>
          <a:ln/>
        </p:spPr>
        <p:txBody>
          <a:bodyPr wrap="square" lIns="0" tIns="0" rIns="0" bIns="0" rtlCol="0" anchor="t"/>
          <a:lstStyle/>
          <a:p>
            <a:pPr indent="0" marL="0">
              <a:buNone/>
            </a:pPr>
            <a:r>
              <a:rPr lang="en-US" sz="2000" b="1" dirty="0">
                <a:solidFill>
                  <a:schemeClr val="tx1"/>
                </a:solidFill>
              </a:rPr>
              <a:t>Cách chia dữ liệu</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0" y="2103120"/>
          <a:ext cx="5696712" cy="914400"/>
        </p:xfrm>
        <a:graphic>
          <a:graphicData uri="http://schemas.openxmlformats.org/drawingml/2006/table">
            <a:tbl>
              <a:tblPr/>
              <a:tblGrid>
                <a:gridCol w="2651760"/>
                <a:gridCol w="1554480"/>
                <a:gridCol w="1490472"/>
              </a:tblGrid>
              <a:tr h="640080">
                <a:tc>
                  <a:txBody>
                    <a:bodyPr/>
                    <a:lstStyle/>
                    <a:p>
                      <a:pPr algn="l" indent="0" marL="0">
                        <a:buNone/>
                      </a:pPr>
                      <a:r>
                        <a:rPr lang="en-US" sz="1800" b="1" dirty="0">
                          <a:solidFill>
                            <a:srgbClr val="FFFFFF"/>
                          </a:solidFill>
                        </a:rPr>
                        <a:t>Phần dữ liệu</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ctr" indent="0" marL="0">
                        <a:buNone/>
                      </a:pPr>
                      <a:r>
                        <a:rPr lang="en-US" sz="1800" b="1" dirty="0">
                          <a:solidFill>
                            <a:srgbClr val="FFFFFF"/>
                          </a:solidFill>
                        </a:rPr>
                        <a:t>Số mẫu</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ctr" indent="0" marL="0">
                        <a:buNone/>
                      </a:pPr>
                      <a:r>
                        <a:rPr lang="en-US" sz="1800" b="1" dirty="0">
                          <a:solidFill>
                            <a:srgbClr val="FFFFFF"/>
                          </a:solidFill>
                        </a:rPr>
                        <a:t>Mỗi lớp</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r>
              <a:tr h="640080">
                <a:tc>
                  <a:txBody>
                    <a:bodyPr/>
                    <a:lstStyle/>
                    <a:p>
                      <a:pPr algn="l" indent="0" marL="0">
                        <a:buNone/>
                      </a:pPr>
                      <a:r>
                        <a:rPr lang="en-US" sz="1800" dirty="0">
                          <a:solidFill>
                            <a:srgbClr val="1F2328"/>
                          </a:solidFill>
                        </a:rPr>
                        <a:t>Train (mẫu)</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600,000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120,000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40080">
                <a:tc>
                  <a:txBody>
                    <a:bodyPr/>
                    <a:lstStyle/>
                    <a:p>
                      <a:pPr algn="l" indent="0" marL="0">
                        <a:buNone/>
                      </a:pPr>
                      <a:r>
                        <a:rPr lang="en-US" sz="1800" dirty="0">
                          <a:solidFill>
                            <a:srgbClr val="1F2328"/>
                          </a:solidFill>
                        </a:rPr>
                        <a:t>Kiểm định</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30,000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6,000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40080">
                <a:tc>
                  <a:txBody>
                    <a:bodyPr/>
                    <a:lstStyle/>
                    <a:p>
                      <a:pPr algn="l" indent="0" marL="0">
                        <a:buNone/>
                      </a:pPr>
                      <a:r>
                        <a:rPr lang="en-US" sz="1800" dirty="0">
                          <a:solidFill>
                            <a:srgbClr val="1F2328"/>
                          </a:solidFill>
                        </a:rPr>
                        <a:t>Test độc lập</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97,500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19,500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bl>
          </a:graphicData>
        </a:graphic>
      </p:graphicFrame>
      <p:sp>
        <p:nvSpPr>
          <p:cNvPr id="10" name="Text 6"/>
          <p:cNvSpPr txBox="1"/>
          <p:nvPr/>
        </p:nvSpPr>
        <p:spPr>
          <a:xfrm>
            <a:off x="5943600" y="4846320"/>
            <a:ext cx="5669280" cy="640080"/>
          </a:xfrm>
          <a:prstGeom prst="rect">
            <a:avLst/>
          </a:prstGeom>
          <a:noFill/>
          <a:ln/>
        </p:spPr>
        <p:txBody>
          <a:bodyPr wrap="square" lIns="0" tIns="0" rIns="0" bIns="0" rtlCol="0" anchor="t"/>
          <a:lstStyle/>
          <a:p>
            <a:pPr indent="0" marL="0">
              <a:buNone/>
            </a:pPr>
            <a:r>
              <a:rPr lang="en-US" sz="1400" dirty="0">
                <a:solidFill>
                  <a:schemeClr val="accent2"/>
                </a:solidFill>
              </a:rPr>
              <a:t>Dữ liệu gốc: 3,000,000 mẫu train và 650,000 mẫu test, nhóm lấy mẫu phân tầng.</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Xử lý dữ liệu lớn trên máy cá nhân</a:t>
            </a:r>
            <a:endParaRPr lang="en-US" sz="3000" dirty="0"/>
          </a:p>
        </p:txBody>
      </p:sp>
      <p:sp>
        <p:nvSpPr>
          <p:cNvPr id="4" name="Card"/>
          <p:cNvSpPr/>
          <p:nvPr/>
        </p:nvSpPr>
        <p:spPr>
          <a:xfrm>
            <a:off x="548640" y="1554480"/>
            <a:ext cx="5029200" cy="2286000"/>
          </a:xfrm>
          <a:prstGeom prst="roundRect">
            <a:avLst>
              <a:gd name="adj" fmla="val 4000"/>
            </a:avLst>
          </a:prstGeom>
          <a:solidFill>
            <a:schemeClr val="bg2"/>
          </a:solidFill>
          <a:ln/>
        </p:spPr>
      </p:sp>
      <p:sp>
        <p:nvSpPr>
          <p:cNvPr id="5" name="Text 2"/>
          <p:cNvSpPr txBox="1"/>
          <p:nvPr/>
        </p:nvSpPr>
        <p:spPr>
          <a:xfrm>
            <a:off x="868680" y="1783080"/>
            <a:ext cx="4389120" cy="1005840"/>
          </a:xfrm>
          <a:prstGeom prst="rect">
            <a:avLst/>
          </a:prstGeom>
          <a:noFill/>
          <a:ln/>
        </p:spPr>
        <p:txBody>
          <a:bodyPr wrap="square" lIns="0" tIns="0" rIns="0" bIns="0" rtlCol="0" anchor="ctr"/>
          <a:lstStyle/>
          <a:p>
            <a:pPr indent="0" marL="0">
              <a:buNone/>
            </a:pPr>
            <a:r>
              <a:rPr lang="en-US" sz="6000" b="1" dirty="0">
                <a:solidFill>
                  <a:schemeClr val="accent3"/>
                </a:solidFill>
              </a:rPr>
              <a:t>240 GB</a:t>
            </a:r>
            <a:endParaRPr lang="en-US" sz="6000" dirty="0"/>
          </a:p>
        </p:txBody>
      </p:sp>
      <p:sp>
        <p:nvSpPr>
          <p:cNvPr id="6" name="Text 3"/>
          <p:cNvSpPr txBox="1"/>
          <p:nvPr/>
        </p:nvSpPr>
        <p:spPr>
          <a:xfrm>
            <a:off x="868680" y="2926080"/>
            <a:ext cx="4389120" cy="731520"/>
          </a:xfrm>
          <a:prstGeom prst="rect">
            <a:avLst/>
          </a:prstGeom>
          <a:noFill/>
          <a:ln/>
        </p:spPr>
        <p:txBody>
          <a:bodyPr wrap="square" lIns="0" tIns="0" rIns="0" bIns="0" rtlCol="0" anchor="t"/>
          <a:lstStyle/>
          <a:p>
            <a:pPr indent="0" marL="0">
              <a:buNone/>
            </a:pPr>
            <a:r>
              <a:rPr lang="en-US" sz="1800" dirty="0">
                <a:solidFill>
                  <a:schemeClr val="tx1"/>
                </a:solidFill>
              </a:rPr>
              <a:t>nếu lưu ma trận TF-IDF 600,000 × 50,000 dạng dày</a:t>
            </a:r>
            <a:endParaRPr lang="en-US" sz="1800" dirty="0"/>
          </a:p>
        </p:txBody>
      </p:sp>
      <p:sp>
        <p:nvSpPr>
          <p:cNvPr id="7" name="Arrow"/>
          <p:cNvSpPr/>
          <p:nvPr/>
        </p:nvSpPr>
        <p:spPr>
          <a:xfrm>
            <a:off x="5760720" y="2423160"/>
            <a:ext cx="667512" cy="548640"/>
          </a:xfrm>
          <a:prstGeom prst="rightArrow">
            <a:avLst/>
          </a:prstGeom>
          <a:solidFill>
            <a:schemeClr val="accent2"/>
          </a:solidFill>
          <a:ln/>
        </p:spPr>
      </p:sp>
      <p:sp>
        <p:nvSpPr>
          <p:cNvPr id="8" name="Card"/>
          <p:cNvSpPr/>
          <p:nvPr/>
        </p:nvSpPr>
        <p:spPr>
          <a:xfrm>
            <a:off x="6611112" y="1554480"/>
            <a:ext cx="5029200" cy="2286000"/>
          </a:xfrm>
          <a:prstGeom prst="roundRect">
            <a:avLst>
              <a:gd name="adj" fmla="val 4000"/>
            </a:avLst>
          </a:prstGeom>
          <a:solidFill>
            <a:schemeClr val="bg2"/>
          </a:solidFill>
          <a:ln/>
        </p:spPr>
      </p:sp>
      <p:sp>
        <p:nvSpPr>
          <p:cNvPr id="9" name="Text 6"/>
          <p:cNvSpPr txBox="1"/>
          <p:nvPr/>
        </p:nvSpPr>
        <p:spPr>
          <a:xfrm>
            <a:off x="6931152" y="1783080"/>
            <a:ext cx="4389120" cy="1005840"/>
          </a:xfrm>
          <a:prstGeom prst="rect">
            <a:avLst/>
          </a:prstGeom>
          <a:noFill/>
          <a:ln/>
        </p:spPr>
        <p:txBody>
          <a:bodyPr wrap="square" lIns="0" tIns="0" rIns="0" bIns="0" rtlCol="0" anchor="ctr"/>
          <a:lstStyle/>
          <a:p>
            <a:pPr indent="0" marL="0">
              <a:buNone/>
            </a:pPr>
            <a:r>
              <a:rPr lang="en-US" sz="5400" b="1" dirty="0">
                <a:solidFill>
                  <a:schemeClr val="accent4"/>
                </a:solidFill>
              </a:rPr>
              <a:t>vài trăm MB</a:t>
            </a:r>
            <a:endParaRPr lang="en-US" sz="5400" dirty="0"/>
          </a:p>
        </p:txBody>
      </p:sp>
      <p:sp>
        <p:nvSpPr>
          <p:cNvPr id="10" name="Text 7"/>
          <p:cNvSpPr txBox="1"/>
          <p:nvPr/>
        </p:nvSpPr>
        <p:spPr>
          <a:xfrm>
            <a:off x="6931152" y="2926080"/>
            <a:ext cx="4389120" cy="731520"/>
          </a:xfrm>
          <a:prstGeom prst="rect">
            <a:avLst/>
          </a:prstGeom>
          <a:noFill/>
          <a:ln/>
        </p:spPr>
        <p:txBody>
          <a:bodyPr wrap="square" lIns="0" tIns="0" rIns="0" bIns="0" rtlCol="0" anchor="t"/>
          <a:lstStyle/>
          <a:p>
            <a:pPr indent="0" marL="0">
              <a:buNone/>
            </a:pPr>
            <a:r>
              <a:rPr lang="en-US" sz="1800" dirty="0">
                <a:solidFill>
                  <a:schemeClr val="tx1"/>
                </a:solidFill>
              </a:rPr>
              <a:t>khi lưu dạng thưa CSR, chỉ giữ giá trị khác 0</a:t>
            </a:r>
            <a:endParaRPr lang="en-US" sz="1800" dirty="0"/>
          </a:p>
        </p:txBody>
      </p:sp>
      <p:sp>
        <p:nvSpPr>
          <p:cNvPr id="11" name="Card"/>
          <p:cNvSpPr/>
          <p:nvPr/>
        </p:nvSpPr>
        <p:spPr>
          <a:xfrm>
            <a:off x="548640" y="4160520"/>
            <a:ext cx="3474720" cy="1920240"/>
          </a:xfrm>
          <a:prstGeom prst="roundRect">
            <a:avLst>
              <a:gd name="adj" fmla="val 4762"/>
            </a:avLst>
          </a:prstGeom>
          <a:solidFill>
            <a:schemeClr val="bg2"/>
          </a:solidFill>
          <a:ln/>
        </p:spPr>
      </p:sp>
      <p:sp>
        <p:nvSpPr>
          <p:cNvPr id="12" name="Text 9"/>
          <p:cNvSpPr txBox="1"/>
          <p:nvPr/>
        </p:nvSpPr>
        <p:spPr>
          <a:xfrm>
            <a:off x="822960" y="4343400"/>
            <a:ext cx="2926080" cy="365760"/>
          </a:xfrm>
          <a:prstGeom prst="rect">
            <a:avLst/>
          </a:prstGeom>
          <a:noFill/>
          <a:ln/>
        </p:spPr>
        <p:txBody>
          <a:bodyPr wrap="square" lIns="0" tIns="0" rIns="0" bIns="0" rtlCol="0" anchor="t"/>
          <a:lstStyle/>
          <a:p>
            <a:pPr indent="0" marL="0">
              <a:buNone/>
            </a:pPr>
            <a:r>
              <a:rPr lang="en-US" sz="2000" b="1" dirty="0">
                <a:solidFill>
                  <a:schemeClr val="accent6"/>
                </a:solidFill>
              </a:rPr>
              <a:t>Đọc nhanh</a:t>
            </a:r>
            <a:endParaRPr lang="en-US" sz="2000" dirty="0"/>
          </a:p>
        </p:txBody>
      </p:sp>
      <p:sp>
        <p:nvSpPr>
          <p:cNvPr id="13" name="Text 10"/>
          <p:cNvSpPr txBox="1"/>
          <p:nvPr/>
        </p:nvSpPr>
        <p:spPr>
          <a:xfrm>
            <a:off x="822960" y="4846320"/>
            <a:ext cx="2926080" cy="1097280"/>
          </a:xfrm>
          <a:prstGeom prst="rect">
            <a:avLst/>
          </a:prstGeom>
          <a:noFill/>
          <a:ln/>
        </p:spPr>
        <p:txBody>
          <a:bodyPr wrap="square" lIns="0" tIns="0" rIns="0" bIns="0" rtlCol="0" anchor="t"/>
          <a:lstStyle/>
          <a:p>
            <a:pPr indent="0" marL="0">
              <a:buNone/>
            </a:pPr>
            <a:r>
              <a:rPr lang="en-US" sz="1600" dirty="0">
                <a:solidFill>
                  <a:schemeClr val="tx1"/>
                </a:solidFill>
              </a:rPr>
              <a:t>PyArrow đọc 3.65 triệu dòng trong 5.1 giây, nhanh gần 9 lần Pandas mặc định.</a:t>
            </a:r>
            <a:endParaRPr lang="en-US" sz="1600" dirty="0"/>
          </a:p>
        </p:txBody>
      </p:sp>
      <p:sp>
        <p:nvSpPr>
          <p:cNvPr id="14" name="Card"/>
          <p:cNvSpPr/>
          <p:nvPr/>
        </p:nvSpPr>
        <p:spPr>
          <a:xfrm>
            <a:off x="4357116" y="4160520"/>
            <a:ext cx="3474720" cy="1920240"/>
          </a:xfrm>
          <a:prstGeom prst="roundRect">
            <a:avLst>
              <a:gd name="adj" fmla="val 4762"/>
            </a:avLst>
          </a:prstGeom>
          <a:solidFill>
            <a:schemeClr val="bg2"/>
          </a:solidFill>
          <a:ln/>
        </p:spPr>
      </p:sp>
      <p:sp>
        <p:nvSpPr>
          <p:cNvPr id="15" name="Text 12"/>
          <p:cNvSpPr txBox="1"/>
          <p:nvPr/>
        </p:nvSpPr>
        <p:spPr>
          <a:xfrm>
            <a:off x="4631436" y="4343400"/>
            <a:ext cx="2926080" cy="365760"/>
          </a:xfrm>
          <a:prstGeom prst="rect">
            <a:avLst/>
          </a:prstGeom>
          <a:noFill/>
          <a:ln/>
        </p:spPr>
        <p:txBody>
          <a:bodyPr wrap="square" lIns="0" tIns="0" rIns="0" bIns="0" rtlCol="0" anchor="t"/>
          <a:lstStyle/>
          <a:p>
            <a:pPr indent="0" marL="0">
              <a:buNone/>
            </a:pPr>
            <a:r>
              <a:rPr lang="en-US" sz="2000" b="1" dirty="0">
                <a:solidFill>
                  <a:schemeClr val="accent6"/>
                </a:solidFill>
              </a:rPr>
              <a:t>Lấy mẫu phân tầng</a:t>
            </a:r>
            <a:endParaRPr lang="en-US" sz="2000" dirty="0"/>
          </a:p>
        </p:txBody>
      </p:sp>
      <p:sp>
        <p:nvSpPr>
          <p:cNvPr id="16" name="Text 13"/>
          <p:cNvSpPr txBox="1"/>
          <p:nvPr/>
        </p:nvSpPr>
        <p:spPr>
          <a:xfrm>
            <a:off x="4631436" y="4846320"/>
            <a:ext cx="2926080" cy="1097280"/>
          </a:xfrm>
          <a:prstGeom prst="rect">
            <a:avLst/>
          </a:prstGeom>
          <a:noFill/>
          <a:ln/>
        </p:spPr>
        <p:txBody>
          <a:bodyPr wrap="square" lIns="0" tIns="0" rIns="0" bIns="0" rtlCol="0" anchor="t"/>
          <a:lstStyle/>
          <a:p>
            <a:pPr indent="0" marL="0">
              <a:buNone/>
            </a:pPr>
            <a:r>
              <a:rPr lang="en-US" sz="1600" dirty="0">
                <a:solidFill>
                  <a:schemeClr val="tx1"/>
                </a:solidFill>
              </a:rPr>
              <a:t>120,000 mẫu mỗi lớp ở train, 19,500 mẫu mỗi lớp ở test.</a:t>
            </a:r>
            <a:endParaRPr lang="en-US" sz="1600" dirty="0"/>
          </a:p>
        </p:txBody>
      </p:sp>
      <p:sp>
        <p:nvSpPr>
          <p:cNvPr id="17" name="Card"/>
          <p:cNvSpPr/>
          <p:nvPr/>
        </p:nvSpPr>
        <p:spPr>
          <a:xfrm>
            <a:off x="8165592" y="4160520"/>
            <a:ext cx="3474720" cy="1920240"/>
          </a:xfrm>
          <a:prstGeom prst="roundRect">
            <a:avLst>
              <a:gd name="adj" fmla="val 4762"/>
            </a:avLst>
          </a:prstGeom>
          <a:solidFill>
            <a:schemeClr val="bg2"/>
          </a:solidFill>
          <a:ln/>
        </p:spPr>
      </p:sp>
      <p:sp>
        <p:nvSpPr>
          <p:cNvPr id="18" name="Text 15"/>
          <p:cNvSpPr txBox="1"/>
          <p:nvPr/>
        </p:nvSpPr>
        <p:spPr>
          <a:xfrm>
            <a:off x="8439912" y="4343400"/>
            <a:ext cx="2926080" cy="365760"/>
          </a:xfrm>
          <a:prstGeom prst="rect">
            <a:avLst/>
          </a:prstGeom>
          <a:noFill/>
          <a:ln/>
        </p:spPr>
        <p:txBody>
          <a:bodyPr wrap="square" lIns="0" tIns="0" rIns="0" bIns="0" rtlCol="0" anchor="t"/>
          <a:lstStyle/>
          <a:p>
            <a:pPr indent="0" marL="0">
              <a:buNone/>
            </a:pPr>
            <a:r>
              <a:rPr lang="en-US" sz="2000" b="1" dirty="0">
                <a:solidFill>
                  <a:schemeClr val="accent6"/>
                </a:solidFill>
              </a:rPr>
              <a:t>Sai số nhỏ</a:t>
            </a:r>
            <a:endParaRPr lang="en-US" sz="2000" dirty="0"/>
          </a:p>
        </p:txBody>
      </p:sp>
      <p:sp>
        <p:nvSpPr>
          <p:cNvPr id="19" name="Text 16"/>
          <p:cNvSpPr txBox="1"/>
          <p:nvPr/>
        </p:nvSpPr>
        <p:spPr>
          <a:xfrm>
            <a:off x="8439912" y="4846320"/>
            <a:ext cx="2926080" cy="1097280"/>
          </a:xfrm>
          <a:prstGeom prst="rect">
            <a:avLst/>
          </a:prstGeom>
          <a:noFill/>
          <a:ln/>
        </p:spPr>
        <p:txBody>
          <a:bodyPr wrap="square" lIns="0" tIns="0" rIns="0" bIns="0" rtlCol="0" anchor="t"/>
          <a:lstStyle/>
          <a:p>
            <a:pPr indent="0" marL="0">
              <a:buNone/>
            </a:pPr>
            <a:r>
              <a:rPr lang="en-US" sz="1600" dirty="0">
                <a:solidFill>
                  <a:schemeClr val="tx1"/>
                </a:solidFill>
              </a:rPr>
              <a:t>Sai số biên chỉ khoảng 0.126% ở độ tin cậy 95%.</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Làm sạch nhưng giữ lại tín hiệu cảm xúc</a:t>
            </a:r>
            <a:endParaRPr lang="en-US" sz="3000" dirty="0"/>
          </a:p>
        </p:txBody>
      </p:sp>
      <p:sp>
        <p:nvSpPr>
          <p:cNvPr id="4" name="Text 1"/>
          <p:cNvSpPr txBox="1"/>
          <p:nvPr/>
        </p:nvSpPr>
        <p:spPr>
          <a:xfrm>
            <a:off x="548640" y="1554480"/>
            <a:ext cx="6035040" cy="274320"/>
          </a:xfrm>
          <a:prstGeom prst="rect">
            <a:avLst/>
          </a:prstGeom>
          <a:noFill/>
          <a:ln/>
        </p:spPr>
        <p:txBody>
          <a:bodyPr wrap="square" lIns="0" tIns="0" rIns="0" bIns="0" rtlCol="0" anchor="t"/>
          <a:lstStyle/>
          <a:p>
            <a:pPr indent="0" marL="0">
              <a:buNone/>
            </a:pPr>
            <a:r>
              <a:rPr lang="en-US" sz="1400" b="1" dirty="0">
                <a:solidFill>
                  <a:schemeClr val="accent2"/>
                </a:solidFill>
              </a:rPr>
              <a:t>Văn bản gốc</a:t>
            </a:r>
            <a:endParaRPr lang="en-US" sz="1400" dirty="0"/>
          </a:p>
        </p:txBody>
      </p:sp>
      <p:sp>
        <p:nvSpPr>
          <p:cNvPr id="5" name="Card"/>
          <p:cNvSpPr/>
          <p:nvPr/>
        </p:nvSpPr>
        <p:spPr>
          <a:xfrm>
            <a:off x="548640" y="1874520"/>
            <a:ext cx="6035040" cy="1051560"/>
          </a:xfrm>
          <a:prstGeom prst="roundRect">
            <a:avLst>
              <a:gd name="adj" fmla="val 8696"/>
            </a:avLst>
          </a:prstGeom>
          <a:solidFill>
            <a:schemeClr val="bg2"/>
          </a:solidFill>
          <a:ln/>
        </p:spPr>
      </p:sp>
      <p:sp>
        <p:nvSpPr>
          <p:cNvPr id="6" name="Text 3"/>
          <p:cNvSpPr txBox="1"/>
          <p:nvPr/>
        </p:nvSpPr>
        <p:spPr>
          <a:xfrm>
            <a:off x="777240" y="2011680"/>
            <a:ext cx="5577840" cy="822960"/>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DO NOT BUY! Total garbage! Stopped working after 2 days.</a:t>
            </a:r>
            <a:endParaRPr lang="en-US" sz="1600" dirty="0"/>
          </a:p>
        </p:txBody>
      </p:sp>
      <p:sp>
        <p:nvSpPr>
          <p:cNvPr id="7" name="Arrow"/>
          <p:cNvSpPr/>
          <p:nvPr/>
        </p:nvSpPr>
        <p:spPr>
          <a:xfrm>
            <a:off x="3337560" y="3017520"/>
            <a:ext cx="457200" cy="411480"/>
          </a:xfrm>
          <a:prstGeom prst="downArrow">
            <a:avLst/>
          </a:prstGeom>
          <a:solidFill>
            <a:schemeClr val="accent2"/>
          </a:solidFill>
          <a:ln/>
        </p:spPr>
      </p:sp>
      <p:sp>
        <p:nvSpPr>
          <p:cNvPr id="8" name="Text 5"/>
          <p:cNvSpPr txBox="1"/>
          <p:nvPr/>
        </p:nvSpPr>
        <p:spPr>
          <a:xfrm>
            <a:off x="548640" y="3566160"/>
            <a:ext cx="6035040" cy="274320"/>
          </a:xfrm>
          <a:prstGeom prst="rect">
            <a:avLst/>
          </a:prstGeom>
          <a:noFill/>
          <a:ln/>
        </p:spPr>
        <p:txBody>
          <a:bodyPr wrap="square" lIns="0" tIns="0" rIns="0" bIns="0" rtlCol="0" anchor="t"/>
          <a:lstStyle/>
          <a:p>
            <a:pPr indent="0" marL="0">
              <a:buNone/>
            </a:pPr>
            <a:r>
              <a:rPr lang="en-US" sz="1400" b="1" dirty="0">
                <a:solidFill>
                  <a:schemeClr val="accent2"/>
                </a:solidFill>
              </a:rPr>
              <a:t>Sau tiền xử lý</a:t>
            </a:r>
            <a:endParaRPr lang="en-US" sz="1400" dirty="0"/>
          </a:p>
        </p:txBody>
      </p:sp>
      <p:sp>
        <p:nvSpPr>
          <p:cNvPr id="9" name="Card"/>
          <p:cNvSpPr/>
          <p:nvPr/>
        </p:nvSpPr>
        <p:spPr>
          <a:xfrm>
            <a:off x="548640" y="3886200"/>
            <a:ext cx="6035040" cy="1051560"/>
          </a:xfrm>
          <a:prstGeom prst="roundRect">
            <a:avLst>
              <a:gd name="adj" fmla="val 8696"/>
            </a:avLst>
          </a:prstGeom>
          <a:solidFill>
            <a:schemeClr val="bg2"/>
          </a:solidFill>
          <a:ln/>
        </p:spPr>
      </p:sp>
      <p:sp>
        <p:nvSpPr>
          <p:cNvPr id="10" name="Text 7"/>
          <p:cNvSpPr txBox="1"/>
          <p:nvPr/>
        </p:nvSpPr>
        <p:spPr>
          <a:xfrm>
            <a:off x="777240" y="4023360"/>
            <a:ext cx="5577840" cy="822960"/>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do not buy exclam total garbage exclam stopped working after 2 days</a:t>
            </a:r>
            <a:endParaRPr lang="en-US" sz="1600" dirty="0"/>
          </a:p>
        </p:txBody>
      </p:sp>
      <p:sp>
        <p:nvSpPr>
          <p:cNvPr id="11" name="Text 8"/>
          <p:cNvSpPr txBox="1"/>
          <p:nvPr/>
        </p:nvSpPr>
        <p:spPr>
          <a:xfrm>
            <a:off x="548640" y="5166360"/>
            <a:ext cx="6035040" cy="274320"/>
          </a:xfrm>
          <a:prstGeom prst="rect">
            <a:avLst/>
          </a:prstGeom>
          <a:noFill/>
          <a:ln/>
        </p:spPr>
        <p:txBody>
          <a:bodyPr wrap="square" lIns="0" tIns="0" rIns="0" bIns="0" rtlCol="0" anchor="t"/>
          <a:lstStyle/>
          <a:p>
            <a:pPr indent="0" marL="0">
              <a:buNone/>
            </a:pPr>
            <a:r>
              <a:rPr lang="en-US" sz="1200" dirty="0">
                <a:solidFill>
                  <a:schemeClr val="accent2"/>
                </a:solidFill>
              </a:rPr>
              <a:t>Ví dụ lấy từ Bảng 4.1 của báo cáo.</a:t>
            </a:r>
            <a:endParaRPr lang="en-US" sz="1200" dirty="0"/>
          </a:p>
        </p:txBody>
      </p:sp>
      <p:sp>
        <p:nvSpPr>
          <p:cNvPr id="12" name="Step 1"/>
          <p:cNvSpPr/>
          <p:nvPr/>
        </p:nvSpPr>
        <p:spPr>
          <a:xfrm>
            <a:off x="7086600" y="15544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3" name="Text 10"/>
          <p:cNvSpPr txBox="1"/>
          <p:nvPr/>
        </p:nvSpPr>
        <p:spPr>
          <a:xfrm>
            <a:off x="7863840" y="1554480"/>
            <a:ext cx="3749040" cy="548640"/>
          </a:xfrm>
          <a:prstGeom prst="rect">
            <a:avLst/>
          </a:prstGeom>
          <a:noFill/>
          <a:ln/>
        </p:spPr>
        <p:txBody>
          <a:bodyPr wrap="square" lIns="0" tIns="0" rIns="0" bIns="0" rtlCol="0" anchor="ctr"/>
          <a:lstStyle/>
          <a:p>
            <a:pPr indent="0" marL="0">
              <a:buNone/>
            </a:pPr>
            <a:r>
              <a:rPr lang="en-US" sz="2000" b="1" dirty="0">
                <a:solidFill>
                  <a:schemeClr val="tx1"/>
                </a:solidFill>
              </a:rPr>
              <a:t>Làm sạch nhẹ</a:t>
            </a:r>
            <a:endParaRPr lang="en-US" sz="2000" dirty="0"/>
          </a:p>
        </p:txBody>
      </p:sp>
      <p:sp>
        <p:nvSpPr>
          <p:cNvPr id="14" name="Text 11"/>
          <p:cNvSpPr txBox="1"/>
          <p:nvPr/>
        </p:nvSpPr>
        <p:spPr>
          <a:xfrm>
            <a:off x="7863840" y="2194560"/>
            <a:ext cx="3749040" cy="731520"/>
          </a:xfrm>
          <a:prstGeom prst="rect">
            <a:avLst/>
          </a:prstGeom>
          <a:noFill/>
          <a:ln/>
        </p:spPr>
        <p:txBody>
          <a:bodyPr wrap="square" lIns="0" tIns="0" rIns="0" bIns="0" rtlCol="0" anchor="t"/>
          <a:lstStyle/>
          <a:p>
            <a:pPr indent="0" marL="0">
              <a:buNone/>
            </a:pPr>
            <a:r>
              <a:rPr lang="en-US" sz="1600" dirty="0">
                <a:solidFill>
                  <a:schemeClr val="tx1"/>
                </a:solidFill>
              </a:rPr>
              <a:t>Chữ thường, bỏ thẻ HTML, URL và ký tự thừa.</a:t>
            </a:r>
            <a:endParaRPr lang="en-US" sz="1600" dirty="0"/>
          </a:p>
        </p:txBody>
      </p:sp>
      <p:sp>
        <p:nvSpPr>
          <p:cNvPr id="15" name="Step 2"/>
          <p:cNvSpPr/>
          <p:nvPr/>
        </p:nvSpPr>
        <p:spPr>
          <a:xfrm>
            <a:off x="7086600" y="301752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3"/>
          <p:cNvSpPr txBox="1"/>
          <p:nvPr/>
        </p:nvSpPr>
        <p:spPr>
          <a:xfrm>
            <a:off x="7863840" y="3017520"/>
            <a:ext cx="3749040" cy="548640"/>
          </a:xfrm>
          <a:prstGeom prst="rect">
            <a:avLst/>
          </a:prstGeom>
          <a:noFill/>
          <a:ln/>
        </p:spPr>
        <p:txBody>
          <a:bodyPr wrap="square" lIns="0" tIns="0" rIns="0" bIns="0" rtlCol="0" anchor="ctr"/>
          <a:lstStyle/>
          <a:p>
            <a:pPr indent="0" marL="0">
              <a:buNone/>
            </a:pPr>
            <a:r>
              <a:rPr lang="en-US" sz="2000" b="1" dirty="0">
                <a:solidFill>
                  <a:schemeClr val="tx1"/>
                </a:solidFill>
              </a:rPr>
              <a:t>Giữ từ phủ định</a:t>
            </a:r>
            <a:endParaRPr lang="en-US" sz="2000" dirty="0"/>
          </a:p>
        </p:txBody>
      </p:sp>
      <p:sp>
        <p:nvSpPr>
          <p:cNvPr id="17" name="Text 14"/>
          <p:cNvSpPr txBox="1"/>
          <p:nvPr/>
        </p:nvSpPr>
        <p:spPr>
          <a:xfrm>
            <a:off x="7863840" y="3657600"/>
            <a:ext cx="3749040" cy="731520"/>
          </a:xfrm>
          <a:prstGeom prst="rect">
            <a:avLst/>
          </a:prstGeom>
          <a:noFill/>
          <a:ln/>
        </p:spPr>
        <p:txBody>
          <a:bodyPr wrap="square" lIns="0" tIns="0" rIns="0" bIns="0" rtlCol="0" anchor="t"/>
          <a:lstStyle/>
          <a:p>
            <a:pPr indent="0" marL="0">
              <a:buNone/>
            </a:pPr>
            <a:r>
              <a:rPr lang="en-US" sz="1600" dirty="0">
                <a:solidFill>
                  <a:schemeClr val="tx1"/>
                </a:solidFill>
              </a:rPr>
              <a:t>10 từ như not, never không bị xóa như stop word.</a:t>
            </a:r>
            <a:endParaRPr lang="en-US" sz="1600" dirty="0"/>
          </a:p>
        </p:txBody>
      </p:sp>
      <p:sp>
        <p:nvSpPr>
          <p:cNvPr id="18" name="Step 3"/>
          <p:cNvSpPr/>
          <p:nvPr/>
        </p:nvSpPr>
        <p:spPr>
          <a:xfrm>
            <a:off x="7086600" y="448056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9" name="Text 16"/>
          <p:cNvSpPr txBox="1"/>
          <p:nvPr/>
        </p:nvSpPr>
        <p:spPr>
          <a:xfrm>
            <a:off x="7863840" y="4480560"/>
            <a:ext cx="3749040" cy="548640"/>
          </a:xfrm>
          <a:prstGeom prst="rect">
            <a:avLst/>
          </a:prstGeom>
          <a:noFill/>
          <a:ln/>
        </p:spPr>
        <p:txBody>
          <a:bodyPr wrap="square" lIns="0" tIns="0" rIns="0" bIns="0" rtlCol="0" anchor="ctr"/>
          <a:lstStyle/>
          <a:p>
            <a:pPr indent="0" marL="0">
              <a:buNone/>
            </a:pPr>
            <a:r>
              <a:rPr lang="en-US" sz="2000" b="1" dirty="0">
                <a:solidFill>
                  <a:schemeClr val="tx1"/>
                </a:solidFill>
              </a:rPr>
              <a:t>Dấu câu thành từ</a:t>
            </a:r>
            <a:endParaRPr lang="en-US" sz="2000" dirty="0"/>
          </a:p>
        </p:txBody>
      </p:sp>
      <p:sp>
        <p:nvSpPr>
          <p:cNvPr id="20" name="Text 17"/>
          <p:cNvSpPr txBox="1"/>
          <p:nvPr/>
        </p:nvSpPr>
        <p:spPr>
          <a:xfrm>
            <a:off x="7863840" y="5120640"/>
            <a:ext cx="3749040" cy="731520"/>
          </a:xfrm>
          <a:prstGeom prst="rect">
            <a:avLst/>
          </a:prstGeom>
          <a:noFill/>
          <a:ln/>
        </p:spPr>
        <p:txBody>
          <a:bodyPr wrap="square" lIns="0" tIns="0" rIns="0" bIns="0" rtlCol="0" anchor="t"/>
          <a:lstStyle/>
          <a:p>
            <a:pPr indent="0" marL="0">
              <a:buNone/>
            </a:pPr>
            <a:r>
              <a:rPr lang="en-US" sz="1600" dirty="0">
                <a:solidFill>
                  <a:schemeClr val="tx1"/>
                </a:solidFill>
              </a:rPr>
              <a:t>“!” thành exclam, “?” thành quest để đi vào n-gram.</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Không xóa từ phủ định khỏi stop words</a:t>
            </a:r>
            <a:endParaRPr lang="en-US" sz="3000" dirty="0"/>
          </a:p>
        </p:txBody>
      </p:sp>
      <p:sp>
        <p:nvSpPr>
          <p:cNvPr id="4" name="Card"/>
          <p:cNvSpPr/>
          <p:nvPr/>
        </p:nvSpPr>
        <p:spPr>
          <a:xfrm>
            <a:off x="548640" y="1554480"/>
            <a:ext cx="6126480" cy="1737360"/>
          </a:xfrm>
          <a:prstGeom prst="roundRect">
            <a:avLst>
              <a:gd name="adj" fmla="val 5263"/>
            </a:avLst>
          </a:prstGeom>
          <a:solidFill>
            <a:schemeClr val="bg2"/>
          </a:solidFill>
          <a:ln/>
        </p:spPr>
      </p:sp>
      <p:sp>
        <p:nvSpPr>
          <p:cNvPr id="5" name="Text 2"/>
          <p:cNvSpPr txBox="1"/>
          <p:nvPr/>
        </p:nvSpPr>
        <p:spPr>
          <a:xfrm>
            <a:off x="822960" y="1737360"/>
            <a:ext cx="5577840" cy="365760"/>
          </a:xfrm>
          <a:prstGeom prst="rect">
            <a:avLst/>
          </a:prstGeom>
          <a:noFill/>
          <a:ln/>
        </p:spPr>
        <p:txBody>
          <a:bodyPr wrap="square" lIns="0" tIns="0" rIns="0" bIns="0" rtlCol="0" anchor="t"/>
          <a:lstStyle/>
          <a:p>
            <a:pPr indent="0" marL="0">
              <a:buNone/>
            </a:pPr>
            <a:r>
              <a:rPr lang="en-US" sz="2200" b="1" dirty="0">
                <a:solidFill>
                  <a:schemeClr val="tx1"/>
                </a:solidFill>
              </a:rPr>
              <a:t>The product is good.</a:t>
            </a:r>
            <a:endParaRPr lang="en-US" sz="2200" dirty="0"/>
          </a:p>
        </p:txBody>
      </p:sp>
      <p:sp>
        <p:nvSpPr>
          <p:cNvPr id="6" name="Text 3"/>
          <p:cNvSpPr txBox="1"/>
          <p:nvPr/>
        </p:nvSpPr>
        <p:spPr>
          <a:xfrm>
            <a:off x="822960" y="2176272"/>
            <a:ext cx="5577840" cy="274320"/>
          </a:xfrm>
          <a:prstGeom prst="rect">
            <a:avLst/>
          </a:prstGeom>
          <a:noFill/>
          <a:ln/>
        </p:spPr>
        <p:txBody>
          <a:bodyPr wrap="square" lIns="0" tIns="0" rIns="0" bIns="0" rtlCol="0" anchor="t"/>
          <a:lstStyle/>
          <a:p>
            <a:pPr indent="0" marL="0">
              <a:buNone/>
            </a:pPr>
            <a:r>
              <a:rPr lang="en-US" sz="1600" dirty="0">
                <a:solidFill>
                  <a:schemeClr val="accent2"/>
                </a:solidFill>
              </a:rPr>
              <a:t>Nhãn thật: 5 sao</a:t>
            </a:r>
            <a:endParaRPr lang="en-US" sz="1600" dirty="0"/>
          </a:p>
        </p:txBody>
      </p:sp>
      <p:sp>
        <p:nvSpPr>
          <p:cNvPr id="7" name="Text 4"/>
          <p:cNvSpPr txBox="1"/>
          <p:nvPr/>
        </p:nvSpPr>
        <p:spPr>
          <a:xfrm>
            <a:off x="822960" y="2560320"/>
            <a:ext cx="5577840" cy="274320"/>
          </a:xfrm>
          <a:prstGeom prst="rect">
            <a:avLst/>
          </a:prstGeom>
          <a:noFill/>
          <a:ln/>
        </p:spPr>
        <p:txBody>
          <a:bodyPr wrap="square" lIns="0" tIns="0" rIns="0" bIns="0" rtlCol="0" anchor="t"/>
          <a:lstStyle/>
          <a:p>
            <a:pPr indent="0" marL="0">
              <a:buNone/>
            </a:pPr>
            <a:r>
              <a:rPr lang="en-US" sz="1600" dirty="0">
                <a:solidFill>
                  <a:schemeClr val="tx1"/>
                </a:solidFill>
              </a:rPr>
              <a:t>Sau khi xóa stop words mặc định:</a:t>
            </a:r>
            <a:endParaRPr lang="en-US" sz="1600" dirty="0"/>
          </a:p>
        </p:txBody>
      </p:sp>
      <p:sp>
        <p:nvSpPr>
          <p:cNvPr id="8" name="Text 5"/>
          <p:cNvSpPr txBox="1"/>
          <p:nvPr/>
        </p:nvSpPr>
        <p:spPr>
          <a:xfrm>
            <a:off x="822960" y="2852928"/>
            <a:ext cx="5577840" cy="320040"/>
          </a:xfrm>
          <a:prstGeom prst="rect">
            <a:avLst/>
          </a:prstGeom>
          <a:noFill/>
          <a:ln/>
        </p:spPr>
        <p:txBody>
          <a:bodyPr wrap="square" lIns="0" tIns="0" rIns="0" bIns="0" rtlCol="0" anchor="t"/>
          <a:lstStyle/>
          <a:p>
            <a:pPr indent="0" marL="0">
              <a:buNone/>
            </a:pPr>
            <a:r>
              <a:rPr lang="en-US" sz="1800" b="1" dirty="0">
                <a:solidFill>
                  <a:schemeClr val="tx1"/>
                </a:solidFill>
                <a:latin typeface="Courier New" pitchFamily="34" charset="0"/>
                <a:ea typeface="Courier New" pitchFamily="34" charset="-122"/>
                <a:cs typeface="Courier New" pitchFamily="34" charset="-120"/>
              </a:rPr>
              <a:t>product good</a:t>
            </a:r>
            <a:endParaRPr lang="en-US" sz="1800" dirty="0"/>
          </a:p>
        </p:txBody>
      </p:sp>
      <p:sp>
        <p:nvSpPr>
          <p:cNvPr id="9" name="Card"/>
          <p:cNvSpPr/>
          <p:nvPr/>
        </p:nvSpPr>
        <p:spPr>
          <a:xfrm>
            <a:off x="548640" y="3474720"/>
            <a:ext cx="6126480" cy="1737360"/>
          </a:xfrm>
          <a:prstGeom prst="roundRect">
            <a:avLst>
              <a:gd name="adj" fmla="val 5263"/>
            </a:avLst>
          </a:prstGeom>
          <a:solidFill>
            <a:schemeClr val="bg2"/>
          </a:solidFill>
          <a:ln/>
        </p:spPr>
      </p:sp>
      <p:sp>
        <p:nvSpPr>
          <p:cNvPr id="10" name="Text 7"/>
          <p:cNvSpPr txBox="1"/>
          <p:nvPr/>
        </p:nvSpPr>
        <p:spPr>
          <a:xfrm>
            <a:off x="822960" y="3657600"/>
            <a:ext cx="5577840" cy="365760"/>
          </a:xfrm>
          <a:prstGeom prst="rect">
            <a:avLst/>
          </a:prstGeom>
          <a:noFill/>
          <a:ln/>
        </p:spPr>
        <p:txBody>
          <a:bodyPr wrap="square" lIns="0" tIns="0" rIns="0" bIns="0" rtlCol="0" anchor="t"/>
          <a:lstStyle/>
          <a:p>
            <a:pPr indent="0" marL="0">
              <a:buNone/>
            </a:pPr>
            <a:r>
              <a:rPr lang="en-US" sz="2200" b="1" dirty="0">
                <a:solidFill>
                  <a:schemeClr val="tx1"/>
                </a:solidFill>
              </a:rPr>
              <a:t>The product is not good.</a:t>
            </a:r>
            <a:endParaRPr lang="en-US" sz="2200" dirty="0"/>
          </a:p>
        </p:txBody>
      </p:sp>
      <p:sp>
        <p:nvSpPr>
          <p:cNvPr id="11" name="Text 8"/>
          <p:cNvSpPr txBox="1"/>
          <p:nvPr/>
        </p:nvSpPr>
        <p:spPr>
          <a:xfrm>
            <a:off x="822960" y="4096512"/>
            <a:ext cx="5577840" cy="274320"/>
          </a:xfrm>
          <a:prstGeom prst="rect">
            <a:avLst/>
          </a:prstGeom>
          <a:noFill/>
          <a:ln/>
        </p:spPr>
        <p:txBody>
          <a:bodyPr wrap="square" lIns="0" tIns="0" rIns="0" bIns="0" rtlCol="0" anchor="t"/>
          <a:lstStyle/>
          <a:p>
            <a:pPr indent="0" marL="0">
              <a:buNone/>
            </a:pPr>
            <a:r>
              <a:rPr lang="en-US" sz="1600" dirty="0">
                <a:solidFill>
                  <a:schemeClr val="accent2"/>
                </a:solidFill>
              </a:rPr>
              <a:t>Nhãn thật: 1 đến 2 sao</a:t>
            </a:r>
            <a:endParaRPr lang="en-US" sz="1600" dirty="0"/>
          </a:p>
        </p:txBody>
      </p:sp>
      <p:sp>
        <p:nvSpPr>
          <p:cNvPr id="12" name="Text 9"/>
          <p:cNvSpPr txBox="1"/>
          <p:nvPr/>
        </p:nvSpPr>
        <p:spPr>
          <a:xfrm>
            <a:off x="822960" y="4480560"/>
            <a:ext cx="5577840" cy="274320"/>
          </a:xfrm>
          <a:prstGeom prst="rect">
            <a:avLst/>
          </a:prstGeom>
          <a:noFill/>
          <a:ln/>
        </p:spPr>
        <p:txBody>
          <a:bodyPr wrap="square" lIns="0" tIns="0" rIns="0" bIns="0" rtlCol="0" anchor="t"/>
          <a:lstStyle/>
          <a:p>
            <a:pPr indent="0" marL="0">
              <a:buNone/>
            </a:pPr>
            <a:r>
              <a:rPr lang="en-US" sz="1600" dirty="0">
                <a:solidFill>
                  <a:schemeClr val="tx1"/>
                </a:solidFill>
              </a:rPr>
              <a:t>Sau khi xóa stop words mặc định:</a:t>
            </a:r>
            <a:endParaRPr lang="en-US" sz="1600" dirty="0"/>
          </a:p>
        </p:txBody>
      </p:sp>
      <p:sp>
        <p:nvSpPr>
          <p:cNvPr id="13" name="Text 10"/>
          <p:cNvSpPr txBox="1"/>
          <p:nvPr/>
        </p:nvSpPr>
        <p:spPr>
          <a:xfrm>
            <a:off x="822960" y="4773168"/>
            <a:ext cx="5577840" cy="320040"/>
          </a:xfrm>
          <a:prstGeom prst="rect">
            <a:avLst/>
          </a:prstGeom>
          <a:noFill/>
          <a:ln/>
        </p:spPr>
        <p:txBody>
          <a:bodyPr wrap="square" lIns="0" tIns="0" rIns="0" bIns="0" rtlCol="0" anchor="t"/>
          <a:lstStyle/>
          <a:p>
            <a:pPr indent="0" marL="0">
              <a:buNone/>
            </a:pPr>
            <a:r>
              <a:rPr lang="en-US" sz="1800" b="1" dirty="0">
                <a:solidFill>
                  <a:schemeClr val="tx1"/>
                </a:solidFill>
                <a:latin typeface="Courier New" pitchFamily="34" charset="0"/>
                <a:ea typeface="Courier New" pitchFamily="34" charset="-122"/>
                <a:cs typeface="Courier New" pitchFamily="34" charset="-120"/>
              </a:rPr>
              <a:t>product good</a:t>
            </a:r>
            <a:endParaRPr lang="en-US" sz="1800" dirty="0"/>
          </a:p>
        </p:txBody>
      </p:sp>
      <p:sp>
        <p:nvSpPr>
          <p:cNvPr id="14" name="Text 11"/>
          <p:cNvSpPr txBox="1"/>
          <p:nvPr/>
        </p:nvSpPr>
        <p:spPr>
          <a:xfrm>
            <a:off x="548640" y="5486400"/>
            <a:ext cx="6126480" cy="548640"/>
          </a:xfrm>
          <a:prstGeom prst="rect">
            <a:avLst/>
          </a:prstGeom>
          <a:noFill/>
          <a:ln/>
        </p:spPr>
        <p:txBody>
          <a:bodyPr wrap="square" lIns="0" tIns="0" rIns="0" bIns="0" rtlCol="0" anchor="t"/>
          <a:lstStyle/>
          <a:p>
            <a:pPr indent="0" marL="0">
              <a:buNone/>
            </a:pPr>
            <a:r>
              <a:rPr lang="en-US" sz="1800" b="1" dirty="0">
                <a:solidFill>
                  <a:schemeClr val="accent3"/>
                </a:solidFill>
              </a:rPr>
              <a:t>Hai câu trái nghĩa thành một chuỗi giống hệt nhau.</a:t>
            </a:r>
            <a:endParaRPr lang="en-US" sz="1800" dirty="0"/>
          </a:p>
        </p:txBody>
      </p:sp>
      <p:sp>
        <p:nvSpPr>
          <p:cNvPr id="15" name="Card"/>
          <p:cNvSpPr/>
          <p:nvPr/>
        </p:nvSpPr>
        <p:spPr>
          <a:xfrm>
            <a:off x="6949440" y="1554480"/>
            <a:ext cx="4690872" cy="2286000"/>
          </a:xfrm>
          <a:prstGeom prst="roundRect">
            <a:avLst>
              <a:gd name="adj" fmla="val 4000"/>
            </a:avLst>
          </a:prstGeom>
          <a:solidFill>
            <a:schemeClr val="bg2"/>
          </a:solidFill>
          <a:ln/>
        </p:spPr>
      </p:sp>
      <p:sp>
        <p:nvSpPr>
          <p:cNvPr id="16" name="Text 13"/>
          <p:cNvSpPr txBox="1"/>
          <p:nvPr/>
        </p:nvSpPr>
        <p:spPr>
          <a:xfrm>
            <a:off x="7223760" y="1737360"/>
            <a:ext cx="4206240" cy="365760"/>
          </a:xfrm>
          <a:prstGeom prst="rect">
            <a:avLst/>
          </a:prstGeom>
          <a:noFill/>
          <a:ln/>
        </p:spPr>
        <p:txBody>
          <a:bodyPr wrap="square" lIns="0" tIns="0" rIns="0" bIns="0" rtlCol="0" anchor="t"/>
          <a:lstStyle/>
          <a:p>
            <a:pPr indent="0" marL="0">
              <a:buNone/>
            </a:pPr>
            <a:r>
              <a:rPr lang="en-US" sz="2000" b="1" dirty="0">
                <a:solidFill>
                  <a:schemeClr val="accent6"/>
                </a:solidFill>
              </a:rPr>
              <a:t>10 từ phủ định được giữ lại</a:t>
            </a:r>
            <a:endParaRPr lang="en-US" sz="2000" dirty="0"/>
          </a:p>
        </p:txBody>
      </p:sp>
      <p:sp>
        <p:nvSpPr>
          <p:cNvPr id="17" name="Text 14"/>
          <p:cNvSpPr txBox="1"/>
          <p:nvPr/>
        </p:nvSpPr>
        <p:spPr>
          <a:xfrm>
            <a:off x="7223760" y="2286000"/>
            <a:ext cx="4160520" cy="1371600"/>
          </a:xfrm>
          <a:prstGeom prst="rect">
            <a:avLst/>
          </a:prstGeom>
          <a:noFill/>
          <a:ln/>
        </p:spPr>
        <p:txBody>
          <a:bodyPr wrap="square" lIns="0" tIns="0" rIns="0" bIns="0" rtlCol="0" anchor="t"/>
          <a:lstStyle/>
          <a:p>
            <a:pPr indent="0" marL="0">
              <a:buNone/>
            </a:pPr>
            <a:r>
              <a:rPr lang="en-US" sz="1800" dirty="0">
                <a:solidFill>
                  <a:schemeClr val="tx1"/>
                </a:solidFill>
                <a:latin typeface="Courier New" pitchFamily="34" charset="0"/>
                <a:ea typeface="Courier New" pitchFamily="34" charset="-122"/>
                <a:cs typeface="Courier New" pitchFamily="34" charset="-120"/>
              </a:rPr>
              <a:t>cannot, neither, never, no, nobody, none, nor, not, nothing, without</a:t>
            </a:r>
            <a:endParaRPr lang="en-US" sz="1800" dirty="0"/>
          </a:p>
        </p:txBody>
      </p:sp>
      <p:sp>
        <p:nvSpPr>
          <p:cNvPr id="18" name="Card"/>
          <p:cNvSpPr/>
          <p:nvPr/>
        </p:nvSpPr>
        <p:spPr>
          <a:xfrm>
            <a:off x="6949440" y="4069080"/>
            <a:ext cx="4690872" cy="2011680"/>
          </a:xfrm>
          <a:prstGeom prst="roundRect">
            <a:avLst>
              <a:gd name="adj" fmla="val 4545"/>
            </a:avLst>
          </a:prstGeom>
          <a:solidFill>
            <a:schemeClr val="bg2"/>
          </a:solidFill>
          <a:ln/>
        </p:spPr>
      </p:sp>
      <p:sp>
        <p:nvSpPr>
          <p:cNvPr id="19" name="Text 16"/>
          <p:cNvSpPr txBox="1"/>
          <p:nvPr/>
        </p:nvSpPr>
        <p:spPr>
          <a:xfrm>
            <a:off x="7223760" y="4206240"/>
            <a:ext cx="4206240" cy="914400"/>
          </a:xfrm>
          <a:prstGeom prst="rect">
            <a:avLst/>
          </a:prstGeom>
          <a:noFill/>
          <a:ln/>
        </p:spPr>
        <p:txBody>
          <a:bodyPr wrap="square" lIns="0" tIns="0" rIns="0" bIns="0" rtlCol="0" anchor="ctr"/>
          <a:lstStyle/>
          <a:p>
            <a:pPr indent="0" marL="0">
              <a:buNone/>
            </a:pPr>
            <a:r>
              <a:rPr lang="en-US" sz="5400" b="1" dirty="0">
                <a:solidFill>
                  <a:schemeClr val="accent4"/>
                </a:solidFill>
              </a:rPr>
              <a:t>+3.2%</a:t>
            </a:r>
            <a:endParaRPr lang="en-US" sz="5400" dirty="0"/>
          </a:p>
        </p:txBody>
      </p:sp>
      <p:sp>
        <p:nvSpPr>
          <p:cNvPr id="20" name="Text 17"/>
          <p:cNvSpPr txBox="1"/>
          <p:nvPr/>
        </p:nvSpPr>
        <p:spPr>
          <a:xfrm>
            <a:off x="7223760" y="5212080"/>
            <a:ext cx="4206240" cy="822960"/>
          </a:xfrm>
          <a:prstGeom prst="rect">
            <a:avLst/>
          </a:prstGeom>
          <a:noFill/>
          <a:ln/>
        </p:spPr>
        <p:txBody>
          <a:bodyPr wrap="square" lIns="0" tIns="0" rIns="0" bIns="0" rtlCol="0" anchor="t"/>
          <a:lstStyle/>
          <a:p>
            <a:pPr indent="0" marL="0">
              <a:buNone/>
            </a:pPr>
            <a:r>
              <a:rPr lang="en-US" sz="1600" dirty="0">
                <a:solidFill>
                  <a:schemeClr val="tx1"/>
                </a:solidFill>
              </a:rPr>
              <a:t>Macro F1 tăng khi giữ từ phủ định cùng bigram. Còn 308 stop words trung tính.</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Dấu chấm than cao ở cả 1 sao lẫn 5 sao</a:t>
            </a:r>
            <a:endParaRPr lang="en-US" sz="3000" dirty="0"/>
          </a:p>
        </p:txBody>
      </p:sp>
      <p:graphicFrame>
        <p:nvGraphicFramePr>
          <p:cNvPr id="4" name="Chart 0" descr=""/>
          <p:cNvGraphicFramePr/>
          <p:nvPr/>
        </p:nvGraphicFramePr>
        <p:xfrm>
          <a:off x="548640" y="1463040"/>
          <a:ext cx="6858000" cy="466344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772400" y="1554480"/>
            <a:ext cx="3867912" cy="1371600"/>
          </a:xfrm>
          <a:prstGeom prst="roundRect">
            <a:avLst>
              <a:gd name="adj" fmla="val 6667"/>
            </a:avLst>
          </a:prstGeom>
          <a:solidFill>
            <a:schemeClr val="bg2"/>
          </a:solidFill>
          <a:ln/>
        </p:spPr>
      </p:sp>
      <p:sp>
        <p:nvSpPr>
          <p:cNvPr id="6" name="Text 2"/>
          <p:cNvSpPr txBox="1"/>
          <p:nvPr/>
        </p:nvSpPr>
        <p:spPr>
          <a:xfrm>
            <a:off x="8046720" y="1709928"/>
            <a:ext cx="3383280" cy="320040"/>
          </a:xfrm>
          <a:prstGeom prst="rect">
            <a:avLst/>
          </a:prstGeom>
          <a:noFill/>
          <a:ln/>
        </p:spPr>
        <p:txBody>
          <a:bodyPr wrap="square" lIns="0" tIns="0" rIns="0" bIns="0" rtlCol="0" anchor="t"/>
          <a:lstStyle/>
          <a:p>
            <a:pPr indent="0" marL="0">
              <a:buNone/>
            </a:pPr>
            <a:r>
              <a:rPr lang="en-US" sz="1800" b="1" dirty="0">
                <a:solidFill>
                  <a:schemeClr val="accent6"/>
                </a:solidFill>
              </a:rPr>
              <a:t>Hình chữ U</a:t>
            </a:r>
            <a:endParaRPr lang="en-US" sz="1800" dirty="0"/>
          </a:p>
        </p:txBody>
      </p:sp>
      <p:sp>
        <p:nvSpPr>
          <p:cNvPr id="7" name="Text 3"/>
          <p:cNvSpPr txBox="1"/>
          <p:nvPr/>
        </p:nvSpPr>
        <p:spPr>
          <a:xfrm>
            <a:off x="8046720" y="2103120"/>
            <a:ext cx="3383280" cy="731520"/>
          </a:xfrm>
          <a:prstGeom prst="rect">
            <a:avLst/>
          </a:prstGeom>
          <a:noFill/>
          <a:ln/>
        </p:spPr>
        <p:txBody>
          <a:bodyPr wrap="square" lIns="0" tIns="0" rIns="0" bIns="0" rtlCol="0" anchor="t"/>
          <a:lstStyle/>
          <a:p>
            <a:pPr indent="0" marL="0">
              <a:buNone/>
            </a:pPr>
            <a:r>
              <a:rPr lang="en-US" sz="1600" dirty="0">
                <a:solidFill>
                  <a:schemeClr val="tx1"/>
                </a:solidFill>
              </a:rPr>
              <a:t>Ở 1 sao và 5 sao, dấu “!” nhiều gấp 2.7 đến 3.4 lần so với 3 sao.</a:t>
            </a:r>
            <a:endParaRPr lang="en-US" sz="1600" dirty="0"/>
          </a:p>
        </p:txBody>
      </p:sp>
      <p:sp>
        <p:nvSpPr>
          <p:cNvPr id="8" name="Card"/>
          <p:cNvSpPr/>
          <p:nvPr/>
        </p:nvSpPr>
        <p:spPr>
          <a:xfrm>
            <a:off x="7772400" y="3108960"/>
            <a:ext cx="3867912" cy="1371600"/>
          </a:xfrm>
          <a:prstGeom prst="roundRect">
            <a:avLst>
              <a:gd name="adj" fmla="val 6667"/>
            </a:avLst>
          </a:prstGeom>
          <a:solidFill>
            <a:schemeClr val="bg2"/>
          </a:solidFill>
          <a:ln/>
        </p:spPr>
      </p:sp>
      <p:sp>
        <p:nvSpPr>
          <p:cNvPr id="9" name="Text 5"/>
          <p:cNvSpPr txBox="1"/>
          <p:nvPr/>
        </p:nvSpPr>
        <p:spPr>
          <a:xfrm>
            <a:off x="8046720" y="3264408"/>
            <a:ext cx="3383280" cy="320040"/>
          </a:xfrm>
          <a:prstGeom prst="rect">
            <a:avLst/>
          </a:prstGeom>
          <a:noFill/>
          <a:ln/>
        </p:spPr>
        <p:txBody>
          <a:bodyPr wrap="square" lIns="0" tIns="0" rIns="0" bIns="0" rtlCol="0" anchor="t"/>
          <a:lstStyle/>
          <a:p>
            <a:pPr indent="0" marL="0">
              <a:buNone/>
            </a:pPr>
            <a:r>
              <a:rPr lang="en-US" sz="1800" b="1" dirty="0">
                <a:solidFill>
                  <a:schemeClr val="accent6"/>
                </a:solidFill>
              </a:rPr>
              <a:t>Dấu “?” giảm dần</a:t>
            </a:r>
            <a:endParaRPr lang="en-US" sz="1800" dirty="0"/>
          </a:p>
        </p:txBody>
      </p:sp>
      <p:sp>
        <p:nvSpPr>
          <p:cNvPr id="10" name="Text 6"/>
          <p:cNvSpPr txBox="1"/>
          <p:nvPr/>
        </p:nvSpPr>
        <p:spPr>
          <a:xfrm>
            <a:off x="8046720" y="3657600"/>
            <a:ext cx="3383280" cy="731520"/>
          </a:xfrm>
          <a:prstGeom prst="rect">
            <a:avLst/>
          </a:prstGeom>
          <a:noFill/>
          <a:ln/>
        </p:spPr>
        <p:txBody>
          <a:bodyPr wrap="square" lIns="0" tIns="0" rIns="0" bIns="0" rtlCol="0" anchor="t"/>
          <a:lstStyle/>
          <a:p>
            <a:pPr indent="0" marL="0">
              <a:buNone/>
            </a:pPr>
            <a:r>
              <a:rPr lang="en-US" sz="1600" dirty="0">
                <a:solidFill>
                  <a:schemeClr val="tx1"/>
                </a:solidFill>
              </a:rPr>
              <a:t>Từ 0.320 ở 1 sao xuống 0.125 ở 5 sao.</a:t>
            </a:r>
            <a:endParaRPr lang="en-US" sz="1600" dirty="0"/>
          </a:p>
        </p:txBody>
      </p:sp>
      <p:sp>
        <p:nvSpPr>
          <p:cNvPr id="11" name="Card"/>
          <p:cNvSpPr/>
          <p:nvPr/>
        </p:nvSpPr>
        <p:spPr>
          <a:xfrm>
            <a:off x="7772400" y="4663440"/>
            <a:ext cx="3867912" cy="1371600"/>
          </a:xfrm>
          <a:prstGeom prst="roundRect">
            <a:avLst>
              <a:gd name="adj" fmla="val 6667"/>
            </a:avLst>
          </a:prstGeom>
          <a:solidFill>
            <a:schemeClr val="bg2"/>
          </a:solidFill>
          <a:ln/>
        </p:spPr>
      </p:sp>
      <p:sp>
        <p:nvSpPr>
          <p:cNvPr id="12" name="Text 8"/>
          <p:cNvSpPr txBox="1"/>
          <p:nvPr/>
        </p:nvSpPr>
        <p:spPr>
          <a:xfrm>
            <a:off x="8046720" y="4818888"/>
            <a:ext cx="3383280" cy="320040"/>
          </a:xfrm>
          <a:prstGeom prst="rect">
            <a:avLst/>
          </a:prstGeom>
          <a:noFill/>
          <a:ln/>
        </p:spPr>
        <p:txBody>
          <a:bodyPr wrap="square" lIns="0" tIns="0" rIns="0" bIns="0" rtlCol="0" anchor="t"/>
          <a:lstStyle/>
          <a:p>
            <a:pPr indent="0" marL="0">
              <a:buNone/>
            </a:pPr>
            <a:r>
              <a:rPr lang="en-US" sz="1800" b="1" dirty="0">
                <a:solidFill>
                  <a:schemeClr val="accent6"/>
                </a:solidFill>
              </a:rPr>
              <a:t>Review 5 sao ngắn nhất</a:t>
            </a:r>
            <a:endParaRPr lang="en-US" sz="1800" dirty="0"/>
          </a:p>
        </p:txBody>
      </p:sp>
      <p:sp>
        <p:nvSpPr>
          <p:cNvPr id="13" name="Text 9"/>
          <p:cNvSpPr txBox="1"/>
          <p:nvPr/>
        </p:nvSpPr>
        <p:spPr>
          <a:xfrm>
            <a:off x="8046720" y="5212080"/>
            <a:ext cx="3383280" cy="731520"/>
          </a:xfrm>
          <a:prstGeom prst="rect">
            <a:avLst/>
          </a:prstGeom>
          <a:noFill/>
          <a:ln/>
        </p:spPr>
        <p:txBody>
          <a:bodyPr wrap="square" lIns="0" tIns="0" rIns="0" bIns="0" rtlCol="0" anchor="t"/>
          <a:lstStyle/>
          <a:p>
            <a:pPr indent="0" marL="0">
              <a:buNone/>
            </a:pPr>
            <a:r>
              <a:rPr lang="en-US" sz="1600" dirty="0">
                <a:solidFill>
                  <a:schemeClr val="tx1"/>
                </a:solidFill>
              </a:rPr>
              <a:t>Trung bình 72 từ, trong khi 2 và 3 sao khoảng 87 từ.</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Công thức TF-IDF trong đồ án</a:t>
            </a:r>
            <a:endParaRPr lang="en-US" sz="3000" dirty="0"/>
          </a:p>
        </p:txBody>
      </p:sp>
      <p:sp>
        <p:nvSpPr>
          <p:cNvPr id="4" name="Card"/>
          <p:cNvSpPr/>
          <p:nvPr/>
        </p:nvSpPr>
        <p:spPr>
          <a:xfrm>
            <a:off x="548640" y="1554480"/>
            <a:ext cx="5394960" cy="1371600"/>
          </a:xfrm>
          <a:prstGeom prst="roundRect">
            <a:avLst>
              <a:gd name="adj" fmla="val 6667"/>
            </a:avLst>
          </a:prstGeom>
          <a:solidFill>
            <a:schemeClr val="tx1"/>
          </a:solidFill>
          <a:ln/>
        </p:spPr>
      </p:sp>
      <p:sp>
        <p:nvSpPr>
          <p:cNvPr id="5" name="Text 2"/>
          <p:cNvSpPr txBox="1"/>
          <p:nvPr/>
        </p:nvSpPr>
        <p:spPr>
          <a:xfrm>
            <a:off x="731520" y="1554480"/>
            <a:ext cx="5029200" cy="1371600"/>
          </a:xfrm>
          <a:prstGeom prst="rect">
            <a:avLst/>
          </a:prstGeom>
          <a:noFill/>
          <a:ln/>
        </p:spPr>
        <p:txBody>
          <a:bodyPr wrap="square" lIns="0" tIns="0" rIns="0" bIns="0" rtlCol="0" anchor="ctr"/>
          <a:lstStyle/>
          <a:p>
            <a:pPr algn="ctr" indent="0" marL="0">
              <a:buNone/>
            </a:pPr>
            <a:r>
              <a:rPr lang="en-US" sz="2400" b="1" dirty="0">
                <a:solidFill>
                  <a:schemeClr val="bg1"/>
                </a:solidFill>
              </a:rPr>
              <a:t>TF = 1 + ln(tf)</a:t>
            </a:r>
            <a:endParaRPr lang="en-US" sz="2400" dirty="0"/>
          </a:p>
        </p:txBody>
      </p:sp>
      <p:sp>
        <p:nvSpPr>
          <p:cNvPr id="6" name="Text 3"/>
          <p:cNvSpPr txBox="1"/>
          <p:nvPr/>
        </p:nvSpPr>
        <p:spPr>
          <a:xfrm>
            <a:off x="6309360" y="1691640"/>
            <a:ext cx="5303520" cy="411480"/>
          </a:xfrm>
          <a:prstGeom prst="rect">
            <a:avLst/>
          </a:prstGeom>
          <a:noFill/>
          <a:ln/>
        </p:spPr>
        <p:txBody>
          <a:bodyPr wrap="square" lIns="0" tIns="0" rIns="0" bIns="0" rtlCol="0" anchor="t"/>
          <a:lstStyle/>
          <a:p>
            <a:pPr indent="0" marL="0">
              <a:buNone/>
            </a:pPr>
            <a:r>
              <a:rPr lang="en-US" sz="2200" b="1" dirty="0">
                <a:solidFill>
                  <a:schemeClr val="accent6"/>
                </a:solidFill>
              </a:rPr>
              <a:t>Sublinear TF</a:t>
            </a:r>
            <a:endParaRPr lang="en-US" sz="2200" dirty="0"/>
          </a:p>
        </p:txBody>
      </p:sp>
      <p:sp>
        <p:nvSpPr>
          <p:cNvPr id="7" name="Text 4"/>
          <p:cNvSpPr txBox="1"/>
          <p:nvPr/>
        </p:nvSpPr>
        <p:spPr>
          <a:xfrm>
            <a:off x="6309360" y="2194560"/>
            <a:ext cx="5303520" cy="731520"/>
          </a:xfrm>
          <a:prstGeom prst="rect">
            <a:avLst/>
          </a:prstGeom>
          <a:noFill/>
          <a:ln/>
        </p:spPr>
        <p:txBody>
          <a:bodyPr wrap="square" lIns="0" tIns="0" rIns="0" bIns="0" rtlCol="0" anchor="t"/>
          <a:lstStyle/>
          <a:p>
            <a:pPr indent="0" marL="0">
              <a:buNone/>
            </a:pPr>
            <a:r>
              <a:rPr lang="en-US" sz="1600" dirty="0">
                <a:solidFill>
                  <a:schemeClr val="tx1"/>
                </a:solidFill>
              </a:rPr>
              <a:t>Từ lặp 20 lần không quan trọng gấp 20 lần, nên nén bằng logarit.</a:t>
            </a:r>
            <a:endParaRPr lang="en-US" sz="1600" dirty="0"/>
          </a:p>
        </p:txBody>
      </p:sp>
      <p:sp>
        <p:nvSpPr>
          <p:cNvPr id="8" name="Card"/>
          <p:cNvSpPr/>
          <p:nvPr/>
        </p:nvSpPr>
        <p:spPr>
          <a:xfrm>
            <a:off x="548640" y="3108960"/>
            <a:ext cx="5394960" cy="1371600"/>
          </a:xfrm>
          <a:prstGeom prst="roundRect">
            <a:avLst>
              <a:gd name="adj" fmla="val 6667"/>
            </a:avLst>
          </a:prstGeom>
          <a:solidFill>
            <a:schemeClr val="tx1"/>
          </a:solidFill>
          <a:ln/>
        </p:spPr>
      </p:sp>
      <p:sp>
        <p:nvSpPr>
          <p:cNvPr id="9" name="Text 6"/>
          <p:cNvSpPr txBox="1"/>
          <p:nvPr/>
        </p:nvSpPr>
        <p:spPr>
          <a:xfrm>
            <a:off x="731520" y="3108960"/>
            <a:ext cx="5029200" cy="1371600"/>
          </a:xfrm>
          <a:prstGeom prst="rect">
            <a:avLst/>
          </a:prstGeom>
          <a:noFill/>
          <a:ln/>
        </p:spPr>
        <p:txBody>
          <a:bodyPr wrap="square" lIns="0" tIns="0" rIns="0" bIns="0" rtlCol="0" anchor="ctr"/>
          <a:lstStyle/>
          <a:p>
            <a:pPr algn="ctr" indent="0" marL="0">
              <a:buNone/>
            </a:pPr>
            <a:r>
              <a:rPr lang="en-US" sz="2400" b="1" dirty="0">
                <a:solidFill>
                  <a:schemeClr val="bg1"/>
                </a:solidFill>
              </a:rPr>
              <a:t>IDF = ln((1 + N) / (1 + df)) + 1</a:t>
            </a:r>
            <a:endParaRPr lang="en-US" sz="2400" dirty="0"/>
          </a:p>
        </p:txBody>
      </p:sp>
      <p:sp>
        <p:nvSpPr>
          <p:cNvPr id="10" name="Text 7"/>
          <p:cNvSpPr txBox="1"/>
          <p:nvPr/>
        </p:nvSpPr>
        <p:spPr>
          <a:xfrm>
            <a:off x="6309360" y="3246120"/>
            <a:ext cx="5303520" cy="411480"/>
          </a:xfrm>
          <a:prstGeom prst="rect">
            <a:avLst/>
          </a:prstGeom>
          <a:noFill/>
          <a:ln/>
        </p:spPr>
        <p:txBody>
          <a:bodyPr wrap="square" lIns="0" tIns="0" rIns="0" bIns="0" rtlCol="0" anchor="t"/>
          <a:lstStyle/>
          <a:p>
            <a:pPr indent="0" marL="0">
              <a:buNone/>
            </a:pPr>
            <a:r>
              <a:rPr lang="en-US" sz="2200" b="1" dirty="0">
                <a:solidFill>
                  <a:schemeClr val="accent6"/>
                </a:solidFill>
              </a:rPr>
              <a:t>Smooth IDF</a:t>
            </a:r>
            <a:endParaRPr lang="en-US" sz="2200" dirty="0"/>
          </a:p>
        </p:txBody>
      </p:sp>
      <p:sp>
        <p:nvSpPr>
          <p:cNvPr id="11" name="Text 8"/>
          <p:cNvSpPr txBox="1"/>
          <p:nvPr/>
        </p:nvSpPr>
        <p:spPr>
          <a:xfrm>
            <a:off x="6309360" y="3749040"/>
            <a:ext cx="5303520" cy="731520"/>
          </a:xfrm>
          <a:prstGeom prst="rect">
            <a:avLst/>
          </a:prstGeom>
          <a:noFill/>
          <a:ln/>
        </p:spPr>
        <p:txBody>
          <a:bodyPr wrap="square" lIns="0" tIns="0" rIns="0" bIns="0" rtlCol="0" anchor="t"/>
          <a:lstStyle/>
          <a:p>
            <a:pPr indent="0" marL="0">
              <a:buNone/>
            </a:pPr>
            <a:r>
              <a:rPr lang="en-US" sz="1600" dirty="0">
                <a:solidFill>
                  <a:schemeClr val="tx1"/>
                </a:solidFill>
              </a:rPr>
              <a:t>Từ hiếm có IDF lớn, từ phổ biến gần 1. Hằng số 1 tránh chia cho 0.</a:t>
            </a:r>
            <a:endParaRPr lang="en-US" sz="1600" dirty="0"/>
          </a:p>
        </p:txBody>
      </p:sp>
      <p:sp>
        <p:nvSpPr>
          <p:cNvPr id="12" name="Card"/>
          <p:cNvSpPr/>
          <p:nvPr/>
        </p:nvSpPr>
        <p:spPr>
          <a:xfrm>
            <a:off x="548640" y="4663440"/>
            <a:ext cx="5394960" cy="1371600"/>
          </a:xfrm>
          <a:prstGeom prst="roundRect">
            <a:avLst>
              <a:gd name="adj" fmla="val 6667"/>
            </a:avLst>
          </a:prstGeom>
          <a:solidFill>
            <a:schemeClr val="tx1"/>
          </a:solidFill>
          <a:ln/>
        </p:spPr>
      </p:sp>
      <p:sp>
        <p:nvSpPr>
          <p:cNvPr id="13" name="Text 10"/>
          <p:cNvSpPr txBox="1"/>
          <p:nvPr/>
        </p:nvSpPr>
        <p:spPr>
          <a:xfrm>
            <a:off x="731520" y="4663440"/>
            <a:ext cx="5029200" cy="1371600"/>
          </a:xfrm>
          <a:prstGeom prst="rect">
            <a:avLst/>
          </a:prstGeom>
          <a:noFill/>
          <a:ln/>
        </p:spPr>
        <p:txBody>
          <a:bodyPr wrap="square" lIns="0" tIns="0" rIns="0" bIns="0" rtlCol="0" anchor="ctr"/>
          <a:lstStyle/>
          <a:p>
            <a:pPr algn="ctr" indent="0" marL="0">
              <a:buNone/>
            </a:pPr>
            <a:r>
              <a:rPr lang="en-US" sz="2400" b="1" dirty="0">
                <a:solidFill>
                  <a:schemeClr val="bg1"/>
                </a:solidFill>
              </a:rPr>
              <a:t>v = v / √(Σ w²)</a:t>
            </a:r>
            <a:endParaRPr lang="en-US" sz="2400" dirty="0"/>
          </a:p>
        </p:txBody>
      </p:sp>
      <p:sp>
        <p:nvSpPr>
          <p:cNvPr id="14" name="Text 11"/>
          <p:cNvSpPr txBox="1"/>
          <p:nvPr/>
        </p:nvSpPr>
        <p:spPr>
          <a:xfrm>
            <a:off x="6309360" y="4800600"/>
            <a:ext cx="5303520" cy="411480"/>
          </a:xfrm>
          <a:prstGeom prst="rect">
            <a:avLst/>
          </a:prstGeom>
          <a:noFill/>
          <a:ln/>
        </p:spPr>
        <p:txBody>
          <a:bodyPr wrap="square" lIns="0" tIns="0" rIns="0" bIns="0" rtlCol="0" anchor="t"/>
          <a:lstStyle/>
          <a:p>
            <a:pPr indent="0" marL="0">
              <a:buNone/>
            </a:pPr>
            <a:r>
              <a:rPr lang="en-US" sz="2200" b="1" dirty="0">
                <a:solidFill>
                  <a:schemeClr val="accent6"/>
                </a:solidFill>
              </a:rPr>
              <a:t>Chuẩn hóa L2</a:t>
            </a:r>
            <a:endParaRPr lang="en-US" sz="2200" dirty="0"/>
          </a:p>
        </p:txBody>
      </p:sp>
      <p:sp>
        <p:nvSpPr>
          <p:cNvPr id="15" name="Text 12"/>
          <p:cNvSpPr txBox="1"/>
          <p:nvPr/>
        </p:nvSpPr>
        <p:spPr>
          <a:xfrm>
            <a:off x="6309360" y="5303520"/>
            <a:ext cx="5303520" cy="731520"/>
          </a:xfrm>
          <a:prstGeom prst="rect">
            <a:avLst/>
          </a:prstGeom>
          <a:noFill/>
          <a:ln/>
        </p:spPr>
        <p:txBody>
          <a:bodyPr wrap="square" lIns="0" tIns="0" rIns="0" bIns="0" rtlCol="0" anchor="t"/>
          <a:lstStyle/>
          <a:p>
            <a:pPr indent="0" marL="0">
              <a:buNone/>
            </a:pPr>
            <a:r>
              <a:rPr lang="en-US" sz="1600" dirty="0">
                <a:solidFill>
                  <a:schemeClr val="tx1"/>
                </a:solidFill>
              </a:rPr>
              <a:t>Mọi vector dài bằng 1, nên review dài hay ngắn đều công bằng.</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Bigram giúp phân biệt “not bad” và “not good”</a:t>
            </a:r>
            <a:endParaRPr lang="en-US" sz="3000" dirty="0"/>
          </a:p>
        </p:txBody>
      </p:sp>
      <p:sp>
        <p:nvSpPr>
          <p:cNvPr id="4" name="Card"/>
          <p:cNvSpPr/>
          <p:nvPr/>
        </p:nvSpPr>
        <p:spPr>
          <a:xfrm>
            <a:off x="548640" y="1554480"/>
            <a:ext cx="6400800" cy="1417320"/>
          </a:xfrm>
          <a:prstGeom prst="roundRect">
            <a:avLst>
              <a:gd name="adj" fmla="val 6452"/>
            </a:avLst>
          </a:prstGeom>
          <a:solidFill>
            <a:schemeClr val="bg2"/>
          </a:solidFill>
          <a:ln/>
        </p:spPr>
      </p:sp>
      <p:sp>
        <p:nvSpPr>
          <p:cNvPr id="5" name="Text 2"/>
          <p:cNvSpPr txBox="1"/>
          <p:nvPr/>
        </p:nvSpPr>
        <p:spPr>
          <a:xfrm>
            <a:off x="822960" y="1810512"/>
            <a:ext cx="5852160" cy="457200"/>
          </a:xfrm>
          <a:prstGeom prst="rect">
            <a:avLst/>
          </a:prstGeom>
          <a:noFill/>
          <a:ln/>
        </p:spPr>
        <p:txBody>
          <a:bodyPr wrap="square" lIns="0" tIns="0" rIns="0" bIns="0" rtlCol="0" anchor="t"/>
          <a:lstStyle/>
          <a:p>
            <a:pPr indent="0" marL="0">
              <a:buNone/>
            </a:pPr>
            <a:r>
              <a:rPr lang="en-US" sz="2000" b="1" dirty="0">
                <a:solidFill>
                  <a:schemeClr val="tx1"/>
                </a:solidFill>
              </a:rPr>
              <a:t>This product is good, not bad at all</a:t>
            </a:r>
            <a:endParaRPr lang="en-US" sz="2000" dirty="0"/>
          </a:p>
        </p:txBody>
      </p:sp>
      <p:sp>
        <p:nvSpPr>
          <p:cNvPr id="6" name="Text 3"/>
          <p:cNvSpPr txBox="1"/>
          <p:nvPr/>
        </p:nvSpPr>
        <p:spPr>
          <a:xfrm>
            <a:off x="822960" y="2359152"/>
            <a:ext cx="5852160" cy="365760"/>
          </a:xfrm>
          <a:prstGeom prst="rect">
            <a:avLst/>
          </a:prstGeom>
          <a:noFill/>
          <a:ln/>
        </p:spPr>
        <p:txBody>
          <a:bodyPr wrap="square" lIns="0" tIns="0" rIns="0" bIns="0" rtlCol="0" anchor="t"/>
          <a:lstStyle/>
          <a:p>
            <a:pPr indent="0" marL="0">
              <a:buNone/>
            </a:pPr>
            <a:r>
              <a:rPr lang="en-US" sz="1800" b="1" dirty="0">
                <a:solidFill>
                  <a:schemeClr val="accent4"/>
                </a:solidFill>
              </a:rPr>
              <a:t>Tích cực, 4 đến 5 sao</a:t>
            </a:r>
            <a:endParaRPr lang="en-US" sz="1800" dirty="0"/>
          </a:p>
        </p:txBody>
      </p:sp>
      <p:sp>
        <p:nvSpPr>
          <p:cNvPr id="7" name="Card"/>
          <p:cNvSpPr/>
          <p:nvPr/>
        </p:nvSpPr>
        <p:spPr>
          <a:xfrm>
            <a:off x="548640" y="3154680"/>
            <a:ext cx="6400800" cy="1417320"/>
          </a:xfrm>
          <a:prstGeom prst="roundRect">
            <a:avLst>
              <a:gd name="adj" fmla="val 6452"/>
            </a:avLst>
          </a:prstGeom>
          <a:solidFill>
            <a:schemeClr val="bg2"/>
          </a:solidFill>
          <a:ln/>
        </p:spPr>
      </p:sp>
      <p:sp>
        <p:nvSpPr>
          <p:cNvPr id="8" name="Text 5"/>
          <p:cNvSpPr txBox="1"/>
          <p:nvPr/>
        </p:nvSpPr>
        <p:spPr>
          <a:xfrm>
            <a:off x="822960" y="3410712"/>
            <a:ext cx="5852160" cy="457200"/>
          </a:xfrm>
          <a:prstGeom prst="rect">
            <a:avLst/>
          </a:prstGeom>
          <a:noFill/>
          <a:ln/>
        </p:spPr>
        <p:txBody>
          <a:bodyPr wrap="square" lIns="0" tIns="0" rIns="0" bIns="0" rtlCol="0" anchor="t"/>
          <a:lstStyle/>
          <a:p>
            <a:pPr indent="0" marL="0">
              <a:buNone/>
            </a:pPr>
            <a:r>
              <a:rPr lang="en-US" sz="2000" b="1" dirty="0">
                <a:solidFill>
                  <a:schemeClr val="tx1"/>
                </a:solidFill>
              </a:rPr>
              <a:t>This product is bad, not good at all</a:t>
            </a:r>
            <a:endParaRPr lang="en-US" sz="2000" dirty="0"/>
          </a:p>
        </p:txBody>
      </p:sp>
      <p:sp>
        <p:nvSpPr>
          <p:cNvPr id="9" name="Text 6"/>
          <p:cNvSpPr txBox="1"/>
          <p:nvPr/>
        </p:nvSpPr>
        <p:spPr>
          <a:xfrm>
            <a:off x="822960" y="3959352"/>
            <a:ext cx="5852160" cy="365760"/>
          </a:xfrm>
          <a:prstGeom prst="rect">
            <a:avLst/>
          </a:prstGeom>
          <a:noFill/>
          <a:ln/>
        </p:spPr>
        <p:txBody>
          <a:bodyPr wrap="square" lIns="0" tIns="0" rIns="0" bIns="0" rtlCol="0" anchor="t"/>
          <a:lstStyle/>
          <a:p>
            <a:pPr indent="0" marL="0">
              <a:buNone/>
            </a:pPr>
            <a:r>
              <a:rPr lang="en-US" sz="1800" b="1" dirty="0">
                <a:solidFill>
                  <a:schemeClr val="accent3"/>
                </a:solidFill>
              </a:rPr>
              <a:t>Tiêu cực, 1 đến 2 sao</a:t>
            </a:r>
            <a:endParaRPr lang="en-US" sz="1800" dirty="0"/>
          </a:p>
        </p:txBody>
      </p:sp>
      <p:sp>
        <p:nvSpPr>
          <p:cNvPr id="10" name="Text 7"/>
          <p:cNvSpPr txBox="1"/>
          <p:nvPr/>
        </p:nvSpPr>
        <p:spPr>
          <a:xfrm>
            <a:off x="548640" y="4846320"/>
            <a:ext cx="6400800" cy="1097280"/>
          </a:xfrm>
          <a:prstGeom prst="rect">
            <a:avLst/>
          </a:prstGeom>
          <a:noFill/>
          <a:ln/>
        </p:spPr>
        <p:txBody>
          <a:bodyPr wrap="square" lIns="0" tIns="0" rIns="0" bIns="0" rtlCol="0" anchor="t"/>
          <a:lstStyle/>
          <a:p>
            <a:pPr indent="0" marL="0">
              <a:buNone/>
            </a:pPr>
            <a:r>
              <a:rPr lang="en-US" sz="1600" dirty="0">
                <a:solidFill>
                  <a:schemeClr val="tx1"/>
                </a:solidFill>
              </a:rPr>
              <a:t>Chỉ dùng từ đơn thì hai câu có cùng tập từ, vector gần như giống nhau. Thêm bigram thì “not bad” và “not good” thành hai đặc trưng khác nhau.</a:t>
            </a:r>
            <a:endParaRPr lang="en-US" sz="1600" dirty="0"/>
          </a:p>
        </p:txBody>
      </p:sp>
      <p:sp>
        <p:nvSpPr>
          <p:cNvPr id="11" name="Card"/>
          <p:cNvSpPr/>
          <p:nvPr/>
        </p:nvSpPr>
        <p:spPr>
          <a:xfrm>
            <a:off x="7315200" y="1554480"/>
            <a:ext cx="4325112" cy="2103120"/>
          </a:xfrm>
          <a:prstGeom prst="roundRect">
            <a:avLst>
              <a:gd name="adj" fmla="val 4348"/>
            </a:avLst>
          </a:prstGeom>
          <a:solidFill>
            <a:schemeClr val="bg2"/>
          </a:solidFill>
          <a:ln/>
        </p:spPr>
      </p:sp>
      <p:sp>
        <p:nvSpPr>
          <p:cNvPr id="12" name="Text 9"/>
          <p:cNvSpPr txBox="1"/>
          <p:nvPr/>
        </p:nvSpPr>
        <p:spPr>
          <a:xfrm>
            <a:off x="7589520" y="1737360"/>
            <a:ext cx="3749040" cy="914400"/>
          </a:xfrm>
          <a:prstGeom prst="rect">
            <a:avLst/>
          </a:prstGeom>
          <a:noFill/>
          <a:ln/>
        </p:spPr>
        <p:txBody>
          <a:bodyPr wrap="square" lIns="0" tIns="0" rIns="0" bIns="0" rtlCol="0" anchor="ctr"/>
          <a:lstStyle/>
          <a:p>
            <a:pPr indent="0" marL="0">
              <a:buNone/>
            </a:pPr>
            <a:r>
              <a:rPr lang="en-US" sz="5400" b="1" dirty="0">
                <a:solidFill>
                  <a:schemeClr val="accent1"/>
                </a:solidFill>
              </a:rPr>
              <a:t>50,000</a:t>
            </a:r>
            <a:endParaRPr lang="en-US" sz="5400" dirty="0"/>
          </a:p>
        </p:txBody>
      </p:sp>
      <p:sp>
        <p:nvSpPr>
          <p:cNvPr id="13" name="Text 10"/>
          <p:cNvSpPr txBox="1"/>
          <p:nvPr/>
        </p:nvSpPr>
        <p:spPr>
          <a:xfrm>
            <a:off x="7589520" y="2788920"/>
            <a:ext cx="3749040" cy="731520"/>
          </a:xfrm>
          <a:prstGeom prst="rect">
            <a:avLst/>
          </a:prstGeom>
          <a:noFill/>
          <a:ln/>
        </p:spPr>
        <p:txBody>
          <a:bodyPr wrap="square" lIns="0" tIns="0" rIns="0" bIns="0" rtlCol="0" anchor="t"/>
          <a:lstStyle/>
          <a:p>
            <a:pPr indent="0" marL="0">
              <a:buNone/>
            </a:pPr>
            <a:r>
              <a:rPr lang="en-US" sz="1600" dirty="0">
                <a:solidFill>
                  <a:schemeClr val="tx1"/>
                </a:solidFill>
              </a:rPr>
              <a:t>đặc trưng từ đơn và bigram (1–2 gram)</a:t>
            </a:r>
            <a:endParaRPr lang="en-US" sz="1600" dirty="0"/>
          </a:p>
        </p:txBody>
      </p:sp>
      <p:sp>
        <p:nvSpPr>
          <p:cNvPr id="14" name="Card"/>
          <p:cNvSpPr/>
          <p:nvPr/>
        </p:nvSpPr>
        <p:spPr>
          <a:xfrm>
            <a:off x="7315200" y="3840480"/>
            <a:ext cx="4325112" cy="2103120"/>
          </a:xfrm>
          <a:prstGeom prst="roundRect">
            <a:avLst>
              <a:gd name="adj" fmla="val 4348"/>
            </a:avLst>
          </a:prstGeom>
          <a:solidFill>
            <a:schemeClr val="bg2"/>
          </a:solidFill>
          <a:ln/>
        </p:spPr>
      </p:sp>
      <p:sp>
        <p:nvSpPr>
          <p:cNvPr id="15" name="Text 12"/>
          <p:cNvSpPr txBox="1"/>
          <p:nvPr/>
        </p:nvSpPr>
        <p:spPr>
          <a:xfrm>
            <a:off x="7589520" y="4023360"/>
            <a:ext cx="3749040" cy="914400"/>
          </a:xfrm>
          <a:prstGeom prst="rect">
            <a:avLst/>
          </a:prstGeom>
          <a:noFill/>
          <a:ln/>
        </p:spPr>
        <p:txBody>
          <a:bodyPr wrap="square" lIns="0" tIns="0" rIns="0" bIns="0" rtlCol="0" anchor="ctr"/>
          <a:lstStyle/>
          <a:p>
            <a:pPr indent="0" marL="0">
              <a:buNone/>
            </a:pPr>
            <a:r>
              <a:rPr lang="en-US" sz="5400" b="1" dirty="0">
                <a:solidFill>
                  <a:schemeClr val="accent1"/>
                </a:solidFill>
              </a:rPr>
              <a:t>99.89%</a:t>
            </a:r>
            <a:endParaRPr lang="en-US" sz="5400" dirty="0"/>
          </a:p>
        </p:txBody>
      </p:sp>
      <p:sp>
        <p:nvSpPr>
          <p:cNvPr id="16" name="Text 13"/>
          <p:cNvSpPr txBox="1"/>
          <p:nvPr/>
        </p:nvSpPr>
        <p:spPr>
          <a:xfrm>
            <a:off x="7589520" y="5074920"/>
            <a:ext cx="3749040" cy="731520"/>
          </a:xfrm>
          <a:prstGeom prst="rect">
            <a:avLst/>
          </a:prstGeom>
          <a:noFill/>
          <a:ln/>
        </p:spPr>
        <p:txBody>
          <a:bodyPr wrap="square" lIns="0" tIns="0" rIns="0" bIns="0" rtlCol="0" anchor="t"/>
          <a:lstStyle/>
          <a:p>
            <a:pPr indent="0" marL="0">
              <a:buNone/>
            </a:pPr>
            <a:r>
              <a:rPr lang="en-US" sz="1600" dirty="0">
                <a:solidFill>
                  <a:schemeClr val="tx1"/>
                </a:solidFill>
              </a:rPr>
              <a:t>số ô bằng 0 trong ma trận, nên phải dùng ma trận thưa</a:t>
            </a:r>
            <a:endParaRPr lang="en-US" sz="1600" dirty="0"/>
          </a:p>
        </p:txBody>
      </p:sp>
      <p:sp>
        <p:nvSpPr>
          <p:cNvPr id="17" name="Text 14"/>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1200" dirty="0">
                <a:solidFill>
                  <a:schemeClr val="accent2"/>
                </a:solidFill>
              </a:rPr>
              <a:t>Tham số: ngram (1, 2), max_features 50,000, min_df 3, max_df 0.6, sublinear_tf.</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LSA: các chủ đề ẩn trong review</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766560" cy="914400"/>
        </p:xfrm>
        <a:graphic>
          <a:graphicData uri="http://schemas.openxmlformats.org/drawingml/2006/table">
            <a:tbl>
              <a:tblPr/>
              <a:tblGrid>
                <a:gridCol w="2651760"/>
                <a:gridCol w="4114800"/>
              </a:tblGrid>
              <a:tr h="685800">
                <a:tc>
                  <a:txBody>
                    <a:bodyPr/>
                    <a:lstStyle/>
                    <a:p>
                      <a:pPr algn="l" indent="0" marL="0">
                        <a:buNone/>
                      </a:pPr>
                      <a:r>
                        <a:rPr lang="en-US" sz="1800" b="1" dirty="0">
                          <a:solidFill>
                            <a:srgbClr val="FFFFFF"/>
                          </a:solidFill>
                        </a:rPr>
                        <a:t>Chủ đề</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l" indent="0" marL="0">
                        <a:buNone/>
                      </a:pPr>
                      <a:r>
                        <a:rPr lang="en-US" sz="1800" b="1" dirty="0">
                          <a:solidFill>
                            <a:srgbClr val="FFFFFF"/>
                          </a:solidFill>
                        </a:rPr>
                        <a:t>Từ khóa tiêu biểu</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r>
              <a:tr h="685800">
                <a:tc>
                  <a:txBody>
                    <a:bodyPr/>
                    <a:lstStyle/>
                    <a:p>
                      <a:pPr algn="l" indent="0" marL="0">
                        <a:buNone/>
                      </a:pPr>
                      <a:r>
                        <a:rPr lang="en-US" sz="1800" b="1" dirty="0">
                          <a:solidFill>
                            <a:srgbClr val="1F2328"/>
                          </a:solidFill>
                        </a:rPr>
                        <a:t>Trải nghiệm chung</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not, great, good, product</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85800">
                <a:tc>
                  <a:txBody>
                    <a:bodyPr/>
                    <a:lstStyle/>
                    <a:p>
                      <a:pPr algn="l" indent="0" marL="0">
                        <a:buNone/>
                      </a:pPr>
                      <a:r>
                        <a:rPr lang="en-US" sz="1800" b="1" dirty="0">
                          <a:solidFill>
                            <a:srgbClr val="1F2328"/>
                          </a:solidFill>
                        </a:rPr>
                        <a:t>Sách</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book, read, author, story</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85800">
                <a:tc>
                  <a:txBody>
                    <a:bodyPr/>
                    <a:lstStyle/>
                    <a:p>
                      <a:pPr algn="l" indent="0" marL="0">
                        <a:buNone/>
                      </a:pPr>
                      <a:r>
                        <a:rPr lang="en-US" sz="1800" b="1" dirty="0">
                          <a:solidFill>
                            <a:srgbClr val="1F2328"/>
                          </a:solidFill>
                        </a:rPr>
                        <a:t>Phim và DVD</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movie, film, watch, dvd</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85800">
                <a:tc>
                  <a:txBody>
                    <a:bodyPr/>
                    <a:lstStyle/>
                    <a:p>
                      <a:pPr algn="l" indent="0" marL="0">
                        <a:buNone/>
                      </a:pPr>
                      <a:r>
                        <a:rPr lang="en-US" sz="1800" b="1" dirty="0">
                          <a:solidFill>
                            <a:srgbClr val="1F2328"/>
                          </a:solidFill>
                        </a:rPr>
                        <a:t>Âm nhạc</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album, cd, songs, music</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85800">
                <a:tc>
                  <a:txBody>
                    <a:bodyPr/>
                    <a:lstStyle/>
                    <a:p>
                      <a:pPr algn="l" indent="0" marL="0">
                        <a:buNone/>
                      </a:pPr>
                      <a:r>
                        <a:rPr lang="en-US" sz="1800" b="1" dirty="0">
                          <a:solidFill>
                            <a:srgbClr val="1F2328"/>
                          </a:solidFill>
                        </a:rPr>
                        <a:t>Cảm xúc mạnh</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exclam, love, best, recommend</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bl>
          </a:graphicData>
        </a:graphic>
      </p:graphicFrame>
      <p:sp>
        <p:nvSpPr>
          <p:cNvPr id="5" name="Card"/>
          <p:cNvSpPr/>
          <p:nvPr/>
        </p:nvSpPr>
        <p:spPr>
          <a:xfrm>
            <a:off x="7589520" y="1554480"/>
            <a:ext cx="4050792" cy="2194560"/>
          </a:xfrm>
          <a:prstGeom prst="roundRect">
            <a:avLst>
              <a:gd name="adj" fmla="val 4167"/>
            </a:avLst>
          </a:prstGeom>
          <a:solidFill>
            <a:schemeClr val="bg2"/>
          </a:solidFill>
          <a:ln/>
        </p:spPr>
      </p:sp>
      <p:sp>
        <p:nvSpPr>
          <p:cNvPr id="6" name="Text 2"/>
          <p:cNvSpPr txBox="1"/>
          <p:nvPr/>
        </p:nvSpPr>
        <p:spPr>
          <a:xfrm>
            <a:off x="7863840" y="1737360"/>
            <a:ext cx="3566160" cy="365760"/>
          </a:xfrm>
          <a:prstGeom prst="rect">
            <a:avLst/>
          </a:prstGeom>
          <a:noFill/>
          <a:ln/>
        </p:spPr>
        <p:txBody>
          <a:bodyPr wrap="square" lIns="0" tIns="0" rIns="0" bIns="0" rtlCol="0" anchor="t"/>
          <a:lstStyle/>
          <a:p>
            <a:pPr indent="0" marL="0">
              <a:buNone/>
            </a:pPr>
            <a:r>
              <a:rPr lang="en-US" sz="2000" b="1" dirty="0">
                <a:solidFill>
                  <a:schemeClr val="accent6"/>
                </a:solidFill>
              </a:rPr>
              <a:t>TruncatedSVD thay PCA</a:t>
            </a:r>
            <a:endParaRPr lang="en-US" sz="2000" dirty="0"/>
          </a:p>
        </p:txBody>
      </p:sp>
      <p:sp>
        <p:nvSpPr>
          <p:cNvPr id="7" name="Text 3"/>
          <p:cNvSpPr txBox="1"/>
          <p:nvPr/>
        </p:nvSpPr>
        <p:spPr>
          <a:xfrm>
            <a:off x="7863840" y="2240280"/>
            <a:ext cx="3566160" cy="1371600"/>
          </a:xfrm>
          <a:prstGeom prst="rect">
            <a:avLst/>
          </a:prstGeom>
          <a:noFill/>
          <a:ln/>
        </p:spPr>
        <p:txBody>
          <a:bodyPr wrap="square" lIns="0" tIns="0" rIns="0" bIns="0" rtlCol="0" anchor="t"/>
          <a:lstStyle/>
          <a:p>
            <a:pPr indent="0" marL="0">
              <a:buNone/>
            </a:pPr>
            <a:r>
              <a:rPr lang="en-US" sz="1600" dirty="0">
                <a:solidFill>
                  <a:schemeClr val="tx1"/>
                </a:solidFill>
              </a:rPr>
              <a:t>PCA làm ma trận thưa thành dày (240 GB). SVD chạy thẳng trên ma trận thưa, xong trong 16.2 giây.</a:t>
            </a:r>
            <a:endParaRPr lang="en-US" sz="1600" dirty="0"/>
          </a:p>
        </p:txBody>
      </p:sp>
      <p:sp>
        <p:nvSpPr>
          <p:cNvPr id="8" name="Card"/>
          <p:cNvSpPr/>
          <p:nvPr/>
        </p:nvSpPr>
        <p:spPr>
          <a:xfrm>
            <a:off x="7589520" y="3931920"/>
            <a:ext cx="4050792" cy="2103120"/>
          </a:xfrm>
          <a:prstGeom prst="roundRect">
            <a:avLst>
              <a:gd name="adj" fmla="val 4348"/>
            </a:avLst>
          </a:prstGeom>
          <a:solidFill>
            <a:schemeClr val="bg2"/>
          </a:solidFill>
          <a:ln/>
        </p:spPr>
      </p:sp>
      <p:sp>
        <p:nvSpPr>
          <p:cNvPr id="9" name="Text 5"/>
          <p:cNvSpPr txBox="1"/>
          <p:nvPr/>
        </p:nvSpPr>
        <p:spPr>
          <a:xfrm>
            <a:off x="7863840" y="4114800"/>
            <a:ext cx="3566160" cy="365760"/>
          </a:xfrm>
          <a:prstGeom prst="rect">
            <a:avLst/>
          </a:prstGeom>
          <a:noFill/>
          <a:ln/>
        </p:spPr>
        <p:txBody>
          <a:bodyPr wrap="square" lIns="0" tIns="0" rIns="0" bIns="0" rtlCol="0" anchor="t"/>
          <a:lstStyle/>
          <a:p>
            <a:pPr indent="0" marL="0">
              <a:buNone/>
            </a:pPr>
            <a:r>
              <a:rPr lang="en-US" sz="2000" b="1" dirty="0">
                <a:solidFill>
                  <a:schemeClr val="accent6"/>
                </a:solidFill>
              </a:rPr>
              <a:t>Chỉ giữ 7.7% phương sai</a:t>
            </a:r>
            <a:endParaRPr lang="en-US" sz="2000" dirty="0"/>
          </a:p>
        </p:txBody>
      </p:sp>
      <p:sp>
        <p:nvSpPr>
          <p:cNvPr id="10" name="Text 6"/>
          <p:cNvSpPr txBox="1"/>
          <p:nvPr/>
        </p:nvSpPr>
        <p:spPr>
          <a:xfrm>
            <a:off x="7863840" y="4617720"/>
            <a:ext cx="3566160" cy="1280160"/>
          </a:xfrm>
          <a:prstGeom prst="rect">
            <a:avLst/>
          </a:prstGeom>
          <a:noFill/>
          <a:ln/>
        </p:spPr>
        <p:txBody>
          <a:bodyPr wrap="square" lIns="0" tIns="0" rIns="0" bIns="0" rtlCol="0" anchor="t"/>
          <a:lstStyle/>
          <a:p>
            <a:pPr indent="0" marL="0">
              <a:buNone/>
            </a:pPr>
            <a:r>
              <a:rPr lang="en-US" sz="1600" dirty="0">
                <a:solidFill>
                  <a:schemeClr val="tx1"/>
                </a:solidFill>
              </a:rPr>
              <a:t>LSA hợp để khám phá chủ đề, không dùng để phân loại sao.</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MiniBatchKMeans: chọn k = 6 cụm</a:t>
            </a:r>
            <a:endParaRPr lang="en-US" sz="3000" dirty="0"/>
          </a:p>
        </p:txBody>
      </p:sp>
      <p:graphicFrame>
        <p:nvGraphicFramePr>
          <p:cNvPr id="4" name="Chart 0" descr=""/>
          <p:cNvGraphicFramePr/>
          <p:nvPr/>
        </p:nvGraphicFramePr>
        <p:xfrm>
          <a:off x="548640" y="1463040"/>
          <a:ext cx="53949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463040"/>
          <a:ext cx="5422392" cy="3566160"/>
        </p:xfrm>
        <a:graphic xmlns:a="http://schemas.openxmlformats.org/drawingml/2006/main">
          <a:graphicData uri="http://schemas.openxmlformats.org/drawingml/2006/chart">
            <c:chart xmlns:c="http://schemas.openxmlformats.org/drawingml/2006/chart" r:id="rId2"/>
          </a:graphicData>
        </a:graphic>
      </p:graphicFrame>
      <p:sp>
        <p:nvSpPr>
          <p:cNvPr id="6" name="Card"/>
          <p:cNvSpPr/>
          <p:nvPr/>
        </p:nvSpPr>
        <p:spPr>
          <a:xfrm>
            <a:off x="548640" y="5212080"/>
            <a:ext cx="11091672" cy="868680"/>
          </a:xfrm>
          <a:prstGeom prst="roundRect">
            <a:avLst>
              <a:gd name="adj" fmla="val 10526"/>
            </a:avLst>
          </a:prstGeom>
          <a:solidFill>
            <a:schemeClr val="bg2"/>
          </a:solidFill>
          <a:ln/>
        </p:spPr>
      </p:sp>
      <p:sp>
        <p:nvSpPr>
          <p:cNvPr id="7" name="Text 2"/>
          <p:cNvSpPr txBox="1"/>
          <p:nvPr/>
        </p:nvSpPr>
        <p:spPr>
          <a:xfrm>
            <a:off x="822960" y="5212080"/>
            <a:ext cx="10543032" cy="868680"/>
          </a:xfrm>
          <a:prstGeom prst="rect">
            <a:avLst/>
          </a:prstGeom>
          <a:noFill/>
          <a:ln/>
        </p:spPr>
        <p:txBody>
          <a:bodyPr wrap="square" lIns="0" tIns="0" rIns="0" bIns="0" rtlCol="0" anchor="ctr"/>
          <a:lstStyle/>
          <a:p>
            <a:pPr indent="0" marL="0">
              <a:buNone/>
            </a:pPr>
            <a:r>
              <a:rPr lang="en-US" sz="1800" b="1" dirty="0">
                <a:solidFill>
                  <a:schemeClr val="tx1"/>
                </a:solidFill>
              </a:rPr>
              <a:t>Cụm 0 và 4 (38.3% dữ liệu) chủ yếu là review 1 sao, nên ưu tiên hỗ trợ đổi trả.</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Luật kết hợp: từ nào kéo theo mấy sao</a:t>
            </a:r>
            <a:endParaRPr lang="en-US" sz="3000" dirty="0"/>
          </a:p>
        </p:txBody>
      </p:sp>
      <p:sp>
        <p:nvSpPr>
          <p:cNvPr id="4" name="Text 1"/>
          <p:cNvSpPr txBox="1"/>
          <p:nvPr/>
        </p:nvSpPr>
        <p:spPr>
          <a:xfrm>
            <a:off x="548640" y="1508760"/>
            <a:ext cx="5394960" cy="411480"/>
          </a:xfrm>
          <a:prstGeom prst="rect">
            <a:avLst/>
          </a:prstGeom>
          <a:noFill/>
          <a:ln/>
        </p:spPr>
        <p:txBody>
          <a:bodyPr wrap="square" lIns="0" tIns="0" rIns="0" bIns="0" rtlCol="0" anchor="t"/>
          <a:lstStyle/>
          <a:p>
            <a:pPr indent="0" marL="0">
              <a:buNone/>
            </a:pPr>
            <a:r>
              <a:rPr lang="en-US" sz="2200" b="1" dirty="0">
                <a:solidFill>
                  <a:schemeClr val="accent3"/>
                </a:solidFill>
              </a:rPr>
              <a:t>Dẫn tới 1 sao</a:t>
            </a:r>
            <a:endParaRPr lang="en-US" sz="2200" dirty="0"/>
          </a:p>
        </p:txBody>
      </p:sp>
      <p:sp>
        <p:nvSpPr>
          <p:cNvPr id="5" name="Card"/>
          <p:cNvSpPr/>
          <p:nvPr/>
        </p:nvSpPr>
        <p:spPr>
          <a:xfrm>
            <a:off x="548640" y="2057400"/>
            <a:ext cx="5394960" cy="822960"/>
          </a:xfrm>
          <a:prstGeom prst="roundRect">
            <a:avLst>
              <a:gd name="adj" fmla="val 11111"/>
            </a:avLst>
          </a:prstGeom>
          <a:solidFill>
            <a:schemeClr val="bg2"/>
          </a:solidFill>
          <a:ln/>
        </p:spPr>
      </p:sp>
      <p:sp>
        <p:nvSpPr>
          <p:cNvPr id="6" name="Text 3"/>
          <p:cNvSpPr txBox="1"/>
          <p:nvPr/>
        </p:nvSpPr>
        <p:spPr>
          <a:xfrm>
            <a:off x="822960" y="2057400"/>
            <a:ext cx="3108960" cy="822960"/>
          </a:xfrm>
          <a:prstGeom prst="rect">
            <a:avLst/>
          </a:prstGeom>
          <a:noFill/>
          <a:ln/>
        </p:spPr>
        <p:txBody>
          <a:bodyPr wrap="square" lIns="0" tIns="0" rIns="0" bIns="0" rtlCol="0" anchor="ctr"/>
          <a:lstStyle/>
          <a:p>
            <a:pPr indent="0" marL="0">
              <a:buNone/>
            </a:pPr>
            <a:r>
              <a:rPr lang="en-US" sz="2000" b="1" dirty="0">
                <a:solidFill>
                  <a:schemeClr val="tx1"/>
                </a:solidFill>
              </a:rPr>
              <a:t>zero stars</a:t>
            </a:r>
            <a:endParaRPr lang="en-US" sz="2000" dirty="0"/>
          </a:p>
        </p:txBody>
      </p:sp>
      <p:sp>
        <p:nvSpPr>
          <p:cNvPr id="7" name="Text 4"/>
          <p:cNvSpPr txBox="1"/>
          <p:nvPr/>
        </p:nvSpPr>
        <p:spPr>
          <a:xfrm>
            <a:off x="3931920" y="2130552"/>
            <a:ext cx="1828800" cy="731520"/>
          </a:xfrm>
          <a:prstGeom prst="rect">
            <a:avLst/>
          </a:prstGeom>
          <a:noFill/>
          <a:ln/>
        </p:spPr>
        <p:txBody>
          <a:bodyPr wrap="square" lIns="0" tIns="0" rIns="0" bIns="0" rtlCol="0" anchor="ctr"/>
          <a:lstStyle/>
          <a:p>
            <a:pPr algn="r" indent="0" marL="0">
              <a:buNone/>
            </a:pPr>
            <a:r>
              <a:rPr lang="en-US" sz="2000" b="1" dirty="0">
                <a:solidFill>
                  <a:schemeClr val="accent6"/>
                </a:solidFill>
              </a:rPr>
              <a:t>Lift 4.81</a:t>
            </a:r>
            <a:endParaRPr lang="en-US" sz="1600" dirty="0"/>
          </a:p>
          <a:p>
            <a:pPr algn="r" indent="0" marL="0">
              <a:buNone/>
            </a:pPr>
            <a:r>
              <a:rPr lang="en-US" sz="1400" dirty="0">
                <a:solidFill>
                  <a:schemeClr val="accent2"/>
                </a:solidFill>
              </a:rPr>
              <a:t>Confidence 93.70%</a:t>
            </a:r>
            <a:endParaRPr lang="en-US" sz="1600" dirty="0"/>
          </a:p>
        </p:txBody>
      </p:sp>
      <p:sp>
        <p:nvSpPr>
          <p:cNvPr id="8" name="Card"/>
          <p:cNvSpPr/>
          <p:nvPr/>
        </p:nvSpPr>
        <p:spPr>
          <a:xfrm>
            <a:off x="548640" y="3017520"/>
            <a:ext cx="5394960" cy="822960"/>
          </a:xfrm>
          <a:prstGeom prst="roundRect">
            <a:avLst>
              <a:gd name="adj" fmla="val 11111"/>
            </a:avLst>
          </a:prstGeom>
          <a:solidFill>
            <a:schemeClr val="bg2"/>
          </a:solidFill>
          <a:ln/>
        </p:spPr>
      </p:sp>
      <p:sp>
        <p:nvSpPr>
          <p:cNvPr id="9" name="Text 6"/>
          <p:cNvSpPr txBox="1"/>
          <p:nvPr/>
        </p:nvSpPr>
        <p:spPr>
          <a:xfrm>
            <a:off x="822960" y="3017520"/>
            <a:ext cx="3108960" cy="822960"/>
          </a:xfrm>
          <a:prstGeom prst="rect">
            <a:avLst/>
          </a:prstGeom>
          <a:noFill/>
          <a:ln/>
        </p:spPr>
        <p:txBody>
          <a:bodyPr wrap="square" lIns="0" tIns="0" rIns="0" bIns="0" rtlCol="0" anchor="ctr"/>
          <a:lstStyle/>
          <a:p>
            <a:pPr indent="0" marL="0">
              <a:buNone/>
            </a:pPr>
            <a:r>
              <a:rPr lang="en-US" sz="2000" b="1" dirty="0">
                <a:solidFill>
                  <a:schemeClr val="tx1"/>
                </a:solidFill>
              </a:rPr>
              <a:t>worst movies</a:t>
            </a:r>
            <a:endParaRPr lang="en-US" sz="2000" dirty="0"/>
          </a:p>
        </p:txBody>
      </p:sp>
      <p:sp>
        <p:nvSpPr>
          <p:cNvPr id="10" name="Text 7"/>
          <p:cNvSpPr txBox="1"/>
          <p:nvPr/>
        </p:nvSpPr>
        <p:spPr>
          <a:xfrm>
            <a:off x="3931920" y="3090672"/>
            <a:ext cx="1828800" cy="731520"/>
          </a:xfrm>
          <a:prstGeom prst="rect">
            <a:avLst/>
          </a:prstGeom>
          <a:noFill/>
          <a:ln/>
        </p:spPr>
        <p:txBody>
          <a:bodyPr wrap="square" lIns="0" tIns="0" rIns="0" bIns="0" rtlCol="0" anchor="ctr"/>
          <a:lstStyle/>
          <a:p>
            <a:pPr algn="r" indent="0" marL="0">
              <a:buNone/>
            </a:pPr>
            <a:r>
              <a:rPr lang="en-US" sz="2000" b="1" dirty="0">
                <a:solidFill>
                  <a:schemeClr val="accent6"/>
                </a:solidFill>
              </a:rPr>
              <a:t>Lift 4.49</a:t>
            </a:r>
            <a:endParaRPr lang="en-US" sz="1600" dirty="0"/>
          </a:p>
          <a:p>
            <a:pPr algn="r" indent="0" marL="0">
              <a:buNone/>
            </a:pPr>
            <a:r>
              <a:rPr lang="en-US" sz="1400" dirty="0">
                <a:solidFill>
                  <a:schemeClr val="accent2"/>
                </a:solidFill>
              </a:rPr>
              <a:t>Confidence 87.38%</a:t>
            </a:r>
            <a:endParaRPr lang="en-US" sz="1600" dirty="0"/>
          </a:p>
        </p:txBody>
      </p:sp>
      <p:sp>
        <p:nvSpPr>
          <p:cNvPr id="11" name="Card"/>
          <p:cNvSpPr/>
          <p:nvPr/>
        </p:nvSpPr>
        <p:spPr>
          <a:xfrm>
            <a:off x="548640" y="3977640"/>
            <a:ext cx="5394960" cy="822960"/>
          </a:xfrm>
          <a:prstGeom prst="roundRect">
            <a:avLst>
              <a:gd name="adj" fmla="val 11111"/>
            </a:avLst>
          </a:prstGeom>
          <a:solidFill>
            <a:schemeClr val="bg2"/>
          </a:solidFill>
          <a:ln/>
        </p:spPr>
      </p:sp>
      <p:sp>
        <p:nvSpPr>
          <p:cNvPr id="12" name="Text 9"/>
          <p:cNvSpPr txBox="1"/>
          <p:nvPr/>
        </p:nvSpPr>
        <p:spPr>
          <a:xfrm>
            <a:off x="822960" y="3977640"/>
            <a:ext cx="3108960" cy="822960"/>
          </a:xfrm>
          <a:prstGeom prst="rect">
            <a:avLst/>
          </a:prstGeom>
          <a:noFill/>
          <a:ln/>
        </p:spPr>
        <p:txBody>
          <a:bodyPr wrap="square" lIns="0" tIns="0" rIns="0" bIns="0" rtlCol="0" anchor="ctr"/>
          <a:lstStyle/>
          <a:p>
            <a:pPr indent="0" marL="0">
              <a:buNone/>
            </a:pPr>
            <a:r>
              <a:rPr lang="en-US" sz="2000" b="1" dirty="0">
                <a:solidFill>
                  <a:schemeClr val="tx1"/>
                </a:solidFill>
              </a:rPr>
              <a:t>piece junk</a:t>
            </a:r>
            <a:endParaRPr lang="en-US" sz="2000" dirty="0"/>
          </a:p>
        </p:txBody>
      </p:sp>
      <p:sp>
        <p:nvSpPr>
          <p:cNvPr id="13" name="Text 10"/>
          <p:cNvSpPr txBox="1"/>
          <p:nvPr/>
        </p:nvSpPr>
        <p:spPr>
          <a:xfrm>
            <a:off x="3931920" y="4050792"/>
            <a:ext cx="1828800" cy="731520"/>
          </a:xfrm>
          <a:prstGeom prst="rect">
            <a:avLst/>
          </a:prstGeom>
          <a:noFill/>
          <a:ln/>
        </p:spPr>
        <p:txBody>
          <a:bodyPr wrap="square" lIns="0" tIns="0" rIns="0" bIns="0" rtlCol="0" anchor="ctr"/>
          <a:lstStyle/>
          <a:p>
            <a:pPr algn="r" indent="0" marL="0">
              <a:buNone/>
            </a:pPr>
            <a:r>
              <a:rPr lang="en-US" sz="2000" b="1" dirty="0">
                <a:solidFill>
                  <a:schemeClr val="accent6"/>
                </a:solidFill>
              </a:rPr>
              <a:t>Lift 4.44</a:t>
            </a:r>
            <a:endParaRPr lang="en-US" sz="1600" dirty="0"/>
          </a:p>
          <a:p>
            <a:pPr algn="r" indent="0" marL="0">
              <a:buNone/>
            </a:pPr>
            <a:r>
              <a:rPr lang="en-US" sz="1400" dirty="0">
                <a:solidFill>
                  <a:schemeClr val="accent2"/>
                </a:solidFill>
              </a:rPr>
              <a:t>Confidence 86.50%</a:t>
            </a:r>
            <a:endParaRPr lang="en-US" sz="1600" dirty="0"/>
          </a:p>
        </p:txBody>
      </p:sp>
      <p:sp>
        <p:nvSpPr>
          <p:cNvPr id="14" name="Text 11"/>
          <p:cNvSpPr txBox="1"/>
          <p:nvPr/>
        </p:nvSpPr>
        <p:spPr>
          <a:xfrm>
            <a:off x="6245352" y="1508760"/>
            <a:ext cx="5394960" cy="411480"/>
          </a:xfrm>
          <a:prstGeom prst="rect">
            <a:avLst/>
          </a:prstGeom>
          <a:noFill/>
          <a:ln/>
        </p:spPr>
        <p:txBody>
          <a:bodyPr wrap="square" lIns="0" tIns="0" rIns="0" bIns="0" rtlCol="0" anchor="t"/>
          <a:lstStyle/>
          <a:p>
            <a:pPr indent="0" marL="0">
              <a:buNone/>
            </a:pPr>
            <a:r>
              <a:rPr lang="en-US" sz="2200" b="1" dirty="0">
                <a:solidFill>
                  <a:schemeClr val="accent4"/>
                </a:solidFill>
              </a:rPr>
              <a:t>Dẫn tới 5 sao</a:t>
            </a:r>
            <a:endParaRPr lang="en-US" sz="2200" dirty="0"/>
          </a:p>
        </p:txBody>
      </p:sp>
      <p:sp>
        <p:nvSpPr>
          <p:cNvPr id="15" name="Card"/>
          <p:cNvSpPr/>
          <p:nvPr/>
        </p:nvSpPr>
        <p:spPr>
          <a:xfrm>
            <a:off x="6245352" y="2057400"/>
            <a:ext cx="5394960" cy="822960"/>
          </a:xfrm>
          <a:prstGeom prst="roundRect">
            <a:avLst>
              <a:gd name="adj" fmla="val 11111"/>
            </a:avLst>
          </a:prstGeom>
          <a:solidFill>
            <a:schemeClr val="bg2"/>
          </a:solidFill>
          <a:ln/>
        </p:spPr>
      </p:sp>
      <p:sp>
        <p:nvSpPr>
          <p:cNvPr id="16" name="Text 13"/>
          <p:cNvSpPr txBox="1"/>
          <p:nvPr/>
        </p:nvSpPr>
        <p:spPr>
          <a:xfrm>
            <a:off x="6519672" y="2057400"/>
            <a:ext cx="3108960" cy="822960"/>
          </a:xfrm>
          <a:prstGeom prst="rect">
            <a:avLst/>
          </a:prstGeom>
          <a:noFill/>
          <a:ln/>
        </p:spPr>
        <p:txBody>
          <a:bodyPr wrap="square" lIns="0" tIns="0" rIns="0" bIns="0" rtlCol="0" anchor="ctr"/>
          <a:lstStyle/>
          <a:p>
            <a:pPr indent="0" marL="0">
              <a:buNone/>
            </a:pPr>
            <a:r>
              <a:rPr lang="en-US" sz="2000" b="1" dirty="0">
                <a:solidFill>
                  <a:schemeClr val="tx1"/>
                </a:solidFill>
              </a:rPr>
              <a:t>excellent exclam</a:t>
            </a:r>
            <a:endParaRPr lang="en-US" sz="2000" dirty="0"/>
          </a:p>
        </p:txBody>
      </p:sp>
      <p:sp>
        <p:nvSpPr>
          <p:cNvPr id="17" name="Text 14"/>
          <p:cNvSpPr txBox="1"/>
          <p:nvPr/>
        </p:nvSpPr>
        <p:spPr>
          <a:xfrm>
            <a:off x="9628632" y="2130552"/>
            <a:ext cx="1828800" cy="731520"/>
          </a:xfrm>
          <a:prstGeom prst="rect">
            <a:avLst/>
          </a:prstGeom>
          <a:noFill/>
          <a:ln/>
        </p:spPr>
        <p:txBody>
          <a:bodyPr wrap="square" lIns="0" tIns="0" rIns="0" bIns="0" rtlCol="0" anchor="ctr"/>
          <a:lstStyle/>
          <a:p>
            <a:pPr algn="r" indent="0" marL="0">
              <a:buNone/>
            </a:pPr>
            <a:r>
              <a:rPr lang="en-US" sz="2000" b="1" dirty="0">
                <a:solidFill>
                  <a:schemeClr val="accent6"/>
                </a:solidFill>
              </a:rPr>
              <a:t>Lift 3.67</a:t>
            </a:r>
            <a:endParaRPr lang="en-US" sz="1600" dirty="0"/>
          </a:p>
          <a:p>
            <a:pPr algn="r" indent="0" marL="0">
              <a:buNone/>
            </a:pPr>
            <a:r>
              <a:rPr lang="en-US" sz="1400" dirty="0">
                <a:solidFill>
                  <a:schemeClr val="accent2"/>
                </a:solidFill>
              </a:rPr>
              <a:t>Confidence 74.44%</a:t>
            </a:r>
            <a:endParaRPr lang="en-US" sz="1600" dirty="0"/>
          </a:p>
        </p:txBody>
      </p:sp>
      <p:sp>
        <p:nvSpPr>
          <p:cNvPr id="18" name="Card"/>
          <p:cNvSpPr/>
          <p:nvPr/>
        </p:nvSpPr>
        <p:spPr>
          <a:xfrm>
            <a:off x="6245352" y="3017520"/>
            <a:ext cx="5394960" cy="822960"/>
          </a:xfrm>
          <a:prstGeom prst="roundRect">
            <a:avLst>
              <a:gd name="adj" fmla="val 11111"/>
            </a:avLst>
          </a:prstGeom>
          <a:solidFill>
            <a:schemeClr val="bg2"/>
          </a:solidFill>
          <a:ln/>
        </p:spPr>
      </p:sp>
      <p:sp>
        <p:nvSpPr>
          <p:cNvPr id="19" name="Text 16"/>
          <p:cNvSpPr txBox="1"/>
          <p:nvPr/>
        </p:nvSpPr>
        <p:spPr>
          <a:xfrm>
            <a:off x="6519672" y="3017520"/>
            <a:ext cx="3108960" cy="822960"/>
          </a:xfrm>
          <a:prstGeom prst="rect">
            <a:avLst/>
          </a:prstGeom>
          <a:noFill/>
          <a:ln/>
        </p:spPr>
        <p:txBody>
          <a:bodyPr wrap="square" lIns="0" tIns="0" rIns="0" bIns="0" rtlCol="0" anchor="ctr"/>
          <a:lstStyle/>
          <a:p>
            <a:pPr indent="0" marL="0">
              <a:buNone/>
            </a:pPr>
            <a:r>
              <a:rPr lang="en-US" sz="2000" b="1" dirty="0">
                <a:solidFill>
                  <a:schemeClr val="tx1"/>
                </a:solidFill>
              </a:rPr>
              <a:t>fantastic exclam</a:t>
            </a:r>
            <a:endParaRPr lang="en-US" sz="2000" dirty="0"/>
          </a:p>
        </p:txBody>
      </p:sp>
      <p:sp>
        <p:nvSpPr>
          <p:cNvPr id="20" name="Text 17"/>
          <p:cNvSpPr txBox="1"/>
          <p:nvPr/>
        </p:nvSpPr>
        <p:spPr>
          <a:xfrm>
            <a:off x="9628632" y="3090672"/>
            <a:ext cx="1828800" cy="731520"/>
          </a:xfrm>
          <a:prstGeom prst="rect">
            <a:avLst/>
          </a:prstGeom>
          <a:noFill/>
          <a:ln/>
        </p:spPr>
        <p:txBody>
          <a:bodyPr wrap="square" lIns="0" tIns="0" rIns="0" bIns="0" rtlCol="0" anchor="ctr"/>
          <a:lstStyle/>
          <a:p>
            <a:pPr algn="r" indent="0" marL="0">
              <a:buNone/>
            </a:pPr>
            <a:r>
              <a:rPr lang="en-US" sz="2000" b="1" dirty="0">
                <a:solidFill>
                  <a:schemeClr val="accent6"/>
                </a:solidFill>
              </a:rPr>
              <a:t>Lift 3.56</a:t>
            </a:r>
            <a:endParaRPr lang="en-US" sz="1600" dirty="0"/>
          </a:p>
          <a:p>
            <a:pPr algn="r" indent="0" marL="0">
              <a:buNone/>
            </a:pPr>
            <a:r>
              <a:rPr lang="en-US" sz="1400" dirty="0">
                <a:solidFill>
                  <a:schemeClr val="accent2"/>
                </a:solidFill>
              </a:rPr>
              <a:t>Confidence 72.16%</a:t>
            </a:r>
            <a:endParaRPr lang="en-US" sz="1600" dirty="0"/>
          </a:p>
        </p:txBody>
      </p:sp>
      <p:sp>
        <p:nvSpPr>
          <p:cNvPr id="21" name="Card"/>
          <p:cNvSpPr/>
          <p:nvPr/>
        </p:nvSpPr>
        <p:spPr>
          <a:xfrm>
            <a:off x="6245352" y="3977640"/>
            <a:ext cx="5394960" cy="822960"/>
          </a:xfrm>
          <a:prstGeom prst="roundRect">
            <a:avLst>
              <a:gd name="adj" fmla="val 11111"/>
            </a:avLst>
          </a:prstGeom>
          <a:solidFill>
            <a:schemeClr val="bg2"/>
          </a:solidFill>
          <a:ln/>
        </p:spPr>
      </p:sp>
      <p:sp>
        <p:nvSpPr>
          <p:cNvPr id="22" name="Text 19"/>
          <p:cNvSpPr txBox="1"/>
          <p:nvPr/>
        </p:nvSpPr>
        <p:spPr>
          <a:xfrm>
            <a:off x="6519672" y="3977640"/>
            <a:ext cx="3108960" cy="822960"/>
          </a:xfrm>
          <a:prstGeom prst="rect">
            <a:avLst/>
          </a:prstGeom>
          <a:noFill/>
          <a:ln/>
        </p:spPr>
        <p:txBody>
          <a:bodyPr wrap="square" lIns="0" tIns="0" rIns="0" bIns="0" rtlCol="0" anchor="ctr"/>
          <a:lstStyle/>
          <a:p>
            <a:pPr indent="0" marL="0">
              <a:buNone/>
            </a:pPr>
            <a:r>
              <a:rPr lang="en-US" sz="2000" b="1" dirty="0">
                <a:solidFill>
                  <a:schemeClr val="tx1"/>
                </a:solidFill>
              </a:rPr>
              <a:t>exclam highly</a:t>
            </a:r>
            <a:endParaRPr lang="en-US" sz="2000" dirty="0"/>
          </a:p>
        </p:txBody>
      </p:sp>
      <p:sp>
        <p:nvSpPr>
          <p:cNvPr id="23" name="Text 20"/>
          <p:cNvSpPr txBox="1"/>
          <p:nvPr/>
        </p:nvSpPr>
        <p:spPr>
          <a:xfrm>
            <a:off x="9628632" y="4050792"/>
            <a:ext cx="1828800" cy="731520"/>
          </a:xfrm>
          <a:prstGeom prst="rect">
            <a:avLst/>
          </a:prstGeom>
          <a:noFill/>
          <a:ln/>
        </p:spPr>
        <p:txBody>
          <a:bodyPr wrap="square" lIns="0" tIns="0" rIns="0" bIns="0" rtlCol="0" anchor="ctr"/>
          <a:lstStyle/>
          <a:p>
            <a:pPr algn="r" indent="0" marL="0">
              <a:buNone/>
            </a:pPr>
            <a:r>
              <a:rPr lang="en-US" sz="2000" b="1" dirty="0">
                <a:solidFill>
                  <a:schemeClr val="accent6"/>
                </a:solidFill>
              </a:rPr>
              <a:t>Lift 3.55</a:t>
            </a:r>
            <a:endParaRPr lang="en-US" sz="1600" dirty="0"/>
          </a:p>
          <a:p>
            <a:pPr algn="r" indent="0" marL="0">
              <a:buNone/>
            </a:pPr>
            <a:r>
              <a:rPr lang="en-US" sz="1400" dirty="0">
                <a:solidFill>
                  <a:schemeClr val="accent2"/>
                </a:solidFill>
              </a:rPr>
              <a:t>Confidence 71.90%</a:t>
            </a:r>
            <a:endParaRPr lang="en-US" sz="1600" dirty="0"/>
          </a:p>
        </p:txBody>
      </p:sp>
      <p:sp>
        <p:nvSpPr>
          <p:cNvPr id="24" name="Card"/>
          <p:cNvSpPr/>
          <p:nvPr/>
        </p:nvSpPr>
        <p:spPr>
          <a:xfrm>
            <a:off x="548640" y="5074920"/>
            <a:ext cx="11091672" cy="1005840"/>
          </a:xfrm>
          <a:prstGeom prst="roundRect">
            <a:avLst>
              <a:gd name="adj" fmla="val 9091"/>
            </a:avLst>
          </a:prstGeom>
          <a:solidFill>
            <a:schemeClr val="bg2"/>
          </a:solidFill>
          <a:ln/>
        </p:spPr>
      </p:sp>
      <p:sp>
        <p:nvSpPr>
          <p:cNvPr id="25" name="Text 22"/>
          <p:cNvSpPr txBox="1"/>
          <p:nvPr/>
        </p:nvSpPr>
        <p:spPr>
          <a:xfrm>
            <a:off x="822960" y="5074920"/>
            <a:ext cx="10543032" cy="1005840"/>
          </a:xfrm>
          <a:prstGeom prst="rect">
            <a:avLst/>
          </a:prstGeom>
          <a:noFill/>
          <a:ln/>
        </p:spPr>
        <p:txBody>
          <a:bodyPr wrap="square" lIns="0" tIns="0" rIns="0" bIns="0" rtlCol="0" anchor="ctr"/>
          <a:lstStyle/>
          <a:p>
            <a:pPr indent="0" marL="0">
              <a:buNone/>
            </a:pPr>
            <a:r>
              <a:rPr lang="en-US" sz="1600" dirty="0">
                <a:solidFill>
                  <a:schemeClr val="tx1"/>
                </a:solidFill>
              </a:rPr>
              <a:t>Lift 4.81 nghĩa là khi review có “zero stars”, khả năng là 1 sao cao gấp 4.81 lần mức ngẫu nhiên 20%. 9 trong 10 luật mạnh nhất của 5 sao chứa token exclam.</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“not” không phải lúc nào cũng tiêu cực</a:t>
            </a:r>
            <a:endParaRPr lang="en-US" sz="3000" dirty="0"/>
          </a:p>
        </p:txBody>
      </p:sp>
      <p:graphicFrame>
        <p:nvGraphicFramePr>
          <p:cNvPr id="4" name="Chart 0" descr=""/>
          <p:cNvGraphicFramePr/>
          <p:nvPr/>
        </p:nvGraphicFramePr>
        <p:xfrm>
          <a:off x="548640" y="146304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772400" y="1554480"/>
            <a:ext cx="3867912" cy="2240280"/>
          </a:xfrm>
          <a:prstGeom prst="roundRect">
            <a:avLst>
              <a:gd name="adj" fmla="val 4082"/>
            </a:avLst>
          </a:prstGeom>
          <a:solidFill>
            <a:schemeClr val="bg2"/>
          </a:solidFill>
          <a:ln/>
        </p:spPr>
      </p:sp>
      <p:sp>
        <p:nvSpPr>
          <p:cNvPr id="6" name="Text 2"/>
          <p:cNvSpPr txBox="1"/>
          <p:nvPr/>
        </p:nvSpPr>
        <p:spPr>
          <a:xfrm>
            <a:off x="8046720" y="1691640"/>
            <a:ext cx="3383280" cy="914400"/>
          </a:xfrm>
          <a:prstGeom prst="rect">
            <a:avLst/>
          </a:prstGeom>
          <a:noFill/>
          <a:ln/>
        </p:spPr>
        <p:txBody>
          <a:bodyPr wrap="square" lIns="0" tIns="0" rIns="0" bIns="0" rtlCol="0" anchor="ctr"/>
          <a:lstStyle/>
          <a:p>
            <a:pPr indent="0" marL="0">
              <a:buNone/>
            </a:pPr>
            <a:r>
              <a:rPr lang="en-US" sz="4800" b="1" dirty="0">
                <a:solidFill>
                  <a:schemeClr val="accent4"/>
                </a:solidFill>
              </a:rPr>
              <a:t>49.3%</a:t>
            </a:r>
            <a:endParaRPr lang="en-US" sz="4800" dirty="0"/>
          </a:p>
        </p:txBody>
      </p:sp>
      <p:sp>
        <p:nvSpPr>
          <p:cNvPr id="7" name="Text 3"/>
          <p:cNvSpPr txBox="1"/>
          <p:nvPr/>
        </p:nvSpPr>
        <p:spPr>
          <a:xfrm>
            <a:off x="8046720" y="2743200"/>
            <a:ext cx="3383280" cy="914400"/>
          </a:xfrm>
          <a:prstGeom prst="rect">
            <a:avLst/>
          </a:prstGeom>
          <a:noFill/>
          <a:ln/>
        </p:spPr>
        <p:txBody>
          <a:bodyPr wrap="square" lIns="0" tIns="0" rIns="0" bIns="0" rtlCol="0" anchor="t"/>
          <a:lstStyle/>
          <a:p>
            <a:pPr indent="0" marL="0">
              <a:buNone/>
            </a:pPr>
            <a:r>
              <a:rPr lang="en-US" sz="1600" dirty="0">
                <a:solidFill>
                  <a:schemeClr val="tx1"/>
                </a:solidFill>
              </a:rPr>
              <a:t>“not bad” rơi vào 3 sao, gần như trung lập</a:t>
            </a:r>
            <a:endParaRPr lang="en-US" sz="1600" dirty="0"/>
          </a:p>
        </p:txBody>
      </p:sp>
      <p:sp>
        <p:nvSpPr>
          <p:cNvPr id="8" name="Card"/>
          <p:cNvSpPr/>
          <p:nvPr/>
        </p:nvSpPr>
        <p:spPr>
          <a:xfrm>
            <a:off x="7772400" y="3977640"/>
            <a:ext cx="3867912" cy="2148840"/>
          </a:xfrm>
          <a:prstGeom prst="roundRect">
            <a:avLst>
              <a:gd name="adj" fmla="val 4255"/>
            </a:avLst>
          </a:prstGeom>
          <a:solidFill>
            <a:schemeClr val="bg2"/>
          </a:solidFill>
          <a:ln/>
        </p:spPr>
      </p:sp>
      <p:sp>
        <p:nvSpPr>
          <p:cNvPr id="9" name="Text 5"/>
          <p:cNvSpPr txBox="1"/>
          <p:nvPr/>
        </p:nvSpPr>
        <p:spPr>
          <a:xfrm>
            <a:off x="8046720" y="4114800"/>
            <a:ext cx="3383280" cy="914400"/>
          </a:xfrm>
          <a:prstGeom prst="rect">
            <a:avLst/>
          </a:prstGeom>
          <a:noFill/>
          <a:ln/>
        </p:spPr>
        <p:txBody>
          <a:bodyPr wrap="square" lIns="0" tIns="0" rIns="0" bIns="0" rtlCol="0" anchor="ctr"/>
          <a:lstStyle/>
          <a:p>
            <a:pPr indent="0" marL="0">
              <a:buNone/>
            </a:pPr>
            <a:r>
              <a:rPr lang="en-US" sz="4800" b="1" dirty="0">
                <a:solidFill>
                  <a:schemeClr val="accent3"/>
                </a:solidFill>
              </a:rPr>
              <a:t>81.6%</a:t>
            </a:r>
            <a:endParaRPr lang="en-US" sz="4800" dirty="0"/>
          </a:p>
        </p:txBody>
      </p:sp>
      <p:sp>
        <p:nvSpPr>
          <p:cNvPr id="10" name="Text 6"/>
          <p:cNvSpPr txBox="1"/>
          <p:nvPr/>
        </p:nvSpPr>
        <p:spPr>
          <a:xfrm>
            <a:off x="8046720" y="5166360"/>
            <a:ext cx="3383280" cy="914400"/>
          </a:xfrm>
          <a:prstGeom prst="rect">
            <a:avLst/>
          </a:prstGeom>
          <a:noFill/>
          <a:ln/>
        </p:spPr>
        <p:txBody>
          <a:bodyPr wrap="square" lIns="0" tIns="0" rIns="0" bIns="0" rtlCol="0" anchor="t"/>
          <a:lstStyle/>
          <a:p>
            <a:pPr indent="0" marL="0">
              <a:buNone/>
            </a:pPr>
            <a:r>
              <a:rPr lang="en-US" sz="1600" dirty="0">
                <a:solidFill>
                  <a:schemeClr val="tx1"/>
                </a:solidFill>
              </a:rPr>
              <a:t>“not buy” rơi vào 1 đến 2 sao, rất tiêu cực</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Ba mô hình và cách chọn alpha</a:t>
            </a:r>
            <a:endParaRPr lang="en-US" sz="3000" dirty="0"/>
          </a:p>
        </p:txBody>
      </p:sp>
      <p:graphicFrame>
        <p:nvGraphicFramePr>
          <p:cNvPr id="4" name="Chart 0" descr=""/>
          <p:cNvGraphicFramePr/>
          <p:nvPr/>
        </p:nvGraphicFramePr>
        <p:xfrm>
          <a:off x="548640" y="146304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440680"/>
            <a:ext cx="6583680" cy="640080"/>
          </a:xfrm>
          <a:prstGeom prst="rect">
            <a:avLst/>
          </a:prstGeom>
          <a:noFill/>
          <a:ln/>
        </p:spPr>
        <p:txBody>
          <a:bodyPr wrap="square" lIns="0" tIns="0" rIns="0" bIns="0" rtlCol="0" anchor="t"/>
          <a:lstStyle/>
          <a:p>
            <a:pPr indent="0" marL="0">
              <a:buNone/>
            </a:pPr>
            <a:r>
              <a:rPr lang="en-US" sz="1400" dirty="0">
                <a:solidFill>
                  <a:schemeClr val="accent2"/>
                </a:solidFill>
              </a:rPr>
              <a:t>Alpha chọn trên tập kiểm định, không dùng tập test để tránh rò rỉ dữ liệu.</a:t>
            </a:r>
            <a:endParaRPr lang="en-US" sz="1400" dirty="0"/>
          </a:p>
        </p:txBody>
      </p:sp>
      <p:sp>
        <p:nvSpPr>
          <p:cNvPr id="6" name="Card"/>
          <p:cNvSpPr/>
          <p:nvPr/>
        </p:nvSpPr>
        <p:spPr>
          <a:xfrm>
            <a:off x="7406640" y="1554480"/>
            <a:ext cx="4233672" cy="1371600"/>
          </a:xfrm>
          <a:prstGeom prst="roundRect">
            <a:avLst>
              <a:gd name="adj" fmla="val 6667"/>
            </a:avLst>
          </a:prstGeom>
          <a:solidFill>
            <a:schemeClr val="bg2"/>
          </a:solidFill>
          <a:ln/>
        </p:spPr>
      </p:sp>
      <p:sp>
        <p:nvSpPr>
          <p:cNvPr id="7" name="Text 3"/>
          <p:cNvSpPr txBox="1"/>
          <p:nvPr/>
        </p:nvSpPr>
        <p:spPr>
          <a:xfrm>
            <a:off x="7680960" y="1783080"/>
            <a:ext cx="3749040" cy="365760"/>
          </a:xfrm>
          <a:prstGeom prst="rect">
            <a:avLst/>
          </a:prstGeom>
          <a:noFill/>
          <a:ln/>
        </p:spPr>
        <p:txBody>
          <a:bodyPr wrap="square" lIns="0" tIns="0" rIns="0" bIns="0" rtlCol="0" anchor="t"/>
          <a:lstStyle/>
          <a:p>
            <a:pPr indent="0" marL="0">
              <a:buNone/>
            </a:pPr>
            <a:r>
              <a:rPr lang="en-US" sz="2000" b="1" dirty="0">
                <a:solidFill>
                  <a:schemeClr val="tx1"/>
                </a:solidFill>
              </a:rPr>
              <a:t>Complement NB</a:t>
            </a:r>
            <a:endParaRPr lang="en-US" sz="2000" dirty="0"/>
          </a:p>
        </p:txBody>
      </p:sp>
      <p:sp>
        <p:nvSpPr>
          <p:cNvPr id="8" name="Text 4"/>
          <p:cNvSpPr txBox="1"/>
          <p:nvPr/>
        </p:nvSpPr>
        <p:spPr>
          <a:xfrm>
            <a:off x="7680960" y="2286000"/>
            <a:ext cx="3749040" cy="365760"/>
          </a:xfrm>
          <a:prstGeom prst="rect">
            <a:avLst/>
          </a:prstGeom>
          <a:noFill/>
          <a:ln/>
        </p:spPr>
        <p:txBody>
          <a:bodyPr wrap="square" lIns="0" tIns="0" rIns="0" bIns="0" rtlCol="0" anchor="t"/>
          <a:lstStyle/>
          <a:p>
            <a:pPr indent="0" marL="0">
              <a:buNone/>
            </a:pPr>
            <a:r>
              <a:rPr lang="en-US" sz="1600" dirty="0">
                <a:solidFill>
                  <a:schemeClr val="tx1"/>
                </a:solidFill>
              </a:rPr>
              <a:t>Alpha 1.0, Macro F1 47.00%</a:t>
            </a:r>
            <a:endParaRPr lang="en-US" sz="1600" dirty="0"/>
          </a:p>
        </p:txBody>
      </p:sp>
      <p:sp>
        <p:nvSpPr>
          <p:cNvPr id="9" name="Card"/>
          <p:cNvSpPr/>
          <p:nvPr/>
        </p:nvSpPr>
        <p:spPr>
          <a:xfrm>
            <a:off x="7406640" y="3108960"/>
            <a:ext cx="4233672" cy="1371600"/>
          </a:xfrm>
          <a:prstGeom prst="roundRect">
            <a:avLst>
              <a:gd name="adj" fmla="val 6667"/>
            </a:avLst>
          </a:prstGeom>
          <a:solidFill>
            <a:schemeClr val="tx1"/>
          </a:solidFill>
          <a:ln/>
        </p:spPr>
      </p:sp>
      <p:sp>
        <p:nvSpPr>
          <p:cNvPr id="10" name="Text 6"/>
          <p:cNvSpPr txBox="1"/>
          <p:nvPr/>
        </p:nvSpPr>
        <p:spPr>
          <a:xfrm>
            <a:off x="7680960" y="3337560"/>
            <a:ext cx="3749040" cy="365760"/>
          </a:xfrm>
          <a:prstGeom prst="rect">
            <a:avLst/>
          </a:prstGeom>
          <a:noFill/>
          <a:ln/>
        </p:spPr>
        <p:txBody>
          <a:bodyPr wrap="square" lIns="0" tIns="0" rIns="0" bIns="0" rtlCol="0" anchor="t"/>
          <a:lstStyle/>
          <a:p>
            <a:pPr indent="0" marL="0">
              <a:buNone/>
            </a:pPr>
            <a:r>
              <a:rPr lang="en-US" sz="2000" b="1" dirty="0">
                <a:solidFill>
                  <a:schemeClr val="accent1"/>
                </a:solidFill>
              </a:rPr>
              <a:t>SGD Logistic Regression</a:t>
            </a:r>
            <a:endParaRPr lang="en-US" sz="2000" dirty="0"/>
          </a:p>
        </p:txBody>
      </p:sp>
      <p:sp>
        <p:nvSpPr>
          <p:cNvPr id="11" name="Text 7"/>
          <p:cNvSpPr txBox="1"/>
          <p:nvPr/>
        </p:nvSpPr>
        <p:spPr>
          <a:xfrm>
            <a:off x="7680960" y="3840480"/>
            <a:ext cx="3749040" cy="365760"/>
          </a:xfrm>
          <a:prstGeom prst="rect">
            <a:avLst/>
          </a:prstGeom>
          <a:noFill/>
          <a:ln/>
        </p:spPr>
        <p:txBody>
          <a:bodyPr wrap="square" lIns="0" tIns="0" rIns="0" bIns="0" rtlCol="0" anchor="t"/>
          <a:lstStyle/>
          <a:p>
            <a:pPr indent="0" marL="0">
              <a:buNone/>
            </a:pPr>
            <a:r>
              <a:rPr lang="en-US" sz="1600" dirty="0">
                <a:solidFill>
                  <a:schemeClr val="bg1"/>
                </a:solidFill>
              </a:rPr>
              <a:t>Alpha 1e-5, Macro F1 52.44%</a:t>
            </a:r>
            <a:endParaRPr lang="en-US" sz="1600" dirty="0"/>
          </a:p>
        </p:txBody>
      </p:sp>
      <p:sp>
        <p:nvSpPr>
          <p:cNvPr id="12" name="Card"/>
          <p:cNvSpPr/>
          <p:nvPr/>
        </p:nvSpPr>
        <p:spPr>
          <a:xfrm>
            <a:off x="7406640" y="4663440"/>
            <a:ext cx="4233672" cy="1371600"/>
          </a:xfrm>
          <a:prstGeom prst="roundRect">
            <a:avLst>
              <a:gd name="adj" fmla="val 6667"/>
            </a:avLst>
          </a:prstGeom>
          <a:solidFill>
            <a:schemeClr val="bg2"/>
          </a:solidFill>
          <a:ln/>
        </p:spPr>
      </p:sp>
      <p:sp>
        <p:nvSpPr>
          <p:cNvPr id="13" name="Text 9"/>
          <p:cNvSpPr txBox="1"/>
          <p:nvPr/>
        </p:nvSpPr>
        <p:spPr>
          <a:xfrm>
            <a:off x="7680960" y="4892040"/>
            <a:ext cx="3749040" cy="365760"/>
          </a:xfrm>
          <a:prstGeom prst="rect">
            <a:avLst/>
          </a:prstGeom>
          <a:noFill/>
          <a:ln/>
        </p:spPr>
        <p:txBody>
          <a:bodyPr wrap="square" lIns="0" tIns="0" rIns="0" bIns="0" rtlCol="0" anchor="t"/>
          <a:lstStyle/>
          <a:p>
            <a:pPr indent="0" marL="0">
              <a:buNone/>
            </a:pPr>
            <a:r>
              <a:rPr lang="en-US" sz="2000" b="1" dirty="0">
                <a:solidFill>
                  <a:schemeClr val="tx1"/>
                </a:solidFill>
              </a:rPr>
              <a:t>SGD Linear SVM</a:t>
            </a:r>
            <a:endParaRPr lang="en-US" sz="2000" dirty="0"/>
          </a:p>
        </p:txBody>
      </p:sp>
      <p:sp>
        <p:nvSpPr>
          <p:cNvPr id="14" name="Text 10"/>
          <p:cNvSpPr txBox="1"/>
          <p:nvPr/>
        </p:nvSpPr>
        <p:spPr>
          <a:xfrm>
            <a:off x="7680960" y="5394960"/>
            <a:ext cx="3749040" cy="365760"/>
          </a:xfrm>
          <a:prstGeom prst="rect">
            <a:avLst/>
          </a:prstGeom>
          <a:noFill/>
          <a:ln/>
        </p:spPr>
        <p:txBody>
          <a:bodyPr wrap="square" lIns="0" tIns="0" rIns="0" bIns="0" rtlCol="0" anchor="t"/>
          <a:lstStyle/>
          <a:p>
            <a:pPr indent="0" marL="0">
              <a:buNone/>
            </a:pPr>
            <a:r>
              <a:rPr lang="en-US" sz="1600" dirty="0">
                <a:solidFill>
                  <a:schemeClr val="tx1"/>
                </a:solidFill>
              </a:rPr>
              <a:t>Alpha 1e-5, Macro F1 49.90%</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Logistic Regression cho kết quả tốt nhất</a:t>
            </a:r>
            <a:endParaRPr lang="en-US" sz="3000" dirty="0"/>
          </a:p>
        </p:txBody>
      </p:sp>
      <p:graphicFrame>
        <p:nvGraphicFramePr>
          <p:cNvPr id="4" name="Chart 0" descr=""/>
          <p:cNvGraphicFramePr/>
          <p:nvPr/>
        </p:nvGraphicFramePr>
        <p:xfrm>
          <a:off x="548640" y="1463040"/>
          <a:ext cx="7132320" cy="46634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955280" y="1508760"/>
            <a:ext cx="3685032" cy="1005840"/>
          </a:xfrm>
          <a:prstGeom prst="rect">
            <a:avLst/>
          </a:prstGeom>
          <a:noFill/>
          <a:ln/>
        </p:spPr>
        <p:txBody>
          <a:bodyPr wrap="square" lIns="0" tIns="0" rIns="0" bIns="0" rtlCol="0" anchor="ctr"/>
          <a:lstStyle/>
          <a:p>
            <a:pPr indent="0" marL="0">
              <a:buNone/>
            </a:pPr>
            <a:r>
              <a:rPr lang="en-US" sz="6000" b="1" dirty="0">
                <a:solidFill>
                  <a:schemeClr val="accent1"/>
                </a:solidFill>
              </a:rPr>
              <a:t>54.48%</a:t>
            </a:r>
            <a:endParaRPr lang="en-US" sz="6000" dirty="0"/>
          </a:p>
        </p:txBody>
      </p:sp>
      <p:sp>
        <p:nvSpPr>
          <p:cNvPr id="6" name="Text 2"/>
          <p:cNvSpPr txBox="1"/>
          <p:nvPr/>
        </p:nvSpPr>
        <p:spPr>
          <a:xfrm>
            <a:off x="7955280" y="2606040"/>
            <a:ext cx="3685032" cy="1005840"/>
          </a:xfrm>
          <a:prstGeom prst="rect">
            <a:avLst/>
          </a:prstGeom>
          <a:noFill/>
          <a:ln/>
        </p:spPr>
        <p:txBody>
          <a:bodyPr wrap="square" lIns="0" tIns="0" rIns="0" bIns="0" rtlCol="0" anchor="t"/>
          <a:lstStyle/>
          <a:p>
            <a:pPr indent="0" marL="0">
              <a:buNone/>
            </a:pPr>
            <a:r>
              <a:rPr lang="en-US" sz="1800" dirty="0">
                <a:solidFill>
                  <a:schemeClr val="tx1"/>
                </a:solidFill>
              </a:rPr>
              <a:t>Accuracy của Logistic Regression, gấp 2.72 lần mức ngẫu nhiên</a:t>
            </a:r>
            <a:endParaRPr lang="en-US" sz="1800" dirty="0"/>
          </a:p>
        </p:txBody>
      </p:sp>
      <p:sp>
        <p:nvSpPr>
          <p:cNvPr id="7" name="Card"/>
          <p:cNvSpPr/>
          <p:nvPr/>
        </p:nvSpPr>
        <p:spPr>
          <a:xfrm>
            <a:off x="7955280" y="3794760"/>
            <a:ext cx="3685032" cy="1051560"/>
          </a:xfrm>
          <a:prstGeom prst="roundRect">
            <a:avLst>
              <a:gd name="adj" fmla="val 8696"/>
            </a:avLst>
          </a:prstGeom>
          <a:solidFill>
            <a:schemeClr val="bg2"/>
          </a:solidFill>
          <a:ln/>
        </p:spPr>
      </p:sp>
      <p:sp>
        <p:nvSpPr>
          <p:cNvPr id="8" name="Text 4"/>
          <p:cNvSpPr txBox="1"/>
          <p:nvPr/>
        </p:nvSpPr>
        <p:spPr>
          <a:xfrm>
            <a:off x="8183880" y="3794760"/>
            <a:ext cx="3246120" cy="1051560"/>
          </a:xfrm>
          <a:prstGeom prst="rect">
            <a:avLst/>
          </a:prstGeom>
          <a:noFill/>
          <a:ln/>
        </p:spPr>
        <p:txBody>
          <a:bodyPr wrap="square" lIns="0" tIns="0" rIns="0" bIns="0" rtlCol="0" anchor="ctr"/>
          <a:lstStyle/>
          <a:p>
            <a:pPr indent="0" marL="0">
              <a:buNone/>
            </a:pPr>
            <a:r>
              <a:rPr lang="en-US" sz="1600" dirty="0">
                <a:solidFill>
                  <a:schemeClr val="tx1"/>
                </a:solidFill>
              </a:rPr>
              <a:t>Gần bằng bài gốc NeurIPS 2015: 54.64%</a:t>
            </a:r>
            <a:endParaRPr lang="en-US" sz="1600" dirty="0"/>
          </a:p>
        </p:txBody>
      </p:sp>
      <p:sp>
        <p:nvSpPr>
          <p:cNvPr id="9" name="Card"/>
          <p:cNvSpPr/>
          <p:nvPr/>
        </p:nvSpPr>
        <p:spPr>
          <a:xfrm>
            <a:off x="7955280" y="5029200"/>
            <a:ext cx="3685032" cy="1051560"/>
          </a:xfrm>
          <a:prstGeom prst="roundRect">
            <a:avLst>
              <a:gd name="adj" fmla="val 8696"/>
            </a:avLst>
          </a:prstGeom>
          <a:solidFill>
            <a:schemeClr val="bg2"/>
          </a:solidFill>
          <a:ln/>
        </p:spPr>
      </p:sp>
      <p:sp>
        <p:nvSpPr>
          <p:cNvPr id="10" name="Text 6"/>
          <p:cNvSpPr txBox="1"/>
          <p:nvPr/>
        </p:nvSpPr>
        <p:spPr>
          <a:xfrm>
            <a:off x="8183880" y="5029200"/>
            <a:ext cx="3246120" cy="1051560"/>
          </a:xfrm>
          <a:prstGeom prst="rect">
            <a:avLst/>
          </a:prstGeom>
          <a:noFill/>
          <a:ln/>
        </p:spPr>
        <p:txBody>
          <a:bodyPr wrap="square" lIns="0" tIns="0" rIns="0" bIns="0" rtlCol="0" anchor="ctr"/>
          <a:lstStyle/>
          <a:p>
            <a:pPr indent="0" marL="0">
              <a:buNone/>
            </a:pPr>
            <a:r>
              <a:rPr lang="en-US" sz="1600" dirty="0">
                <a:solidFill>
                  <a:schemeClr val="tx1"/>
                </a:solidFill>
              </a:rPr>
              <a:t>Dự đoán 97,500 review chỉ mất khoảng 0.06 giây</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Sai lệch chủ yếu nằm ở 2, 3, 4 sao</a:t>
            </a:r>
            <a:endParaRPr lang="en-US" sz="3000" dirty="0"/>
          </a:p>
        </p:txBody>
      </p:sp>
      <p:pic>
        <p:nvPicPr>
          <p:cNvPr id="4" name="Ma trận nhầm lẫn" descr="Ma trận nhầm lẫn chuẩn hóa theo hàng của SGD Logistic Regression">    </p:cNvPr>
          <p:cNvPicPr>
            <a:picLocks noChangeAspect="1"/>
          </p:cNvPicPr>
          <p:nvPr/>
        </p:nvPicPr>
        <p:blipFill>
          <a:blip r:embed="rId1"/>
          <a:stretch>
            <a:fillRect/>
          </a:stretch>
        </p:blipFill>
        <p:spPr>
          <a:xfrm>
            <a:off x="548640" y="1463040"/>
            <a:ext cx="5669280" cy="4572000"/>
          </a:xfrm>
          <a:prstGeom prst="rect">
            <a:avLst/>
          </a:prstGeom>
        </p:spPr>
      </p:pic>
      <p:sp>
        <p:nvSpPr>
          <p:cNvPr id="5" name="Card"/>
          <p:cNvSpPr/>
          <p:nvPr/>
        </p:nvSpPr>
        <p:spPr>
          <a:xfrm>
            <a:off x="6583680" y="1554480"/>
            <a:ext cx="2377440" cy="1737360"/>
          </a:xfrm>
          <a:prstGeom prst="roundRect">
            <a:avLst>
              <a:gd name="adj" fmla="val 5263"/>
            </a:avLst>
          </a:prstGeom>
          <a:solidFill>
            <a:schemeClr val="bg2"/>
          </a:solidFill>
          <a:ln/>
        </p:spPr>
      </p:sp>
      <p:sp>
        <p:nvSpPr>
          <p:cNvPr id="6" name="Text 2"/>
          <p:cNvSpPr txBox="1"/>
          <p:nvPr/>
        </p:nvSpPr>
        <p:spPr>
          <a:xfrm>
            <a:off x="6766560" y="1691640"/>
            <a:ext cx="2011680" cy="731520"/>
          </a:xfrm>
          <a:prstGeom prst="rect">
            <a:avLst/>
          </a:prstGeom>
          <a:noFill/>
          <a:ln/>
        </p:spPr>
        <p:txBody>
          <a:bodyPr wrap="square" lIns="0" tIns="0" rIns="0" bIns="0" rtlCol="0" anchor="ctr"/>
          <a:lstStyle/>
          <a:p>
            <a:pPr indent="0" marL="0">
              <a:buNone/>
            </a:pPr>
            <a:r>
              <a:rPr lang="en-US" sz="3600" b="1" dirty="0">
                <a:solidFill>
                  <a:schemeClr val="accent1"/>
                </a:solidFill>
              </a:rPr>
              <a:t>89.14%</a:t>
            </a:r>
            <a:endParaRPr lang="en-US" sz="3600" dirty="0"/>
          </a:p>
        </p:txBody>
      </p:sp>
      <p:sp>
        <p:nvSpPr>
          <p:cNvPr id="7" name="Text 3"/>
          <p:cNvSpPr txBox="1"/>
          <p:nvPr/>
        </p:nvSpPr>
        <p:spPr>
          <a:xfrm>
            <a:off x="6766560" y="2468880"/>
            <a:ext cx="2057400" cy="731520"/>
          </a:xfrm>
          <a:prstGeom prst="rect">
            <a:avLst/>
          </a:prstGeom>
          <a:noFill/>
          <a:ln/>
        </p:spPr>
        <p:txBody>
          <a:bodyPr wrap="square" lIns="0" tIns="0" rIns="0" bIns="0" rtlCol="0" anchor="t"/>
          <a:lstStyle/>
          <a:p>
            <a:pPr indent="0" marL="0">
              <a:buNone/>
            </a:pPr>
            <a:r>
              <a:rPr lang="en-US" sz="1400" dirty="0">
                <a:solidFill>
                  <a:schemeClr val="tx1"/>
                </a:solidFill>
              </a:rPr>
              <a:t>đoán đúng hoặc lệch tối đa 1 sao</a:t>
            </a:r>
            <a:endParaRPr lang="en-US" sz="1400" dirty="0"/>
          </a:p>
        </p:txBody>
      </p:sp>
      <p:sp>
        <p:nvSpPr>
          <p:cNvPr id="8" name="Card"/>
          <p:cNvSpPr/>
          <p:nvPr/>
        </p:nvSpPr>
        <p:spPr>
          <a:xfrm>
            <a:off x="9144000" y="1554480"/>
            <a:ext cx="2496312" cy="1737360"/>
          </a:xfrm>
          <a:prstGeom prst="roundRect">
            <a:avLst>
              <a:gd name="adj" fmla="val 5263"/>
            </a:avLst>
          </a:prstGeom>
          <a:solidFill>
            <a:schemeClr val="bg2"/>
          </a:solidFill>
          <a:ln/>
        </p:spPr>
      </p:sp>
      <p:sp>
        <p:nvSpPr>
          <p:cNvPr id="9" name="Text 5"/>
          <p:cNvSpPr txBox="1"/>
          <p:nvPr/>
        </p:nvSpPr>
        <p:spPr>
          <a:xfrm>
            <a:off x="9326880" y="1691640"/>
            <a:ext cx="2103120" cy="731520"/>
          </a:xfrm>
          <a:prstGeom prst="rect">
            <a:avLst/>
          </a:prstGeom>
          <a:noFill/>
          <a:ln/>
        </p:spPr>
        <p:txBody>
          <a:bodyPr wrap="square" lIns="0" tIns="0" rIns="0" bIns="0" rtlCol="0" anchor="ctr"/>
          <a:lstStyle/>
          <a:p>
            <a:pPr indent="0" marL="0">
              <a:buNone/>
            </a:pPr>
            <a:r>
              <a:rPr lang="en-US" sz="3600" b="1" dirty="0">
                <a:solidFill>
                  <a:schemeClr val="accent1"/>
                </a:solidFill>
              </a:rPr>
              <a:t>0.612</a:t>
            </a:r>
            <a:endParaRPr lang="en-US" sz="3600" dirty="0"/>
          </a:p>
        </p:txBody>
      </p:sp>
      <p:sp>
        <p:nvSpPr>
          <p:cNvPr id="10" name="Text 6"/>
          <p:cNvSpPr txBox="1"/>
          <p:nvPr/>
        </p:nvSpPr>
        <p:spPr>
          <a:xfrm>
            <a:off x="9326880" y="2468880"/>
            <a:ext cx="2148840" cy="731520"/>
          </a:xfrm>
          <a:prstGeom prst="rect">
            <a:avLst/>
          </a:prstGeom>
          <a:noFill/>
          <a:ln/>
        </p:spPr>
        <p:txBody>
          <a:bodyPr wrap="square" lIns="0" tIns="0" rIns="0" bIns="0" rtlCol="0" anchor="t"/>
          <a:lstStyle/>
          <a:p>
            <a:pPr indent="0" marL="0">
              <a:buNone/>
            </a:pPr>
            <a:r>
              <a:rPr lang="en-US" sz="1400" dirty="0">
                <a:solidFill>
                  <a:schemeClr val="tx1"/>
                </a:solidFill>
              </a:rPr>
              <a:t>sao lệch trung bình (MAE)</a:t>
            </a:r>
            <a:endParaRPr lang="en-US" sz="1400" dirty="0"/>
          </a:p>
        </p:txBody>
      </p:sp>
      <p:sp>
        <p:nvSpPr>
          <p:cNvPr id="11" name="Text 7"/>
          <p:cNvSpPr txBox="1"/>
          <p:nvPr/>
        </p:nvSpPr>
        <p:spPr>
          <a:xfrm>
            <a:off x="6583680" y="3657600"/>
            <a:ext cx="5056632" cy="23774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4 sao bị đoán thành 5 sao tới 31.2%.</a:t>
            </a:r>
            <a:endParaRPr lang="en-US" sz="1800" dirty="0"/>
          </a:p>
          <a:p>
            <a:pPr marL="342900" indent="-342900">
              <a:spcAft>
                <a:spcPts val="1200"/>
              </a:spcAft>
              <a:buSzPct val="100000"/>
              <a:buChar char="•"/>
            </a:pPr>
            <a:r>
              <a:rPr lang="en-US" sz="1800" dirty="0">
                <a:solidFill>
                  <a:schemeClr val="tx1"/>
                </a:solidFill>
              </a:rPr>
              <a:t>3 sao chia gần đều sang 2 sao (19.7%) và 4 sao (20.1%).</a:t>
            </a:r>
            <a:endParaRPr lang="en-US" sz="1800" dirty="0"/>
          </a:p>
          <a:p>
            <a:pPr marL="342900" indent="-342900">
              <a:spcAft>
                <a:spcPts val="1200"/>
              </a:spcAft>
              <a:buSzPct val="100000"/>
              <a:buChar char="•"/>
            </a:pPr>
            <a:r>
              <a:rPr lang="en-US" sz="1800" dirty="0">
                <a:solidFill>
                  <a:schemeClr val="tx1"/>
                </a:solidFill>
              </a:rPr>
              <a:t>Nhầm 1 sao thành 5 sao chỉ khoảng 3.5%.</a:t>
            </a:r>
            <a:endParaRPr lang="en-US" sz="1800" dirty="0"/>
          </a:p>
        </p:txBody>
      </p:sp>
      <p:sp>
        <p:nvSpPr>
          <p:cNvPr id="12" name="Text 8"/>
          <p:cNvSpPr txBox="1"/>
          <p:nvPr/>
        </p:nvSpPr>
        <p:spPr>
          <a:xfrm>
            <a:off x="6583680" y="5897880"/>
            <a:ext cx="5056632" cy="274320"/>
          </a:xfrm>
          <a:prstGeom prst="rect">
            <a:avLst/>
          </a:prstGeom>
          <a:noFill/>
          <a:ln/>
        </p:spPr>
        <p:txBody>
          <a:bodyPr wrap="square" lIns="0" tIns="0" rIns="0" bIns="0" rtlCol="0" anchor="t"/>
          <a:lstStyle/>
          <a:p>
            <a:pPr indent="0" marL="0">
              <a:buNone/>
            </a:pPr>
            <a:r>
              <a:rPr lang="en-US" sz="1200" dirty="0">
                <a:solidFill>
                  <a:schemeClr val="accent2"/>
                </a:solidFill>
              </a:rPr>
              <a:t>Ma trận chuẩn hóa theo hàng (Hình 11.1 trong báo cáo).</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Hai đầu thang dễ đoán, ba mức giữa khó hơn</a:t>
            </a:r>
            <a:endParaRPr lang="en-US" sz="3000" dirty="0"/>
          </a:p>
        </p:txBody>
      </p:sp>
      <p:graphicFrame>
        <p:nvGraphicFramePr>
          <p:cNvPr id="4" name="Chart 0" descr=""/>
          <p:cNvGraphicFramePr/>
          <p:nvPr/>
        </p:nvGraphicFramePr>
        <p:xfrm>
          <a:off x="548640" y="146304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589520" y="1554480"/>
            <a:ext cx="4050792" cy="2240280"/>
          </a:xfrm>
          <a:prstGeom prst="roundRect">
            <a:avLst>
              <a:gd name="adj" fmla="val 4082"/>
            </a:avLst>
          </a:prstGeom>
          <a:solidFill>
            <a:schemeClr val="bg2"/>
          </a:solidFill>
          <a:ln/>
        </p:spPr>
      </p:sp>
      <p:sp>
        <p:nvSpPr>
          <p:cNvPr id="6" name="Text 2"/>
          <p:cNvSpPr txBox="1"/>
          <p:nvPr/>
        </p:nvSpPr>
        <p:spPr>
          <a:xfrm>
            <a:off x="7863840" y="1737360"/>
            <a:ext cx="3566160" cy="365760"/>
          </a:xfrm>
          <a:prstGeom prst="rect">
            <a:avLst/>
          </a:prstGeom>
          <a:noFill/>
          <a:ln/>
        </p:spPr>
        <p:txBody>
          <a:bodyPr wrap="square" lIns="0" tIns="0" rIns="0" bIns="0" rtlCol="0" anchor="t"/>
          <a:lstStyle/>
          <a:p>
            <a:pPr indent="0" marL="0">
              <a:buNone/>
            </a:pPr>
            <a:r>
              <a:rPr lang="en-US" sz="2000" b="1" dirty="0">
                <a:solidFill>
                  <a:schemeClr val="accent6"/>
                </a:solidFill>
              </a:rPr>
              <a:t>Hai đầu: F1 khoảng 66%</a:t>
            </a:r>
            <a:endParaRPr lang="en-US" sz="2000" dirty="0"/>
          </a:p>
        </p:txBody>
      </p:sp>
      <p:sp>
        <p:nvSpPr>
          <p:cNvPr id="7" name="Text 3"/>
          <p:cNvSpPr txBox="1"/>
          <p:nvPr/>
        </p:nvSpPr>
        <p:spPr>
          <a:xfrm>
            <a:off x="7863840" y="2286000"/>
            <a:ext cx="3566160" cy="1371600"/>
          </a:xfrm>
          <a:prstGeom prst="rect">
            <a:avLst/>
          </a:prstGeom>
          <a:noFill/>
          <a:ln/>
        </p:spPr>
        <p:txBody>
          <a:bodyPr wrap="square" lIns="0" tIns="0" rIns="0" bIns="0" rtlCol="0" anchor="t"/>
          <a:lstStyle/>
          <a:p>
            <a:pPr indent="0" marL="0">
              <a:buNone/>
            </a:pPr>
            <a:r>
              <a:rPr lang="en-US" sz="1600" dirty="0">
                <a:solidFill>
                  <a:schemeClr val="tx1"/>
                </a:solidFill>
              </a:rPr>
              <a:t>Từ rất rõ như worst, waste, junk hoặc love, best, excellent.</a:t>
            </a:r>
            <a:endParaRPr lang="en-US" sz="1600" dirty="0"/>
          </a:p>
        </p:txBody>
      </p:sp>
      <p:sp>
        <p:nvSpPr>
          <p:cNvPr id="8" name="Card"/>
          <p:cNvSpPr/>
          <p:nvPr/>
        </p:nvSpPr>
        <p:spPr>
          <a:xfrm>
            <a:off x="7589520" y="3977640"/>
            <a:ext cx="4050792" cy="2148840"/>
          </a:xfrm>
          <a:prstGeom prst="roundRect">
            <a:avLst>
              <a:gd name="adj" fmla="val 4255"/>
            </a:avLst>
          </a:prstGeom>
          <a:solidFill>
            <a:schemeClr val="bg2"/>
          </a:solidFill>
          <a:ln/>
        </p:spPr>
      </p:sp>
      <p:sp>
        <p:nvSpPr>
          <p:cNvPr id="9" name="Text 5"/>
          <p:cNvSpPr txBox="1"/>
          <p:nvPr/>
        </p:nvSpPr>
        <p:spPr>
          <a:xfrm>
            <a:off x="7863840" y="4160520"/>
            <a:ext cx="3566160" cy="365760"/>
          </a:xfrm>
          <a:prstGeom prst="rect">
            <a:avLst/>
          </a:prstGeom>
          <a:noFill/>
          <a:ln/>
        </p:spPr>
        <p:txBody>
          <a:bodyPr wrap="square" lIns="0" tIns="0" rIns="0" bIns="0" rtlCol="0" anchor="t"/>
          <a:lstStyle/>
          <a:p>
            <a:pPr indent="0" marL="0">
              <a:buNone/>
            </a:pPr>
            <a:r>
              <a:rPr lang="en-US" sz="2000" b="1" dirty="0">
                <a:solidFill>
                  <a:schemeClr val="accent6"/>
                </a:solidFill>
              </a:rPr>
              <a:t>Ba mức giữa: F1 khoảng 45–46%</a:t>
            </a:r>
            <a:endParaRPr lang="en-US" sz="2000" dirty="0"/>
          </a:p>
        </p:txBody>
      </p:sp>
      <p:sp>
        <p:nvSpPr>
          <p:cNvPr id="10" name="Text 6"/>
          <p:cNvSpPr txBox="1"/>
          <p:nvPr/>
        </p:nvSpPr>
        <p:spPr>
          <a:xfrm>
            <a:off x="7863840" y="4709160"/>
            <a:ext cx="3566160" cy="1371600"/>
          </a:xfrm>
          <a:prstGeom prst="rect">
            <a:avLst/>
          </a:prstGeom>
          <a:noFill/>
          <a:ln/>
        </p:spPr>
        <p:txBody>
          <a:bodyPr wrap="square" lIns="0" tIns="0" rIns="0" bIns="0" rtlCol="0" anchor="t"/>
          <a:lstStyle/>
          <a:p>
            <a:pPr indent="0" marL="0">
              <a:buNone/>
            </a:pPr>
            <a:r>
              <a:rPr lang="en-US" sz="1600" dirty="0">
                <a:solidFill>
                  <a:schemeClr val="tx1"/>
                </a:solidFill>
              </a:rPr>
              <a:t>Từ ngữ chồng lấn với mức liền kề. Người viết 4 sao hay dùng từ khen giống 5 sao.</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Từ khóa quyết định của mô hình</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463040"/>
                <a:gridCol w="6309360"/>
                <a:gridCol w="3319272"/>
              </a:tblGrid>
              <a:tr h="713232">
                <a:tc>
                  <a:txBody>
                    <a:bodyPr/>
                    <a:lstStyle/>
                    <a:p>
                      <a:pPr algn="ctr" indent="0" marL="0">
                        <a:buNone/>
                      </a:pPr>
                      <a:r>
                        <a:rPr lang="en-US" sz="1800" b="1" dirty="0">
                          <a:solidFill>
                            <a:srgbClr val="FFFFFF"/>
                          </a:solidFill>
                        </a:rPr>
                        <a:t>Mức sao</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l" indent="0" marL="0">
                        <a:buNone/>
                      </a:pPr>
                      <a:r>
                        <a:rPr lang="en-US" sz="1800" b="1" dirty="0">
                          <a:solidFill>
                            <a:srgbClr val="FFFFFF"/>
                          </a:solidFill>
                        </a:rPr>
                        <a:t>Từ khóa có trọng số dương lớn nhất</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l" indent="0" marL="0">
                        <a:buNone/>
                      </a:pPr>
                      <a:r>
                        <a:rPr lang="en-US" sz="1800" b="1" dirty="0">
                          <a:solidFill>
                            <a:srgbClr val="FFFFFF"/>
                          </a:solidFill>
                        </a:rPr>
                        <a:t>Sắc thái</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r>
              <a:tr h="713232">
                <a:tc>
                  <a:txBody>
                    <a:bodyPr/>
                    <a:lstStyle/>
                    <a:p>
                      <a:pPr algn="ctr" indent="0" marL="0">
                        <a:buNone/>
                      </a:pPr>
                      <a:r>
                        <a:rPr lang="en-US" sz="1800" b="1" dirty="0">
                          <a:solidFill>
                            <a:srgbClr val="1F2328"/>
                          </a:solidFill>
                        </a:rPr>
                        <a:t>1 sao</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waste, terrible, worst, junk, garbage, useless</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b="1" dirty="0">
                          <a:solidFill>
                            <a:srgbClr val="8C5A2B"/>
                          </a:solidFill>
                        </a:rPr>
                        <a:t>Bức xúc</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713232">
                <a:tc>
                  <a:txBody>
                    <a:bodyPr/>
                    <a:lstStyle/>
                    <a:p>
                      <a:pPr algn="ctr" indent="0" marL="0">
                        <a:buNone/>
                      </a:pPr>
                      <a:r>
                        <a:rPr lang="en-US" sz="1800" b="1" dirty="0">
                          <a:solidFill>
                            <a:srgbClr val="1F2328"/>
                          </a:solidFill>
                        </a:rPr>
                        <a:t>2 sao</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not worth, disappointing, unfortunately, boring</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b="1" dirty="0">
                          <a:solidFill>
                            <a:srgbClr val="8C5A2B"/>
                          </a:solidFill>
                        </a:rPr>
                        <a:t>Thất vọng</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713232">
                <a:tc>
                  <a:txBody>
                    <a:bodyPr/>
                    <a:lstStyle/>
                    <a:p>
                      <a:pPr algn="ctr" indent="0" marL="0">
                        <a:buNone/>
                      </a:pPr>
                      <a:r>
                        <a:rPr lang="en-US" sz="1800" b="1" dirty="0">
                          <a:solidFill>
                            <a:srgbClr val="1F2328"/>
                          </a:solidFill>
                        </a:rPr>
                        <a:t>3 sao</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ok, decent, average, not bad, mixed</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b="1" dirty="0">
                          <a:solidFill>
                            <a:srgbClr val="8C5A2B"/>
                          </a:solidFill>
                        </a:rPr>
                        <a:t>Có khen có chê</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713232">
                <a:tc>
                  <a:txBody>
                    <a:bodyPr/>
                    <a:lstStyle/>
                    <a:p>
                      <a:pPr algn="ctr" indent="0" marL="0">
                        <a:buNone/>
                      </a:pPr>
                      <a:r>
                        <a:rPr lang="en-US" sz="1800" b="1" dirty="0">
                          <a:solidFill>
                            <a:srgbClr val="1F2328"/>
                          </a:solidFill>
                        </a:rPr>
                        <a:t>4 sao</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good, nice, solid, overall, recommended</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b="1" dirty="0">
                          <a:solidFill>
                            <a:srgbClr val="8C5A2B"/>
                          </a:solidFill>
                        </a:rPr>
                        <a:t>Hài lòng, còn điểm trừ</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713232">
                <a:tc>
                  <a:txBody>
                    <a:bodyPr/>
                    <a:lstStyle/>
                    <a:p>
                      <a:pPr algn="ctr" indent="0" marL="0">
                        <a:buNone/>
                      </a:pPr>
                      <a:r>
                        <a:rPr lang="en-US" sz="1800" b="1" dirty="0">
                          <a:solidFill>
                            <a:srgbClr val="1F2328"/>
                          </a:solidFill>
                        </a:rPr>
                        <a:t>5 sao</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great, love, best, excellent, perfect</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b="1" dirty="0">
                          <a:solidFill>
                            <a:srgbClr val="8C5A2B"/>
                          </a:solidFill>
                        </a:rPr>
                        <a:t>Hài lòng tột độ</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Bốn kiểu dự đoán sai tiêu biểu</a:t>
            </a:r>
            <a:endParaRPr lang="en-US" sz="3000" dirty="0"/>
          </a:p>
        </p:txBody>
      </p:sp>
      <p:sp>
        <p:nvSpPr>
          <p:cNvPr id="4" name="Card"/>
          <p:cNvSpPr/>
          <p:nvPr/>
        </p:nvSpPr>
        <p:spPr>
          <a:xfrm>
            <a:off x="548640" y="1508760"/>
            <a:ext cx="5394960" cy="2194560"/>
          </a:xfrm>
          <a:prstGeom prst="roundRect">
            <a:avLst>
              <a:gd name="adj" fmla="val 4167"/>
            </a:avLst>
          </a:prstGeom>
          <a:solidFill>
            <a:schemeClr val="bg2"/>
          </a:solidFill>
          <a:ln/>
        </p:spPr>
      </p:sp>
      <p:sp>
        <p:nvSpPr>
          <p:cNvPr id="5" name="Text 2"/>
          <p:cNvSpPr txBox="1"/>
          <p:nvPr/>
        </p:nvSpPr>
        <p:spPr>
          <a:xfrm>
            <a:off x="822960" y="1645920"/>
            <a:ext cx="4846320" cy="365760"/>
          </a:xfrm>
          <a:prstGeom prst="rect">
            <a:avLst/>
          </a:prstGeom>
          <a:noFill/>
          <a:ln/>
        </p:spPr>
        <p:txBody>
          <a:bodyPr wrap="square" lIns="0" tIns="0" rIns="0" bIns="0" rtlCol="0" anchor="t"/>
          <a:lstStyle/>
          <a:p>
            <a:pPr indent="0" marL="0">
              <a:buNone/>
            </a:pPr>
            <a:r>
              <a:rPr lang="en-US" sz="2000" b="1" dirty="0">
                <a:solidFill>
                  <a:schemeClr val="accent3"/>
                </a:solidFill>
              </a:rPr>
              <a:t>Mỉa mai</a:t>
            </a:r>
            <a:endParaRPr lang="en-US" sz="2000" dirty="0"/>
          </a:p>
        </p:txBody>
      </p:sp>
      <p:sp>
        <p:nvSpPr>
          <p:cNvPr id="6" name="Text 3"/>
          <p:cNvSpPr txBox="1"/>
          <p:nvPr/>
        </p:nvSpPr>
        <p:spPr>
          <a:xfrm>
            <a:off x="822960" y="2011680"/>
            <a:ext cx="4846320" cy="274320"/>
          </a:xfrm>
          <a:prstGeom prst="rect">
            <a:avLst/>
          </a:prstGeom>
          <a:noFill/>
          <a:ln/>
        </p:spPr>
        <p:txBody>
          <a:bodyPr wrap="square" lIns="0" tIns="0" rIns="0" bIns="0" rtlCol="0" anchor="t"/>
          <a:lstStyle/>
          <a:p>
            <a:pPr indent="0" marL="0">
              <a:buNone/>
            </a:pPr>
            <a:r>
              <a:rPr lang="en-US" sz="1400" dirty="0">
                <a:solidFill>
                  <a:schemeClr val="accent2"/>
                </a:solidFill>
              </a:rPr>
              <a:t>Thật 1 sao, đoán 5 sao</a:t>
            </a:r>
            <a:endParaRPr lang="en-US" sz="1400" dirty="0"/>
          </a:p>
        </p:txBody>
      </p:sp>
      <p:sp>
        <p:nvSpPr>
          <p:cNvPr id="7" name="Text 4"/>
          <p:cNvSpPr txBox="1"/>
          <p:nvPr/>
        </p:nvSpPr>
        <p:spPr>
          <a:xfrm>
            <a:off x="822960" y="2350008"/>
            <a:ext cx="4846320" cy="640080"/>
          </a:xfrm>
          <a:prstGeom prst="rect">
            <a:avLst/>
          </a:prstGeom>
          <a:noFill/>
          <a:ln/>
        </p:spPr>
        <p:txBody>
          <a:bodyPr wrap="square" lIns="0" tIns="0" rIns="0" bIns="0" rtlCol="0" anchor="t"/>
          <a:lstStyle/>
          <a:p>
            <a:pPr indent="0" marL="0">
              <a:buNone/>
            </a:pPr>
            <a:r>
              <a:rPr lang="en-US" sz="1500" i="1" dirty="0">
                <a:solidFill>
                  <a:schemeClr val="tx1"/>
                </a:solidFill>
              </a:rPr>
              <a:t>“A masterpiece of complete garbage! Wonderful way to throw 50 dollars into the fire!”</a:t>
            </a:r>
            <a:endParaRPr lang="en-US" sz="1500" dirty="0"/>
          </a:p>
        </p:txBody>
      </p:sp>
      <p:sp>
        <p:nvSpPr>
          <p:cNvPr id="8" name="Text 5"/>
          <p:cNvSpPr txBox="1"/>
          <p:nvPr/>
        </p:nvSpPr>
        <p:spPr>
          <a:xfrm>
            <a:off x="822960" y="3063240"/>
            <a:ext cx="4846320" cy="548640"/>
          </a:xfrm>
          <a:prstGeom prst="rect">
            <a:avLst/>
          </a:prstGeom>
          <a:noFill/>
          <a:ln/>
        </p:spPr>
        <p:txBody>
          <a:bodyPr wrap="square" lIns="0" tIns="0" rIns="0" bIns="0" rtlCol="0" anchor="t"/>
          <a:lstStyle/>
          <a:p>
            <a:pPr indent="0" marL="0">
              <a:buNone/>
            </a:pPr>
            <a:r>
              <a:rPr lang="en-US" sz="1500" dirty="0">
                <a:solidFill>
                  <a:schemeClr val="tx1"/>
                </a:solidFill>
              </a:rPr>
              <a:t>Mô hình cộng điểm từ khen, không hiểu châm biếm.</a:t>
            </a:r>
            <a:endParaRPr lang="en-US" sz="1500" dirty="0"/>
          </a:p>
        </p:txBody>
      </p:sp>
      <p:sp>
        <p:nvSpPr>
          <p:cNvPr id="9" name="Card"/>
          <p:cNvSpPr/>
          <p:nvPr/>
        </p:nvSpPr>
        <p:spPr>
          <a:xfrm>
            <a:off x="6245352" y="1508760"/>
            <a:ext cx="5394960" cy="2194560"/>
          </a:xfrm>
          <a:prstGeom prst="roundRect">
            <a:avLst>
              <a:gd name="adj" fmla="val 4167"/>
            </a:avLst>
          </a:prstGeom>
          <a:solidFill>
            <a:schemeClr val="bg2"/>
          </a:solidFill>
          <a:ln/>
        </p:spPr>
      </p:sp>
      <p:sp>
        <p:nvSpPr>
          <p:cNvPr id="10" name="Text 7"/>
          <p:cNvSpPr txBox="1"/>
          <p:nvPr/>
        </p:nvSpPr>
        <p:spPr>
          <a:xfrm>
            <a:off x="6519672" y="1645920"/>
            <a:ext cx="4846320" cy="365760"/>
          </a:xfrm>
          <a:prstGeom prst="rect">
            <a:avLst/>
          </a:prstGeom>
          <a:noFill/>
          <a:ln/>
        </p:spPr>
        <p:txBody>
          <a:bodyPr wrap="square" lIns="0" tIns="0" rIns="0" bIns="0" rtlCol="0" anchor="t"/>
          <a:lstStyle/>
          <a:p>
            <a:pPr indent="0" marL="0">
              <a:buNone/>
            </a:pPr>
            <a:r>
              <a:rPr lang="en-US" sz="2000" b="1" dirty="0">
                <a:solidFill>
                  <a:schemeClr val="accent3"/>
                </a:solidFill>
              </a:rPr>
              <a:t>Khen nội dung, chê giao hàng</a:t>
            </a:r>
            <a:endParaRPr lang="en-US" sz="2000" dirty="0"/>
          </a:p>
        </p:txBody>
      </p:sp>
      <p:sp>
        <p:nvSpPr>
          <p:cNvPr id="11" name="Text 8"/>
          <p:cNvSpPr txBox="1"/>
          <p:nvPr/>
        </p:nvSpPr>
        <p:spPr>
          <a:xfrm>
            <a:off x="6519672" y="2011680"/>
            <a:ext cx="4846320" cy="274320"/>
          </a:xfrm>
          <a:prstGeom prst="rect">
            <a:avLst/>
          </a:prstGeom>
          <a:noFill/>
          <a:ln/>
        </p:spPr>
        <p:txBody>
          <a:bodyPr wrap="square" lIns="0" tIns="0" rIns="0" bIns="0" rtlCol="0" anchor="t"/>
          <a:lstStyle/>
          <a:p>
            <a:pPr indent="0" marL="0">
              <a:buNone/>
            </a:pPr>
            <a:r>
              <a:rPr lang="en-US" sz="1400" dirty="0">
                <a:solidFill>
                  <a:schemeClr val="accent2"/>
                </a:solidFill>
              </a:rPr>
              <a:t>Thật 2 sao, đoán 4 sao</a:t>
            </a:r>
            <a:endParaRPr lang="en-US" sz="1400" dirty="0"/>
          </a:p>
        </p:txBody>
      </p:sp>
      <p:sp>
        <p:nvSpPr>
          <p:cNvPr id="12" name="Text 9"/>
          <p:cNvSpPr txBox="1"/>
          <p:nvPr/>
        </p:nvSpPr>
        <p:spPr>
          <a:xfrm>
            <a:off x="6519672" y="2350008"/>
            <a:ext cx="4846320" cy="640080"/>
          </a:xfrm>
          <a:prstGeom prst="rect">
            <a:avLst/>
          </a:prstGeom>
          <a:noFill/>
          <a:ln/>
        </p:spPr>
        <p:txBody>
          <a:bodyPr wrap="square" lIns="0" tIns="0" rIns="0" bIns="0" rtlCol="0" anchor="t"/>
          <a:lstStyle/>
          <a:p>
            <a:pPr indent="0" marL="0">
              <a:buNone/>
            </a:pPr>
            <a:r>
              <a:rPr lang="en-US" sz="1500" i="1" dirty="0">
                <a:solidFill>
                  <a:schemeClr val="tx1"/>
                </a:solidFill>
              </a:rPr>
              <a:t>“The novel plot is brilliant and captivating, but delivery took 4 weeks and arrived torn.”</a:t>
            </a:r>
            <a:endParaRPr lang="en-US" sz="1500" dirty="0"/>
          </a:p>
        </p:txBody>
      </p:sp>
      <p:sp>
        <p:nvSpPr>
          <p:cNvPr id="13" name="Text 10"/>
          <p:cNvSpPr txBox="1"/>
          <p:nvPr/>
        </p:nvSpPr>
        <p:spPr>
          <a:xfrm>
            <a:off x="6519672" y="3063240"/>
            <a:ext cx="4846320" cy="548640"/>
          </a:xfrm>
          <a:prstGeom prst="rect">
            <a:avLst/>
          </a:prstGeom>
          <a:noFill/>
          <a:ln/>
        </p:spPr>
        <p:txBody>
          <a:bodyPr wrap="square" lIns="0" tIns="0" rIns="0" bIns="0" rtlCol="0" anchor="t"/>
          <a:lstStyle/>
          <a:p>
            <a:pPr indent="0" marL="0">
              <a:buNone/>
            </a:pPr>
            <a:r>
              <a:rPr lang="en-US" sz="1500" dirty="0">
                <a:solidFill>
                  <a:schemeClr val="tx1"/>
                </a:solidFill>
              </a:rPr>
              <a:t>Từ khen mạnh lấn át từ chê.</a:t>
            </a:r>
            <a:endParaRPr lang="en-US" sz="1500" dirty="0"/>
          </a:p>
        </p:txBody>
      </p:sp>
      <p:sp>
        <p:nvSpPr>
          <p:cNvPr id="14" name="Card"/>
          <p:cNvSpPr/>
          <p:nvPr/>
        </p:nvSpPr>
        <p:spPr>
          <a:xfrm>
            <a:off x="548640" y="3840480"/>
            <a:ext cx="5394960" cy="2194560"/>
          </a:xfrm>
          <a:prstGeom prst="roundRect">
            <a:avLst>
              <a:gd name="adj" fmla="val 4167"/>
            </a:avLst>
          </a:prstGeom>
          <a:solidFill>
            <a:schemeClr val="bg2"/>
          </a:solidFill>
          <a:ln/>
        </p:spPr>
      </p:sp>
      <p:sp>
        <p:nvSpPr>
          <p:cNvPr id="15" name="Text 12"/>
          <p:cNvSpPr txBox="1"/>
          <p:nvPr/>
        </p:nvSpPr>
        <p:spPr>
          <a:xfrm>
            <a:off x="822960" y="3977640"/>
            <a:ext cx="4846320" cy="365760"/>
          </a:xfrm>
          <a:prstGeom prst="rect">
            <a:avLst/>
          </a:prstGeom>
          <a:noFill/>
          <a:ln/>
        </p:spPr>
        <p:txBody>
          <a:bodyPr wrap="square" lIns="0" tIns="0" rIns="0" bIns="0" rtlCol="0" anchor="t"/>
          <a:lstStyle/>
          <a:p>
            <a:pPr indent="0" marL="0">
              <a:buNone/>
            </a:pPr>
            <a:r>
              <a:rPr lang="en-US" sz="2000" b="1" dirty="0">
                <a:solidFill>
                  <a:schemeClr val="accent3"/>
                </a:solidFill>
              </a:rPr>
              <a:t>Tiêu đề trái nội dung</a:t>
            </a:r>
            <a:endParaRPr lang="en-US" sz="2000" dirty="0"/>
          </a:p>
        </p:txBody>
      </p:sp>
      <p:sp>
        <p:nvSpPr>
          <p:cNvPr id="16" name="Text 13"/>
          <p:cNvSpPr txBox="1"/>
          <p:nvPr/>
        </p:nvSpPr>
        <p:spPr>
          <a:xfrm>
            <a:off x="822960" y="4343400"/>
            <a:ext cx="4846320" cy="274320"/>
          </a:xfrm>
          <a:prstGeom prst="rect">
            <a:avLst/>
          </a:prstGeom>
          <a:noFill/>
          <a:ln/>
        </p:spPr>
        <p:txBody>
          <a:bodyPr wrap="square" lIns="0" tIns="0" rIns="0" bIns="0" rtlCol="0" anchor="t"/>
          <a:lstStyle/>
          <a:p>
            <a:pPr indent="0" marL="0">
              <a:buNone/>
            </a:pPr>
            <a:r>
              <a:rPr lang="en-US" sz="1400" dirty="0">
                <a:solidFill>
                  <a:schemeClr val="accent2"/>
                </a:solidFill>
              </a:rPr>
              <a:t>Thật 1 sao, đoán 3 sao</a:t>
            </a:r>
            <a:endParaRPr lang="en-US" sz="1400" dirty="0"/>
          </a:p>
        </p:txBody>
      </p:sp>
      <p:sp>
        <p:nvSpPr>
          <p:cNvPr id="17" name="Text 14"/>
          <p:cNvSpPr txBox="1"/>
          <p:nvPr/>
        </p:nvSpPr>
        <p:spPr>
          <a:xfrm>
            <a:off x="822960" y="4681728"/>
            <a:ext cx="4846320" cy="640080"/>
          </a:xfrm>
          <a:prstGeom prst="rect">
            <a:avLst/>
          </a:prstGeom>
          <a:noFill/>
          <a:ln/>
        </p:spPr>
        <p:txBody>
          <a:bodyPr wrap="square" lIns="0" tIns="0" rIns="0" bIns="0" rtlCol="0" anchor="t"/>
          <a:lstStyle/>
          <a:p>
            <a:pPr indent="0" marL="0">
              <a:buNone/>
            </a:pPr>
            <a:r>
              <a:rPr lang="en-US" sz="1500" i="1" dirty="0">
                <a:solidFill>
                  <a:schemeClr val="tx1"/>
                </a:solidFill>
              </a:rPr>
              <a:t>Tiêu đề “Very bad”, nội dung toàn “works fine”, “decent”.</a:t>
            </a:r>
            <a:endParaRPr lang="en-US" sz="1500" dirty="0"/>
          </a:p>
        </p:txBody>
      </p:sp>
      <p:sp>
        <p:nvSpPr>
          <p:cNvPr id="18" name="Text 15"/>
          <p:cNvSpPr txBox="1"/>
          <p:nvPr/>
        </p:nvSpPr>
        <p:spPr>
          <a:xfrm>
            <a:off x="822960" y="5394960"/>
            <a:ext cx="4846320" cy="548640"/>
          </a:xfrm>
          <a:prstGeom prst="rect">
            <a:avLst/>
          </a:prstGeom>
          <a:noFill/>
          <a:ln/>
        </p:spPr>
        <p:txBody>
          <a:bodyPr wrap="square" lIns="0" tIns="0" rIns="0" bIns="0" rtlCol="0" anchor="t"/>
          <a:lstStyle/>
          <a:p>
            <a:pPr indent="0" marL="0">
              <a:buNone/>
            </a:pPr>
            <a:r>
              <a:rPr lang="en-US" sz="1500" dirty="0">
                <a:solidFill>
                  <a:schemeClr val="tx1"/>
                </a:solidFill>
              </a:rPr>
              <a:t>Nội dung dài hơn nên mô hình nghiêng về 3 sao.</a:t>
            </a:r>
            <a:endParaRPr lang="en-US" sz="1500" dirty="0"/>
          </a:p>
        </p:txBody>
      </p:sp>
      <p:sp>
        <p:nvSpPr>
          <p:cNvPr id="19" name="Card"/>
          <p:cNvSpPr/>
          <p:nvPr/>
        </p:nvSpPr>
        <p:spPr>
          <a:xfrm>
            <a:off x="6245352" y="3840480"/>
            <a:ext cx="5394960" cy="2194560"/>
          </a:xfrm>
          <a:prstGeom prst="roundRect">
            <a:avLst>
              <a:gd name="adj" fmla="val 4167"/>
            </a:avLst>
          </a:prstGeom>
          <a:solidFill>
            <a:schemeClr val="bg2"/>
          </a:solidFill>
          <a:ln/>
        </p:spPr>
      </p:sp>
      <p:sp>
        <p:nvSpPr>
          <p:cNvPr id="20" name="Text 17"/>
          <p:cNvSpPr txBox="1"/>
          <p:nvPr/>
        </p:nvSpPr>
        <p:spPr>
          <a:xfrm>
            <a:off x="6519672" y="3977640"/>
            <a:ext cx="4846320" cy="365760"/>
          </a:xfrm>
          <a:prstGeom prst="rect">
            <a:avLst/>
          </a:prstGeom>
          <a:noFill/>
          <a:ln/>
        </p:spPr>
        <p:txBody>
          <a:bodyPr wrap="square" lIns="0" tIns="0" rIns="0" bIns="0" rtlCol="0" anchor="t"/>
          <a:lstStyle/>
          <a:p>
            <a:pPr indent="0" marL="0">
              <a:buNone/>
            </a:pPr>
            <a:r>
              <a:rPr lang="en-US" sz="2000" b="1" dirty="0">
                <a:solidFill>
                  <a:schemeClr val="accent3"/>
                </a:solidFill>
              </a:rPr>
              <a:t>Nhãn nhiễu</a:t>
            </a:r>
            <a:endParaRPr lang="en-US" sz="2000" dirty="0"/>
          </a:p>
        </p:txBody>
      </p:sp>
      <p:sp>
        <p:nvSpPr>
          <p:cNvPr id="21" name="Text 18"/>
          <p:cNvSpPr txBox="1"/>
          <p:nvPr/>
        </p:nvSpPr>
        <p:spPr>
          <a:xfrm>
            <a:off x="6519672" y="4343400"/>
            <a:ext cx="4846320" cy="274320"/>
          </a:xfrm>
          <a:prstGeom prst="rect">
            <a:avLst/>
          </a:prstGeom>
          <a:noFill/>
          <a:ln/>
        </p:spPr>
        <p:txBody>
          <a:bodyPr wrap="square" lIns="0" tIns="0" rIns="0" bIns="0" rtlCol="0" anchor="t"/>
          <a:lstStyle/>
          <a:p>
            <a:pPr indent="0" marL="0">
              <a:buNone/>
            </a:pPr>
            <a:r>
              <a:rPr lang="en-US" sz="1400" dirty="0">
                <a:solidFill>
                  <a:schemeClr val="accent2"/>
                </a:solidFill>
              </a:rPr>
              <a:t>Thật 1 sao, đoán 5 sao</a:t>
            </a:r>
            <a:endParaRPr lang="en-US" sz="1400" dirty="0"/>
          </a:p>
        </p:txBody>
      </p:sp>
      <p:sp>
        <p:nvSpPr>
          <p:cNvPr id="22" name="Text 19"/>
          <p:cNvSpPr txBox="1"/>
          <p:nvPr/>
        </p:nvSpPr>
        <p:spPr>
          <a:xfrm>
            <a:off x="6519672" y="4681728"/>
            <a:ext cx="4846320" cy="640080"/>
          </a:xfrm>
          <a:prstGeom prst="rect">
            <a:avLst/>
          </a:prstGeom>
          <a:noFill/>
          <a:ln/>
        </p:spPr>
        <p:txBody>
          <a:bodyPr wrap="square" lIns="0" tIns="0" rIns="0" bIns="0" rtlCol="0" anchor="t"/>
          <a:lstStyle/>
          <a:p>
            <a:pPr indent="0" marL="0">
              <a:buNone/>
            </a:pPr>
            <a:r>
              <a:rPr lang="en-US" sz="1500" i="1" dirty="0">
                <a:solidFill>
                  <a:schemeClr val="tx1"/>
                </a:solidFill>
              </a:rPr>
              <a:t>“I absolutely love this product! … Five stars!”</a:t>
            </a:r>
            <a:endParaRPr lang="en-US" sz="1500" dirty="0"/>
          </a:p>
        </p:txBody>
      </p:sp>
      <p:sp>
        <p:nvSpPr>
          <p:cNvPr id="23" name="Text 20"/>
          <p:cNvSpPr txBox="1"/>
          <p:nvPr/>
        </p:nvSpPr>
        <p:spPr>
          <a:xfrm>
            <a:off x="6519672" y="5394960"/>
            <a:ext cx="4846320" cy="548640"/>
          </a:xfrm>
          <a:prstGeom prst="rect">
            <a:avLst/>
          </a:prstGeom>
          <a:noFill/>
          <a:ln/>
        </p:spPr>
        <p:txBody>
          <a:bodyPr wrap="square" lIns="0" tIns="0" rIns="0" bIns="0" rtlCol="0" anchor="t"/>
          <a:lstStyle/>
          <a:p>
            <a:pPr indent="0" marL="0">
              <a:buNone/>
            </a:pPr>
            <a:r>
              <a:rPr lang="en-US" sz="1500" dirty="0">
                <a:solidFill>
                  <a:schemeClr val="tx1"/>
                </a:solidFill>
              </a:rPr>
              <a:t>Người mua bấm nhầm. Mô hình đoán đúng bản chất văn bản.</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Quy trình suy luận từ văn bản đến xác suất</a:t>
            </a:r>
            <a:endParaRPr lang="en-US" sz="3000" dirty="0"/>
          </a:p>
        </p:txBody>
      </p:sp>
      <p:sp>
        <p:nvSpPr>
          <p:cNvPr id="4" name="Card"/>
          <p:cNvSpPr/>
          <p:nvPr/>
        </p:nvSpPr>
        <p:spPr>
          <a:xfrm>
            <a:off x="548640" y="1554480"/>
            <a:ext cx="2560320" cy="2468880"/>
          </a:xfrm>
          <a:prstGeom prst="roundRect">
            <a:avLst>
              <a:gd name="adj" fmla="val 3704"/>
            </a:avLst>
          </a:prstGeom>
          <a:solidFill>
            <a:schemeClr val="bg2"/>
          </a:solidFill>
          <a:ln/>
        </p:spPr>
      </p:sp>
      <p:sp>
        <p:nvSpPr>
          <p:cNvPr id="5" name="Step 1"/>
          <p:cNvSpPr/>
          <p:nvPr/>
        </p:nvSpPr>
        <p:spPr>
          <a:xfrm>
            <a:off x="777240" y="178308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777240" y="2468880"/>
            <a:ext cx="2148840" cy="411480"/>
          </a:xfrm>
          <a:prstGeom prst="rect">
            <a:avLst/>
          </a:prstGeom>
          <a:noFill/>
          <a:ln/>
        </p:spPr>
        <p:txBody>
          <a:bodyPr wrap="square" lIns="0" tIns="0" rIns="0" bIns="0" rtlCol="0" anchor="t"/>
          <a:lstStyle/>
          <a:p>
            <a:pPr indent="0" marL="0">
              <a:buNone/>
            </a:pPr>
            <a:r>
              <a:rPr lang="en-US" sz="2000" b="1" dirty="0">
                <a:solidFill>
                  <a:schemeClr val="tx1"/>
                </a:solidFill>
              </a:rPr>
              <a:t>Ghép chuỗi</a:t>
            </a:r>
            <a:endParaRPr lang="en-US" sz="2000" dirty="0"/>
          </a:p>
        </p:txBody>
      </p:sp>
      <p:sp>
        <p:nvSpPr>
          <p:cNvPr id="7" name="Text 4"/>
          <p:cNvSpPr txBox="1"/>
          <p:nvPr/>
        </p:nvSpPr>
        <p:spPr>
          <a:xfrm>
            <a:off x="777240" y="2971800"/>
            <a:ext cx="2148840" cy="1005840"/>
          </a:xfrm>
          <a:prstGeom prst="rect">
            <a:avLst/>
          </a:prstGeom>
          <a:noFill/>
          <a:ln/>
        </p:spPr>
        <p:txBody>
          <a:bodyPr wrap="square" lIns="0" tIns="0" rIns="0" bIns="0" rtlCol="0" anchor="t"/>
          <a:lstStyle/>
          <a:p>
            <a:pPr indent="0" marL="0">
              <a:buNone/>
            </a:pPr>
            <a:r>
              <a:rPr lang="en-US" sz="1500" dirty="0">
                <a:solidFill>
                  <a:schemeClr val="tx1"/>
                </a:solidFill>
              </a:rPr>
              <a:t>Ghép tiêu đề + “ . ” + nội dung</a:t>
            </a:r>
            <a:endParaRPr lang="en-US" sz="1500" dirty="0"/>
          </a:p>
        </p:txBody>
      </p:sp>
      <p:sp>
        <p:nvSpPr>
          <p:cNvPr id="8" name="Card"/>
          <p:cNvSpPr/>
          <p:nvPr/>
        </p:nvSpPr>
        <p:spPr>
          <a:xfrm>
            <a:off x="3392424" y="1554480"/>
            <a:ext cx="2560320" cy="2468880"/>
          </a:xfrm>
          <a:prstGeom prst="roundRect">
            <a:avLst>
              <a:gd name="adj" fmla="val 3704"/>
            </a:avLst>
          </a:prstGeom>
          <a:solidFill>
            <a:schemeClr val="bg2"/>
          </a:solidFill>
          <a:ln/>
        </p:spPr>
      </p:sp>
      <p:sp>
        <p:nvSpPr>
          <p:cNvPr id="9" name="Step 2"/>
          <p:cNvSpPr/>
          <p:nvPr/>
        </p:nvSpPr>
        <p:spPr>
          <a:xfrm>
            <a:off x="3621024" y="178308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3621024" y="2468880"/>
            <a:ext cx="2148840" cy="411480"/>
          </a:xfrm>
          <a:prstGeom prst="rect">
            <a:avLst/>
          </a:prstGeom>
          <a:noFill/>
          <a:ln/>
        </p:spPr>
        <p:txBody>
          <a:bodyPr wrap="square" lIns="0" tIns="0" rIns="0" bIns="0" rtlCol="0" anchor="t"/>
          <a:lstStyle/>
          <a:p>
            <a:pPr indent="0" marL="0">
              <a:buNone/>
            </a:pPr>
            <a:r>
              <a:rPr lang="en-US" sz="2000" b="1" dirty="0">
                <a:solidFill>
                  <a:schemeClr val="tx1"/>
                </a:solidFill>
              </a:rPr>
              <a:t>Tiền xử lý</a:t>
            </a:r>
            <a:endParaRPr lang="en-US" sz="2000" dirty="0"/>
          </a:p>
        </p:txBody>
      </p:sp>
      <p:sp>
        <p:nvSpPr>
          <p:cNvPr id="11" name="Text 8"/>
          <p:cNvSpPr txBox="1"/>
          <p:nvPr/>
        </p:nvSpPr>
        <p:spPr>
          <a:xfrm>
            <a:off x="3621024" y="2971800"/>
            <a:ext cx="2148840" cy="1005840"/>
          </a:xfrm>
          <a:prstGeom prst="rect">
            <a:avLst/>
          </a:prstGeom>
          <a:noFill/>
          <a:ln/>
        </p:spPr>
        <p:txBody>
          <a:bodyPr wrap="square" lIns="0" tIns="0" rIns="0" bIns="0" rtlCol="0" anchor="t"/>
          <a:lstStyle/>
          <a:p>
            <a:pPr indent="0" marL="0">
              <a:buNone/>
            </a:pPr>
            <a:r>
              <a:rPr lang="en-US" sz="1500" dirty="0">
                <a:solidFill>
                  <a:schemeClr val="tx1"/>
                </a:solidFill>
              </a:rPr>
              <a:t>Chữ thường, bỏ HTML, giữ phủ định, “!” “?” thành token</a:t>
            </a:r>
            <a:endParaRPr lang="en-US" sz="1500" dirty="0"/>
          </a:p>
        </p:txBody>
      </p:sp>
      <p:sp>
        <p:nvSpPr>
          <p:cNvPr id="12" name="Card"/>
          <p:cNvSpPr/>
          <p:nvPr/>
        </p:nvSpPr>
        <p:spPr>
          <a:xfrm>
            <a:off x="6236208" y="1554480"/>
            <a:ext cx="2560320" cy="2468880"/>
          </a:xfrm>
          <a:prstGeom prst="roundRect">
            <a:avLst>
              <a:gd name="adj" fmla="val 3704"/>
            </a:avLst>
          </a:prstGeom>
          <a:solidFill>
            <a:schemeClr val="bg2"/>
          </a:solidFill>
          <a:ln/>
        </p:spPr>
      </p:sp>
      <p:sp>
        <p:nvSpPr>
          <p:cNvPr id="13" name="Step 3"/>
          <p:cNvSpPr/>
          <p:nvPr/>
        </p:nvSpPr>
        <p:spPr>
          <a:xfrm>
            <a:off x="6464808" y="178308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6464808" y="2468880"/>
            <a:ext cx="2148840" cy="411480"/>
          </a:xfrm>
          <a:prstGeom prst="rect">
            <a:avLst/>
          </a:prstGeom>
          <a:noFill/>
          <a:ln/>
        </p:spPr>
        <p:txBody>
          <a:bodyPr wrap="square" lIns="0" tIns="0" rIns="0" bIns="0" rtlCol="0" anchor="t"/>
          <a:lstStyle/>
          <a:p>
            <a:pPr indent="0" marL="0">
              <a:buNone/>
            </a:pPr>
            <a:r>
              <a:rPr lang="en-US" sz="2000" b="1" dirty="0">
                <a:solidFill>
                  <a:schemeClr val="tx1"/>
                </a:solidFill>
              </a:rPr>
              <a:t>Vector TF-IDF</a:t>
            </a:r>
            <a:endParaRPr lang="en-US" sz="2000" dirty="0"/>
          </a:p>
        </p:txBody>
      </p:sp>
      <p:sp>
        <p:nvSpPr>
          <p:cNvPr id="15" name="Text 12"/>
          <p:cNvSpPr txBox="1"/>
          <p:nvPr/>
        </p:nvSpPr>
        <p:spPr>
          <a:xfrm>
            <a:off x="6464808" y="2971800"/>
            <a:ext cx="2148840" cy="1005840"/>
          </a:xfrm>
          <a:prstGeom prst="rect">
            <a:avLst/>
          </a:prstGeom>
          <a:noFill/>
          <a:ln/>
        </p:spPr>
        <p:txBody>
          <a:bodyPr wrap="square" lIns="0" tIns="0" rIns="0" bIns="0" rtlCol="0" anchor="t"/>
          <a:lstStyle/>
          <a:p>
            <a:pPr indent="0" marL="0">
              <a:buNone/>
            </a:pPr>
            <a:r>
              <a:rPr lang="en-US" sz="1500" dirty="0">
                <a:solidFill>
                  <a:schemeClr val="tx1"/>
                </a:solidFill>
              </a:rPr>
              <a:t>Vector thưa 50,000 chiều với từ vựng đã khớp sẵn</a:t>
            </a:r>
            <a:endParaRPr lang="en-US" sz="1500" dirty="0"/>
          </a:p>
        </p:txBody>
      </p:sp>
      <p:sp>
        <p:nvSpPr>
          <p:cNvPr id="16" name="Card"/>
          <p:cNvSpPr/>
          <p:nvPr/>
        </p:nvSpPr>
        <p:spPr>
          <a:xfrm>
            <a:off x="9079992" y="1554480"/>
            <a:ext cx="2560320" cy="2468880"/>
          </a:xfrm>
          <a:prstGeom prst="roundRect">
            <a:avLst>
              <a:gd name="adj" fmla="val 3704"/>
            </a:avLst>
          </a:prstGeom>
          <a:solidFill>
            <a:schemeClr val="bg2"/>
          </a:solidFill>
          <a:ln/>
        </p:spPr>
      </p:sp>
      <p:sp>
        <p:nvSpPr>
          <p:cNvPr id="17" name="Step 4"/>
          <p:cNvSpPr/>
          <p:nvPr/>
        </p:nvSpPr>
        <p:spPr>
          <a:xfrm>
            <a:off x="9308592" y="178308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5"/>
          <p:cNvSpPr txBox="1"/>
          <p:nvPr/>
        </p:nvSpPr>
        <p:spPr>
          <a:xfrm>
            <a:off x="9308592" y="2468880"/>
            <a:ext cx="2148840" cy="411480"/>
          </a:xfrm>
          <a:prstGeom prst="rect">
            <a:avLst/>
          </a:prstGeom>
          <a:noFill/>
          <a:ln/>
        </p:spPr>
        <p:txBody>
          <a:bodyPr wrap="square" lIns="0" tIns="0" rIns="0" bIns="0" rtlCol="0" anchor="t"/>
          <a:lstStyle/>
          <a:p>
            <a:pPr indent="0" marL="0">
              <a:buNone/>
            </a:pPr>
            <a:r>
              <a:rPr lang="en-US" sz="2000" b="1" dirty="0">
                <a:solidFill>
                  <a:schemeClr val="tx1"/>
                </a:solidFill>
              </a:rPr>
              <a:t>Softmax</a:t>
            </a:r>
            <a:endParaRPr lang="en-US" sz="2000" dirty="0"/>
          </a:p>
        </p:txBody>
      </p:sp>
      <p:sp>
        <p:nvSpPr>
          <p:cNvPr id="19" name="Text 16"/>
          <p:cNvSpPr txBox="1"/>
          <p:nvPr/>
        </p:nvSpPr>
        <p:spPr>
          <a:xfrm>
            <a:off x="9308592" y="2971800"/>
            <a:ext cx="2148840" cy="1005840"/>
          </a:xfrm>
          <a:prstGeom prst="rect">
            <a:avLst/>
          </a:prstGeom>
          <a:noFill/>
          <a:ln/>
        </p:spPr>
        <p:txBody>
          <a:bodyPr wrap="square" lIns="0" tIns="0" rIns="0" bIns="0" rtlCol="0" anchor="t"/>
          <a:lstStyle/>
          <a:p>
            <a:pPr indent="0" marL="0">
              <a:buNone/>
            </a:pPr>
            <a:r>
              <a:rPr lang="en-US" sz="1500" dirty="0">
                <a:solidFill>
                  <a:schemeClr val="tx1"/>
                </a:solidFill>
              </a:rPr>
              <a:t>Điểm 5 mức sao thành xác suất, chọn mức cao nhất</a:t>
            </a:r>
            <a:endParaRPr lang="en-US" sz="1500" dirty="0"/>
          </a:p>
        </p:txBody>
      </p:sp>
      <p:sp>
        <p:nvSpPr>
          <p:cNvPr id="20" name="Card"/>
          <p:cNvSpPr/>
          <p:nvPr/>
        </p:nvSpPr>
        <p:spPr>
          <a:xfrm>
            <a:off x="548640" y="4251960"/>
            <a:ext cx="5394960" cy="1828800"/>
          </a:xfrm>
          <a:prstGeom prst="roundRect">
            <a:avLst>
              <a:gd name="adj" fmla="val 5000"/>
            </a:avLst>
          </a:prstGeom>
          <a:solidFill>
            <a:schemeClr val="bg2"/>
          </a:solidFill>
          <a:ln/>
        </p:spPr>
      </p:sp>
      <p:sp>
        <p:nvSpPr>
          <p:cNvPr id="21" name="Text 18"/>
          <p:cNvSpPr txBox="1"/>
          <p:nvPr/>
        </p:nvSpPr>
        <p:spPr>
          <a:xfrm>
            <a:off x="822960" y="4434840"/>
            <a:ext cx="4846320" cy="365760"/>
          </a:xfrm>
          <a:prstGeom prst="rect">
            <a:avLst/>
          </a:prstGeom>
          <a:noFill/>
          <a:ln/>
        </p:spPr>
        <p:txBody>
          <a:bodyPr wrap="square" lIns="0" tIns="0" rIns="0" bIns="0" rtlCol="0" anchor="t"/>
          <a:lstStyle/>
          <a:p>
            <a:pPr indent="0" marL="0">
              <a:buNone/>
            </a:pPr>
            <a:r>
              <a:rPr lang="en-US" sz="2000" b="1" dirty="0">
                <a:solidFill>
                  <a:schemeClr val="accent6"/>
                </a:solidFill>
              </a:rPr>
              <a:t>Đóng gói gọn</a:t>
            </a:r>
            <a:endParaRPr lang="en-US" sz="2000" dirty="0"/>
          </a:p>
        </p:txBody>
      </p:sp>
      <p:sp>
        <p:nvSpPr>
          <p:cNvPr id="22" name="Text 19"/>
          <p:cNvSpPr txBox="1"/>
          <p:nvPr/>
        </p:nvSpPr>
        <p:spPr>
          <a:xfrm>
            <a:off x="822960" y="4937760"/>
            <a:ext cx="4846320" cy="1005840"/>
          </a:xfrm>
          <a:prstGeom prst="rect">
            <a:avLst/>
          </a:prstGeom>
          <a:noFill/>
          <a:ln/>
        </p:spPr>
        <p:txBody>
          <a:bodyPr wrap="square" lIns="0" tIns="0" rIns="0" bIns="0" rtlCol="0" anchor="t"/>
          <a:lstStyle/>
          <a:p>
            <a:pPr indent="0" marL="0">
              <a:buNone/>
            </a:pPr>
            <a:r>
              <a:rPr lang="en-US" sz="1600" dirty="0">
                <a:solidFill>
                  <a:schemeClr val="tx1"/>
                </a:solidFill>
              </a:rPr>
              <a:t>Từ điển và mô hình nằm trong một tệp joblib 4.8 MB, nạp vào bộ nhớ dưới 0.1 giây.</a:t>
            </a:r>
            <a:endParaRPr lang="en-US" sz="1600" dirty="0"/>
          </a:p>
        </p:txBody>
      </p:sp>
      <p:sp>
        <p:nvSpPr>
          <p:cNvPr id="23" name="Card"/>
          <p:cNvSpPr/>
          <p:nvPr/>
        </p:nvSpPr>
        <p:spPr>
          <a:xfrm>
            <a:off x="6245352" y="4251960"/>
            <a:ext cx="5394960" cy="1828800"/>
          </a:xfrm>
          <a:prstGeom prst="roundRect">
            <a:avLst>
              <a:gd name="adj" fmla="val 5000"/>
            </a:avLst>
          </a:prstGeom>
          <a:solidFill>
            <a:schemeClr val="bg2"/>
          </a:solidFill>
          <a:ln/>
        </p:spPr>
      </p:sp>
      <p:sp>
        <p:nvSpPr>
          <p:cNvPr id="24" name="Text 21"/>
          <p:cNvSpPr txBox="1"/>
          <p:nvPr/>
        </p:nvSpPr>
        <p:spPr>
          <a:xfrm>
            <a:off x="6519672" y="4434840"/>
            <a:ext cx="4846320" cy="365760"/>
          </a:xfrm>
          <a:prstGeom prst="rect">
            <a:avLst/>
          </a:prstGeom>
          <a:noFill/>
          <a:ln/>
        </p:spPr>
        <p:txBody>
          <a:bodyPr wrap="square" lIns="0" tIns="0" rIns="0" bIns="0" rtlCol="0" anchor="t"/>
          <a:lstStyle/>
          <a:p>
            <a:pPr indent="0" marL="0">
              <a:buNone/>
            </a:pPr>
            <a:r>
              <a:rPr lang="en-US" sz="2000" b="1" dirty="0">
                <a:solidFill>
                  <a:schemeClr val="accent6"/>
                </a:solidFill>
              </a:rPr>
              <a:t>Xác suất giúp quyết định</a:t>
            </a:r>
            <a:endParaRPr lang="en-US" sz="2000" dirty="0"/>
          </a:p>
        </p:txBody>
      </p:sp>
      <p:sp>
        <p:nvSpPr>
          <p:cNvPr id="25" name="Text 22"/>
          <p:cNvSpPr txBox="1"/>
          <p:nvPr/>
        </p:nvSpPr>
        <p:spPr>
          <a:xfrm>
            <a:off x="6519672" y="4937760"/>
            <a:ext cx="4846320" cy="1005840"/>
          </a:xfrm>
          <a:prstGeom prst="rect">
            <a:avLst/>
          </a:prstGeom>
          <a:noFill/>
          <a:ln/>
        </p:spPr>
        <p:txBody>
          <a:bodyPr wrap="square" lIns="0" tIns="0" rIns="0" bIns="0" rtlCol="0" anchor="t"/>
          <a:lstStyle/>
          <a:p>
            <a:pPr indent="0" marL="0">
              <a:buNone/>
            </a:pPr>
            <a:r>
              <a:rPr lang="en-US" sz="1600" dirty="0">
                <a:solidFill>
                  <a:schemeClr val="tx1"/>
                </a:solidFill>
              </a:rPr>
              <a:t>Một mức đạt 85% thì tự tin. Hai mức kề nhau 42% và 45% là ca mơ hồ, nên gắn cờ cho người đọc.</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Thử suy luận trên ba review thực tế</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7315200"/>
                <a:gridCol w="1828800"/>
                <a:gridCol w="1947672"/>
              </a:tblGrid>
              <a:tr h="548640">
                <a:tc>
                  <a:txBody>
                    <a:bodyPr/>
                    <a:lstStyle/>
                    <a:p>
                      <a:pPr algn="l" indent="0" marL="0">
                        <a:buNone/>
                      </a:pPr>
                      <a:r>
                        <a:rPr lang="en-US" sz="1700" b="1" dirty="0">
                          <a:solidFill>
                            <a:srgbClr val="FFFFFF"/>
                          </a:solidFill>
                        </a:rPr>
                        <a:t>Review</a:t>
                      </a:r>
                      <a:endParaRPr lang="en-US" sz="17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ctr" indent="0" marL="0">
                        <a:buNone/>
                      </a:pPr>
                      <a:r>
                        <a:rPr lang="en-US" sz="1700" b="1" dirty="0">
                          <a:solidFill>
                            <a:srgbClr val="FFFFFF"/>
                          </a:solidFill>
                        </a:rPr>
                        <a:t>Dự đoán</a:t>
                      </a:r>
                      <a:endParaRPr lang="en-US" sz="17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ctr" indent="0" marL="0">
                        <a:buNone/>
                      </a:pPr>
                      <a:r>
                        <a:rPr lang="en-US" sz="1700" b="1" dirty="0">
                          <a:solidFill>
                            <a:srgbClr val="FFFFFF"/>
                          </a:solidFill>
                        </a:rPr>
                        <a:t>Xác suất</a:t>
                      </a:r>
                      <a:endParaRPr lang="en-US" sz="17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r>
              <a:tr h="914400">
                <a:tc>
                  <a:txBody>
                    <a:bodyPr/>
                    <a:lstStyle/>
                    <a:p>
                      <a:pPr algn="l" indent="0" marL="0">
                        <a:buNone/>
                      </a:pPr>
                      <a:r>
                        <a:rPr lang="en-US" sz="1700" b="1" dirty="0">
                          <a:solidFill>
                            <a:srgbClr val="1F2328"/>
                          </a:solidFill>
                        </a:rPr>
                        <a:t>“Terrible waste of money”</a:t>
                      </a:r>
                      <a:endParaRPr lang="en-US" sz="1700" dirty="0"/>
                    </a:p>
                    <a:p>
                      <a:pPr algn="l" indent="0" marL="0">
                        <a:buNone/>
                      </a:pPr>
                      <a:r>
                        <a:rPr lang="en-US" sz="1400" dirty="0">
                          <a:solidFill>
                            <a:srgbClr val="5B6770"/>
                          </a:solidFill>
                        </a:rPr>
                        <a:t>Broke on the first day. Very bad quality. Do not buy!</a:t>
                      </a:r>
                      <a:endParaRPr lang="en-US" sz="17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2000" b="1" dirty="0">
                          <a:solidFill>
                            <a:srgbClr val="8C5A2B"/>
                          </a:solidFill>
                        </a:rPr>
                        <a:t>1 sao</a:t>
                      </a:r>
                      <a:endParaRPr lang="en-US" sz="20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2000" dirty="0">
                          <a:solidFill>
                            <a:srgbClr val="1F2328"/>
                          </a:solidFill>
                        </a:rPr>
                        <a:t>84.5%</a:t>
                      </a:r>
                      <a:endParaRPr lang="en-US" sz="20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914400">
                <a:tc>
                  <a:txBody>
                    <a:bodyPr/>
                    <a:lstStyle/>
                    <a:p>
                      <a:pPr algn="l" indent="0" marL="0">
                        <a:buNone/>
                      </a:pPr>
                      <a:r>
                        <a:rPr lang="en-US" sz="1700" b="1" dirty="0">
                          <a:solidFill>
                            <a:srgbClr val="1F2328"/>
                          </a:solidFill>
                        </a:rPr>
                        <a:t>“Average product”</a:t>
                      </a:r>
                      <a:endParaRPr lang="en-US" sz="1700" dirty="0"/>
                    </a:p>
                    <a:p>
                      <a:pPr algn="l" indent="0" marL="0">
                        <a:buNone/>
                      </a:pPr>
                      <a:r>
                        <a:rPr lang="en-US" sz="1400" dirty="0">
                          <a:solidFill>
                            <a:srgbClr val="5B6770"/>
                          </a:solidFill>
                        </a:rPr>
                        <a:t>It works fine, but nothing special. Delivery took longer than expected.</a:t>
                      </a:r>
                      <a:endParaRPr lang="en-US" sz="17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2000" b="1" dirty="0">
                          <a:solidFill>
                            <a:srgbClr val="8C5A2B"/>
                          </a:solidFill>
                        </a:rPr>
                        <a:t>3 sao</a:t>
                      </a:r>
                      <a:endParaRPr lang="en-US" sz="20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2000" dirty="0">
                          <a:solidFill>
                            <a:srgbClr val="1F2328"/>
                          </a:solidFill>
                        </a:rPr>
                        <a:t>69.7%</a:t>
                      </a:r>
                      <a:endParaRPr lang="en-US" sz="20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914400">
                <a:tc>
                  <a:txBody>
                    <a:bodyPr/>
                    <a:lstStyle/>
                    <a:p>
                      <a:pPr algn="l" indent="0" marL="0">
                        <a:buNone/>
                      </a:pPr>
                      <a:r>
                        <a:rPr lang="en-US" sz="1700" b="1" dirty="0">
                          <a:solidFill>
                            <a:srgbClr val="1F2328"/>
                          </a:solidFill>
                        </a:rPr>
                        <a:t>“Totally exceeded my expectations!”</a:t>
                      </a:r>
                      <a:endParaRPr lang="en-US" sz="1700" dirty="0"/>
                    </a:p>
                    <a:p>
                      <a:pPr algn="l" indent="0" marL="0">
                        <a:buNone/>
                      </a:pPr>
                      <a:r>
                        <a:rPr lang="en-US" sz="1400" dirty="0">
                          <a:solidFill>
                            <a:srgbClr val="5B6770"/>
                          </a:solidFill>
                        </a:rPr>
                        <a:t>Fast shipping, high quality material, and works perfectly.</a:t>
                      </a:r>
                      <a:endParaRPr lang="en-US" sz="17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2000" b="1" dirty="0">
                          <a:solidFill>
                            <a:srgbClr val="8C5A2B"/>
                          </a:solidFill>
                        </a:rPr>
                        <a:t>5 sao</a:t>
                      </a:r>
                      <a:endParaRPr lang="en-US" sz="20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2000" dirty="0">
                          <a:solidFill>
                            <a:srgbClr val="1F2328"/>
                          </a:solidFill>
                        </a:rPr>
                        <a:t>67.1%</a:t>
                      </a:r>
                      <a:endParaRPr lang="en-US" sz="20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bl>
          </a:graphicData>
        </a:graphic>
      </p:graphicFrame>
      <p:sp>
        <p:nvSpPr>
          <p:cNvPr id="5" name="Card"/>
          <p:cNvSpPr/>
          <p:nvPr/>
        </p:nvSpPr>
        <p:spPr>
          <a:xfrm>
            <a:off x="548640" y="5074920"/>
            <a:ext cx="11091672" cy="1005840"/>
          </a:xfrm>
          <a:prstGeom prst="roundRect">
            <a:avLst>
              <a:gd name="adj" fmla="val 9091"/>
            </a:avLst>
          </a:prstGeom>
          <a:solidFill>
            <a:schemeClr val="bg2"/>
          </a:solidFill>
          <a:ln/>
        </p:spPr>
      </p:sp>
      <p:sp>
        <p:nvSpPr>
          <p:cNvPr id="6" name="Text 2"/>
          <p:cNvSpPr txBox="1"/>
          <p:nvPr/>
        </p:nvSpPr>
        <p:spPr>
          <a:xfrm>
            <a:off x="822960" y="5074920"/>
            <a:ext cx="10543032" cy="1005840"/>
          </a:xfrm>
          <a:prstGeom prst="rect">
            <a:avLst/>
          </a:prstGeom>
          <a:noFill/>
          <a:ln/>
        </p:spPr>
        <p:txBody>
          <a:bodyPr wrap="square" lIns="0" tIns="0" rIns="0" bIns="0" rtlCol="0" anchor="ctr"/>
          <a:lstStyle/>
          <a:p>
            <a:pPr indent="0" marL="0">
              <a:buNone/>
            </a:pPr>
            <a:r>
              <a:rPr lang="en-US" sz="1600" dirty="0">
                <a:solidFill>
                  <a:schemeClr val="tx1"/>
                </a:solidFill>
              </a:rPr>
              <a:t>Cả ba đều đúng. Mô hình bắt được các cụm “do not buy”, “waste of money” và từ khen mạnh như “exceeded”, “perfectly”.</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Chẩn đoán sản phẩm bằng 9 nhóm khía cạnh</a:t>
            </a:r>
            <a:endParaRPr lang="en-US" sz="3000" dirty="0"/>
          </a:p>
        </p:txBody>
      </p:sp>
      <p:sp>
        <p:nvSpPr>
          <p:cNvPr id="4" name="Step 1"/>
          <p:cNvSpPr/>
          <p:nvPr/>
        </p:nvSpPr>
        <p:spPr>
          <a:xfrm>
            <a:off x="548640" y="164592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2"/>
          <p:cNvSpPr txBox="1"/>
          <p:nvPr/>
        </p:nvSpPr>
        <p:spPr>
          <a:xfrm>
            <a:off x="1325880" y="1554480"/>
            <a:ext cx="5212080" cy="365760"/>
          </a:xfrm>
          <a:prstGeom prst="rect">
            <a:avLst/>
          </a:prstGeom>
          <a:noFill/>
          <a:ln/>
        </p:spPr>
        <p:txBody>
          <a:bodyPr wrap="square" lIns="0" tIns="0" rIns="0" bIns="0" rtlCol="0" anchor="t"/>
          <a:lstStyle/>
          <a:p>
            <a:pPr indent="0" marL="0">
              <a:buNone/>
            </a:pPr>
            <a:r>
              <a:rPr lang="en-US" sz="2000" b="1" dirty="0">
                <a:solidFill>
                  <a:schemeClr val="tx1"/>
                </a:solidFill>
              </a:rPr>
              <a:t>Dự đoán sao</a:t>
            </a:r>
            <a:endParaRPr lang="en-US" sz="2000" dirty="0"/>
          </a:p>
        </p:txBody>
      </p:sp>
      <p:sp>
        <p:nvSpPr>
          <p:cNvPr id="6" name="Text 3"/>
          <p:cNvSpPr txBox="1"/>
          <p:nvPr/>
        </p:nvSpPr>
        <p:spPr>
          <a:xfrm>
            <a:off x="1325880" y="1965960"/>
            <a:ext cx="5212080" cy="548640"/>
          </a:xfrm>
          <a:prstGeom prst="rect">
            <a:avLst/>
          </a:prstGeom>
          <a:noFill/>
          <a:ln/>
        </p:spPr>
        <p:txBody>
          <a:bodyPr wrap="square" lIns="0" tIns="0" rIns="0" bIns="0" rtlCol="0" anchor="t"/>
          <a:lstStyle/>
          <a:p>
            <a:pPr indent="0" marL="0">
              <a:buNone/>
            </a:pPr>
            <a:r>
              <a:rPr lang="en-US" sz="1500" dirty="0">
                <a:solidFill>
                  <a:schemeClr val="tx1"/>
                </a:solidFill>
              </a:rPr>
              <a:t>Sao trung bình và khoảng tin cậy 95% (bootstrap 1,000 lần)</a:t>
            </a:r>
            <a:endParaRPr lang="en-US" sz="1500" dirty="0"/>
          </a:p>
        </p:txBody>
      </p:sp>
      <p:sp>
        <p:nvSpPr>
          <p:cNvPr id="7" name="Step 2"/>
          <p:cNvSpPr/>
          <p:nvPr/>
        </p:nvSpPr>
        <p:spPr>
          <a:xfrm>
            <a:off x="548640" y="274320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5"/>
          <p:cNvSpPr txBox="1"/>
          <p:nvPr/>
        </p:nvSpPr>
        <p:spPr>
          <a:xfrm>
            <a:off x="1325880" y="2651760"/>
            <a:ext cx="5212080" cy="365760"/>
          </a:xfrm>
          <a:prstGeom prst="rect">
            <a:avLst/>
          </a:prstGeom>
          <a:noFill/>
          <a:ln/>
        </p:spPr>
        <p:txBody>
          <a:bodyPr wrap="square" lIns="0" tIns="0" rIns="0" bIns="0" rtlCol="0" anchor="t"/>
          <a:lstStyle/>
          <a:p>
            <a:pPr indent="0" marL="0">
              <a:buNone/>
            </a:pPr>
            <a:r>
              <a:rPr lang="en-US" sz="2000" b="1" dirty="0">
                <a:solidFill>
                  <a:schemeClr val="tx1"/>
                </a:solidFill>
              </a:rPr>
              <a:t>Phân loại chất lượng</a:t>
            </a:r>
            <a:endParaRPr lang="en-US" sz="2000" dirty="0"/>
          </a:p>
        </p:txBody>
      </p:sp>
      <p:sp>
        <p:nvSpPr>
          <p:cNvPr id="9" name="Text 6"/>
          <p:cNvSpPr txBox="1"/>
          <p:nvPr/>
        </p:nvSpPr>
        <p:spPr>
          <a:xfrm>
            <a:off x="1325880" y="3063240"/>
            <a:ext cx="5212080" cy="548640"/>
          </a:xfrm>
          <a:prstGeom prst="rect">
            <a:avLst/>
          </a:prstGeom>
          <a:noFill/>
          <a:ln/>
        </p:spPr>
        <p:txBody>
          <a:bodyPr wrap="square" lIns="0" tIns="0" rIns="0" bIns="0" rtlCol="0" anchor="t"/>
          <a:lstStyle/>
          <a:p>
            <a:pPr indent="0" marL="0">
              <a:buNone/>
            </a:pPr>
            <a:r>
              <a:rPr lang="en-US" sz="1500" dirty="0">
                <a:solidFill>
                  <a:schemeClr val="tx1"/>
                </a:solidFill>
              </a:rPr>
              <a:t>Từ 3.5 và cận dưới từ 3.0 là rất tốt, dưới 3.0 là không tốt</a:t>
            </a:r>
            <a:endParaRPr lang="en-US" sz="1500" dirty="0"/>
          </a:p>
        </p:txBody>
      </p:sp>
      <p:sp>
        <p:nvSpPr>
          <p:cNvPr id="10" name="Step 3"/>
          <p:cNvSpPr/>
          <p:nvPr/>
        </p:nvSpPr>
        <p:spPr>
          <a:xfrm>
            <a:off x="548640" y="38404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Text 8"/>
          <p:cNvSpPr txBox="1"/>
          <p:nvPr/>
        </p:nvSpPr>
        <p:spPr>
          <a:xfrm>
            <a:off x="1325880" y="3749040"/>
            <a:ext cx="5212080" cy="365760"/>
          </a:xfrm>
          <a:prstGeom prst="rect">
            <a:avLst/>
          </a:prstGeom>
          <a:noFill/>
          <a:ln/>
        </p:spPr>
        <p:txBody>
          <a:bodyPr wrap="square" lIns="0" tIns="0" rIns="0" bIns="0" rtlCol="0" anchor="t"/>
          <a:lstStyle/>
          <a:p>
            <a:pPr indent="0" marL="0">
              <a:buNone/>
            </a:pPr>
            <a:r>
              <a:rPr lang="en-US" sz="2000" b="1" dirty="0">
                <a:solidFill>
                  <a:schemeClr val="tx1"/>
                </a:solidFill>
              </a:rPr>
              <a:t>Bóc khía cạnh</a:t>
            </a:r>
            <a:endParaRPr lang="en-US" sz="2000" dirty="0"/>
          </a:p>
        </p:txBody>
      </p:sp>
      <p:sp>
        <p:nvSpPr>
          <p:cNvPr id="12" name="Text 9"/>
          <p:cNvSpPr txBox="1"/>
          <p:nvPr/>
        </p:nvSpPr>
        <p:spPr>
          <a:xfrm>
            <a:off x="1325880" y="4160520"/>
            <a:ext cx="5212080" cy="548640"/>
          </a:xfrm>
          <a:prstGeom prst="rect">
            <a:avLst/>
          </a:prstGeom>
          <a:noFill/>
          <a:ln/>
        </p:spPr>
        <p:txBody>
          <a:bodyPr wrap="square" lIns="0" tIns="0" rIns="0" bIns="0" rtlCol="0" anchor="t"/>
          <a:lstStyle/>
          <a:p>
            <a:pPr indent="0" marL="0">
              <a:buNone/>
            </a:pPr>
            <a:r>
              <a:rPr lang="en-US" sz="1500" dirty="0">
                <a:solidFill>
                  <a:schemeClr val="tx1"/>
                </a:solidFill>
              </a:rPr>
              <a:t>Chỉ lấy review 1–2 sao, câu phàn nàn khi P(1) + P(2) từ 0.5</a:t>
            </a:r>
            <a:endParaRPr lang="en-US" sz="1500" dirty="0"/>
          </a:p>
        </p:txBody>
      </p:sp>
      <p:sp>
        <p:nvSpPr>
          <p:cNvPr id="13" name="Step 4"/>
          <p:cNvSpPr/>
          <p:nvPr/>
        </p:nvSpPr>
        <p:spPr>
          <a:xfrm>
            <a:off x="548640" y="493776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Text 11"/>
          <p:cNvSpPr txBox="1"/>
          <p:nvPr/>
        </p:nvSpPr>
        <p:spPr>
          <a:xfrm>
            <a:off x="1325880" y="4846320"/>
            <a:ext cx="5212080" cy="365760"/>
          </a:xfrm>
          <a:prstGeom prst="rect">
            <a:avLst/>
          </a:prstGeom>
          <a:noFill/>
          <a:ln/>
        </p:spPr>
        <p:txBody>
          <a:bodyPr wrap="square" lIns="0" tIns="0" rIns="0" bIns="0" rtlCol="0" anchor="t"/>
          <a:lstStyle/>
          <a:p>
            <a:pPr indent="0" marL="0">
              <a:buNone/>
            </a:pPr>
            <a:r>
              <a:rPr lang="en-US" sz="2000" b="1" dirty="0">
                <a:solidFill>
                  <a:schemeClr val="tx1"/>
                </a:solidFill>
              </a:rPr>
              <a:t>Báo cáo</a:t>
            </a:r>
            <a:endParaRPr lang="en-US" sz="2000" dirty="0"/>
          </a:p>
        </p:txBody>
      </p:sp>
      <p:sp>
        <p:nvSpPr>
          <p:cNvPr id="15" name="Text 12"/>
          <p:cNvSpPr txBox="1"/>
          <p:nvPr/>
        </p:nvSpPr>
        <p:spPr>
          <a:xfrm>
            <a:off x="1325880" y="5257800"/>
            <a:ext cx="5212080" cy="548640"/>
          </a:xfrm>
          <a:prstGeom prst="rect">
            <a:avLst/>
          </a:prstGeom>
          <a:noFill/>
          <a:ln/>
        </p:spPr>
        <p:txBody>
          <a:bodyPr wrap="square" lIns="0" tIns="0" rIns="0" bIns="0" rtlCol="0" anchor="t"/>
          <a:lstStyle/>
          <a:p>
            <a:pPr indent="0" marL="0">
              <a:buNone/>
            </a:pPr>
            <a:r>
              <a:rPr lang="en-US" sz="1500" dirty="0">
                <a:solidFill>
                  <a:schemeClr val="tx1"/>
                </a:solidFill>
              </a:rPr>
              <a:t>Top 3 vấn đề nghiêm trọng kèm gợi ý hành động</a:t>
            </a:r>
            <a:endParaRPr lang="en-US" sz="1500" dirty="0"/>
          </a:p>
        </p:txBody>
      </p:sp>
      <p:sp>
        <p:nvSpPr>
          <p:cNvPr id="16" name="Text 13"/>
          <p:cNvSpPr txBox="1"/>
          <p:nvPr/>
        </p:nvSpPr>
        <p:spPr>
          <a:xfrm>
            <a:off x="6858000" y="1554480"/>
            <a:ext cx="4782312" cy="365760"/>
          </a:xfrm>
          <a:prstGeom prst="rect">
            <a:avLst/>
          </a:prstGeom>
          <a:noFill/>
          <a:ln/>
        </p:spPr>
        <p:txBody>
          <a:bodyPr wrap="square" lIns="0" tIns="0" rIns="0" bIns="0" rtlCol="0" anchor="t"/>
          <a:lstStyle/>
          <a:p>
            <a:pPr indent="0" marL="0">
              <a:buNone/>
            </a:pPr>
            <a:r>
              <a:rPr lang="en-US" sz="2000" b="1" dirty="0">
                <a:solidFill>
                  <a:schemeClr val="accent6"/>
                </a:solidFill>
              </a:rPr>
              <a:t>9 nhóm khía cạnh</a:t>
            </a:r>
            <a:endParaRPr lang="en-US" sz="2000" dirty="0"/>
          </a:p>
        </p:txBody>
      </p:sp>
      <p:sp>
        <p:nvSpPr>
          <p:cNvPr id="17" name="Chip 1"/>
          <p:cNvSpPr/>
          <p:nvPr/>
        </p:nvSpPr>
        <p:spPr>
          <a:xfrm>
            <a:off x="6858000" y="2103120"/>
            <a:ext cx="1508760" cy="1051560"/>
          </a:xfrm>
          <a:prstGeom prst="roundRect">
            <a:avLst>
              <a:gd name="adj" fmla="val 8696"/>
            </a:avLst>
          </a:prstGeom>
          <a:solidFill>
            <a:schemeClr val="bg2"/>
          </a:solidFill>
          <a:ln/>
        </p:spPr>
      </p:sp>
      <p:sp>
        <p:nvSpPr>
          <p:cNvPr id="18" name="Text 15"/>
          <p:cNvSpPr txBox="1"/>
          <p:nvPr/>
        </p:nvSpPr>
        <p:spPr>
          <a:xfrm>
            <a:off x="6949440" y="210312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Giao hàng, đóng gói</a:t>
            </a:r>
            <a:endParaRPr lang="en-US" sz="1500" dirty="0"/>
          </a:p>
        </p:txBody>
      </p:sp>
      <p:sp>
        <p:nvSpPr>
          <p:cNvPr id="19" name="Chip 2"/>
          <p:cNvSpPr/>
          <p:nvPr/>
        </p:nvSpPr>
        <p:spPr>
          <a:xfrm>
            <a:off x="8494776" y="2103120"/>
            <a:ext cx="1508760" cy="1051560"/>
          </a:xfrm>
          <a:prstGeom prst="roundRect">
            <a:avLst>
              <a:gd name="adj" fmla="val 8696"/>
            </a:avLst>
          </a:prstGeom>
          <a:solidFill>
            <a:schemeClr val="bg2"/>
          </a:solidFill>
          <a:ln/>
        </p:spPr>
      </p:sp>
      <p:sp>
        <p:nvSpPr>
          <p:cNvPr id="20" name="Text 17"/>
          <p:cNvSpPr txBox="1"/>
          <p:nvPr/>
        </p:nvSpPr>
        <p:spPr>
          <a:xfrm>
            <a:off x="8586216" y="210312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Chất lượng</a:t>
            </a:r>
            <a:endParaRPr lang="en-US" sz="1500" dirty="0"/>
          </a:p>
        </p:txBody>
      </p:sp>
      <p:sp>
        <p:nvSpPr>
          <p:cNvPr id="21" name="Chip 3"/>
          <p:cNvSpPr/>
          <p:nvPr/>
        </p:nvSpPr>
        <p:spPr>
          <a:xfrm>
            <a:off x="10131552" y="2103120"/>
            <a:ext cx="1508760" cy="1051560"/>
          </a:xfrm>
          <a:prstGeom prst="roundRect">
            <a:avLst>
              <a:gd name="adj" fmla="val 8696"/>
            </a:avLst>
          </a:prstGeom>
          <a:solidFill>
            <a:schemeClr val="bg2"/>
          </a:solidFill>
          <a:ln/>
        </p:spPr>
      </p:sp>
      <p:sp>
        <p:nvSpPr>
          <p:cNvPr id="22" name="Text 19"/>
          <p:cNvSpPr txBox="1"/>
          <p:nvPr/>
        </p:nvSpPr>
        <p:spPr>
          <a:xfrm>
            <a:off x="10222992" y="210312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Độ bền, hỏng hóc</a:t>
            </a:r>
            <a:endParaRPr lang="en-US" sz="1500" dirty="0"/>
          </a:p>
        </p:txBody>
      </p:sp>
      <p:sp>
        <p:nvSpPr>
          <p:cNvPr id="23" name="Chip 4"/>
          <p:cNvSpPr/>
          <p:nvPr/>
        </p:nvSpPr>
        <p:spPr>
          <a:xfrm>
            <a:off x="6858000" y="3291840"/>
            <a:ext cx="1508760" cy="1051560"/>
          </a:xfrm>
          <a:prstGeom prst="roundRect">
            <a:avLst>
              <a:gd name="adj" fmla="val 8696"/>
            </a:avLst>
          </a:prstGeom>
          <a:solidFill>
            <a:schemeClr val="bg2"/>
          </a:solidFill>
          <a:ln/>
        </p:spPr>
      </p:sp>
      <p:sp>
        <p:nvSpPr>
          <p:cNvPr id="24" name="Text 21"/>
          <p:cNvSpPr txBox="1"/>
          <p:nvPr/>
        </p:nvSpPr>
        <p:spPr>
          <a:xfrm>
            <a:off x="6949440" y="329184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Hoạt động kém</a:t>
            </a:r>
            <a:endParaRPr lang="en-US" sz="1500" dirty="0"/>
          </a:p>
        </p:txBody>
      </p:sp>
      <p:sp>
        <p:nvSpPr>
          <p:cNvPr id="25" name="Chip 5"/>
          <p:cNvSpPr/>
          <p:nvPr/>
        </p:nvSpPr>
        <p:spPr>
          <a:xfrm>
            <a:off x="8494776" y="3291840"/>
            <a:ext cx="1508760" cy="1051560"/>
          </a:xfrm>
          <a:prstGeom prst="roundRect">
            <a:avLst>
              <a:gd name="adj" fmla="val 8696"/>
            </a:avLst>
          </a:prstGeom>
          <a:solidFill>
            <a:schemeClr val="bg2"/>
          </a:solidFill>
          <a:ln/>
        </p:spPr>
      </p:sp>
      <p:sp>
        <p:nvSpPr>
          <p:cNvPr id="26" name="Text 23"/>
          <p:cNvSpPr txBox="1"/>
          <p:nvPr/>
        </p:nvSpPr>
        <p:spPr>
          <a:xfrm>
            <a:off x="8586216" y="329184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Giá cả</a:t>
            </a:r>
            <a:endParaRPr lang="en-US" sz="1500" dirty="0"/>
          </a:p>
        </p:txBody>
      </p:sp>
      <p:sp>
        <p:nvSpPr>
          <p:cNvPr id="27" name="Chip 6"/>
          <p:cNvSpPr/>
          <p:nvPr/>
        </p:nvSpPr>
        <p:spPr>
          <a:xfrm>
            <a:off x="10131552" y="3291840"/>
            <a:ext cx="1508760" cy="1051560"/>
          </a:xfrm>
          <a:prstGeom prst="roundRect">
            <a:avLst>
              <a:gd name="adj" fmla="val 8696"/>
            </a:avLst>
          </a:prstGeom>
          <a:solidFill>
            <a:schemeClr val="bg2"/>
          </a:solidFill>
          <a:ln/>
        </p:spPr>
      </p:sp>
      <p:sp>
        <p:nvSpPr>
          <p:cNvPr id="28" name="Text 25"/>
          <p:cNvSpPr txBox="1"/>
          <p:nvPr/>
        </p:nvSpPr>
        <p:spPr>
          <a:xfrm>
            <a:off x="10222992" y="329184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Sai mô tả</a:t>
            </a:r>
            <a:endParaRPr lang="en-US" sz="1500" dirty="0"/>
          </a:p>
        </p:txBody>
      </p:sp>
      <p:sp>
        <p:nvSpPr>
          <p:cNvPr id="29" name="Chip 7"/>
          <p:cNvSpPr/>
          <p:nvPr/>
        </p:nvSpPr>
        <p:spPr>
          <a:xfrm>
            <a:off x="6858000" y="4480560"/>
            <a:ext cx="1508760" cy="1051560"/>
          </a:xfrm>
          <a:prstGeom prst="roundRect">
            <a:avLst>
              <a:gd name="adj" fmla="val 8696"/>
            </a:avLst>
          </a:prstGeom>
          <a:solidFill>
            <a:schemeClr val="bg2"/>
          </a:solidFill>
          <a:ln/>
        </p:spPr>
      </p:sp>
      <p:sp>
        <p:nvSpPr>
          <p:cNvPr id="30" name="Text 27"/>
          <p:cNvSpPr txBox="1"/>
          <p:nvPr/>
        </p:nvSpPr>
        <p:spPr>
          <a:xfrm>
            <a:off x="6949440" y="448056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Kích cỡ, vừa vặn</a:t>
            </a:r>
            <a:endParaRPr lang="en-US" sz="1500" dirty="0"/>
          </a:p>
        </p:txBody>
      </p:sp>
      <p:sp>
        <p:nvSpPr>
          <p:cNvPr id="31" name="Chip 8"/>
          <p:cNvSpPr/>
          <p:nvPr/>
        </p:nvSpPr>
        <p:spPr>
          <a:xfrm>
            <a:off x="8494776" y="4480560"/>
            <a:ext cx="1508760" cy="1051560"/>
          </a:xfrm>
          <a:prstGeom prst="roundRect">
            <a:avLst>
              <a:gd name="adj" fmla="val 8696"/>
            </a:avLst>
          </a:prstGeom>
          <a:solidFill>
            <a:schemeClr val="bg2"/>
          </a:solidFill>
          <a:ln/>
        </p:spPr>
      </p:sp>
      <p:sp>
        <p:nvSpPr>
          <p:cNvPr id="32" name="Text 29"/>
          <p:cNvSpPr txBox="1"/>
          <p:nvPr/>
        </p:nvSpPr>
        <p:spPr>
          <a:xfrm>
            <a:off x="8586216" y="448056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Dịch vụ, đổi trả</a:t>
            </a:r>
            <a:endParaRPr lang="en-US" sz="1500" dirty="0"/>
          </a:p>
        </p:txBody>
      </p:sp>
      <p:sp>
        <p:nvSpPr>
          <p:cNvPr id="33" name="Chip 9"/>
          <p:cNvSpPr/>
          <p:nvPr/>
        </p:nvSpPr>
        <p:spPr>
          <a:xfrm>
            <a:off x="10131552" y="4480560"/>
            <a:ext cx="1508760" cy="1051560"/>
          </a:xfrm>
          <a:prstGeom prst="roundRect">
            <a:avLst>
              <a:gd name="adj" fmla="val 8696"/>
            </a:avLst>
          </a:prstGeom>
          <a:solidFill>
            <a:schemeClr val="bg2"/>
          </a:solidFill>
          <a:ln/>
        </p:spPr>
      </p:sp>
      <p:sp>
        <p:nvSpPr>
          <p:cNvPr id="34" name="Text 31"/>
          <p:cNvSpPr txBox="1"/>
          <p:nvPr/>
        </p:nvSpPr>
        <p:spPr>
          <a:xfrm>
            <a:off x="10222992" y="4480560"/>
            <a:ext cx="1325880" cy="1051560"/>
          </a:xfrm>
          <a:prstGeom prst="rect">
            <a:avLst/>
          </a:prstGeom>
          <a:noFill/>
          <a:ln/>
        </p:spPr>
        <p:txBody>
          <a:bodyPr wrap="square" lIns="0" tIns="0" rIns="0" bIns="0" rtlCol="0" anchor="ctr"/>
          <a:lstStyle/>
          <a:p>
            <a:pPr algn="ctr" indent="0" marL="0">
              <a:buNone/>
            </a:pPr>
            <a:r>
              <a:rPr lang="en-US" sz="1500" b="1" dirty="0">
                <a:solidFill>
                  <a:schemeClr val="tx1"/>
                </a:solidFill>
              </a:rPr>
              <a:t>Nội dung sách, phim, nhạc</a:t>
            </a:r>
            <a:endParaRPr lang="en-US" sz="1500" dirty="0"/>
          </a:p>
        </p:txBody>
      </p:sp>
      <p:sp>
        <p:nvSpPr>
          <p:cNvPr id="35" name="Text 32"/>
          <p:cNvSpPr txBox="1"/>
          <p:nvPr/>
        </p:nvSpPr>
        <p:spPr>
          <a:xfrm>
            <a:off x="6858000" y="5669280"/>
            <a:ext cx="4782312" cy="548640"/>
          </a:xfrm>
          <a:prstGeom prst="rect">
            <a:avLst/>
          </a:prstGeom>
          <a:noFill/>
          <a:ln/>
        </p:spPr>
        <p:txBody>
          <a:bodyPr wrap="square" lIns="0" tIns="0" rIns="0" bIns="0" rtlCol="0" anchor="t"/>
          <a:lstStyle/>
          <a:p>
            <a:pPr indent="0" marL="0">
              <a:buNone/>
            </a:pPr>
            <a:r>
              <a:rPr lang="en-US" sz="1400" dirty="0">
                <a:solidFill>
                  <a:schemeClr val="accent2"/>
                </a:solidFill>
              </a:rPr>
              <a:t>Kiểm tra trên 6,000 review: cả 9 nhóm xuất hiện ở bài chê gấp 4.2 đến 11.4 lần bài khen.</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Chẩn đoán thử trên 4 sản phẩm mô phỏng</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383280"/>
                <a:gridCol w="1828800"/>
                <a:gridCol w="1828800"/>
                <a:gridCol w="4050792"/>
              </a:tblGrid>
              <a:tr h="685800">
                <a:tc>
                  <a:txBody>
                    <a:bodyPr/>
                    <a:lstStyle/>
                    <a:p>
                      <a:pPr algn="l" indent="0" marL="0">
                        <a:buNone/>
                      </a:pPr>
                      <a:r>
                        <a:rPr lang="en-US" sz="1800" b="1" dirty="0">
                          <a:solidFill>
                            <a:srgbClr val="FFFFFF"/>
                          </a:solidFill>
                        </a:rPr>
                        <a:t>Sản phẩm</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ctr" indent="0" marL="0">
                        <a:buNone/>
                      </a:pPr>
                      <a:r>
                        <a:rPr lang="en-US" sz="1800" b="1" dirty="0">
                          <a:solidFill>
                            <a:srgbClr val="FFFFFF"/>
                          </a:solidFill>
                        </a:rPr>
                        <a:t>Sao dự đoán</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ctr" indent="0" marL="0">
                        <a:buNone/>
                      </a:pPr>
                      <a:r>
                        <a:rPr lang="en-US" sz="1800" b="1" dirty="0">
                          <a:solidFill>
                            <a:srgbClr val="FFFFFF"/>
                          </a:solidFill>
                        </a:rPr>
                        <a:t>Sao thật</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c>
                  <a:txBody>
                    <a:bodyPr/>
                    <a:lstStyle/>
                    <a:p>
                      <a:pPr algn="l" indent="0" marL="0">
                        <a:buNone/>
                      </a:pPr>
                      <a:r>
                        <a:rPr lang="en-US" sz="1800" b="1" dirty="0">
                          <a:solidFill>
                            <a:srgbClr val="FFFFFF"/>
                          </a:solidFill>
                        </a:rPr>
                        <a:t>Vấn đề phát hiện</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solidFill>
                      <a:srgbClr val="1F2328"/>
                    </a:solidFill>
                  </a:tcPr>
                </a:tc>
              </a:tr>
              <a:tr h="685800">
                <a:tc>
                  <a:txBody>
                    <a:bodyPr/>
                    <a:lstStyle/>
                    <a:p>
                      <a:pPr algn="l" indent="0" marL="0">
                        <a:buNone/>
                      </a:pPr>
                      <a:r>
                        <a:rPr lang="en-US" sz="1800" b="1" dirty="0">
                          <a:solidFill>
                            <a:srgbClr val="1F2328"/>
                          </a:solidFill>
                        </a:rPr>
                        <a:t>A: khen toàn diện</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b="1" dirty="0">
                          <a:solidFill>
                            <a:srgbClr val="8C5A2B"/>
                          </a:solidFill>
                        </a:rPr>
                        <a:t>4.06</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4.04</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Không có vấn đề nổi cộm</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85800">
                <a:tc>
                  <a:txBody>
                    <a:bodyPr/>
                    <a:lstStyle/>
                    <a:p>
                      <a:pPr algn="l" indent="0" marL="0">
                        <a:buNone/>
                      </a:pPr>
                      <a:r>
                        <a:rPr lang="en-US" sz="1800" b="1" dirty="0">
                          <a:solidFill>
                            <a:srgbClr val="1F2328"/>
                          </a:solidFill>
                        </a:rPr>
                        <a:t>B: chê giao hàng</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b="1" dirty="0">
                          <a:solidFill>
                            <a:srgbClr val="8C5A2B"/>
                          </a:solidFill>
                        </a:rPr>
                        <a:t>2.60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2.52</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Giá cả 33%, giao hàng 30%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85800">
                <a:tc>
                  <a:txBody>
                    <a:bodyPr/>
                    <a:lstStyle/>
                    <a:p>
                      <a:pPr algn="l" indent="0" marL="0">
                        <a:buNone/>
                      </a:pPr>
                      <a:r>
                        <a:rPr lang="en-US" sz="1800" b="1" dirty="0">
                          <a:solidFill>
                            <a:srgbClr val="1F2328"/>
                          </a:solidFill>
                        </a:rPr>
                        <a:t>C: chê chất lượng</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b="1" dirty="0">
                          <a:solidFill>
                            <a:srgbClr val="8C5A2B"/>
                          </a:solidFill>
                        </a:rPr>
                        <a:t>2.58</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2.40</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Chất lượng 34%, độ bền 34%</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85800">
                <a:tc>
                  <a:txBody>
                    <a:bodyPr/>
                    <a:lstStyle/>
                    <a:p>
                      <a:pPr algn="l" indent="0" marL="0">
                        <a:buNone/>
                      </a:pPr>
                      <a:r>
                        <a:rPr lang="en-US" sz="1800" b="1" dirty="0">
                          <a:solidFill>
                            <a:srgbClr val="1F2328"/>
                          </a:solidFill>
                        </a:rPr>
                        <a:t>D: chê giá và dịch vụ</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b="1" dirty="0">
                          <a:solidFill>
                            <a:srgbClr val="8C5A2B"/>
                          </a:solidFill>
                        </a:rPr>
                        <a:t>2.48</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ctr" indent="0" marL="0">
                        <a:buNone/>
                      </a:pPr>
                      <a:r>
                        <a:rPr lang="en-US" sz="1800" dirty="0">
                          <a:solidFill>
                            <a:srgbClr val="1F2328"/>
                          </a:solidFill>
                        </a:rPr>
                        <a:t>2.48</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algn="l" indent="0" marL="0">
                        <a:buNone/>
                      </a:pPr>
                      <a:r>
                        <a:rPr lang="en-US" sz="1800" dirty="0">
                          <a:solidFill>
                            <a:srgbClr val="1F2328"/>
                          </a:solidFill>
                        </a:rPr>
                        <a:t>Dịch vụ 44%, giá cả 41%</a:t>
                      </a:r>
                      <a:endParaRPr lang="en-US" sz="1800" dirty="0"/>
                    </a:p>
                  </a:txBody>
                  <a:tcPr marL="91440" marR="91440" marT="45720" marB="45720"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bl>
          </a:graphicData>
        </a:graphic>
      </p:graphicFrame>
      <p:sp>
        <p:nvSpPr>
          <p:cNvPr id="5" name="Card"/>
          <p:cNvSpPr/>
          <p:nvPr/>
        </p:nvSpPr>
        <p:spPr>
          <a:xfrm>
            <a:off x="548640" y="5257800"/>
            <a:ext cx="11091672" cy="822960"/>
          </a:xfrm>
          <a:prstGeom prst="roundRect">
            <a:avLst>
              <a:gd name="adj" fmla="val 11111"/>
            </a:avLst>
          </a:prstGeom>
          <a:solidFill>
            <a:schemeClr val="bg2"/>
          </a:solidFill>
          <a:ln/>
        </p:spPr>
      </p:sp>
      <p:sp>
        <p:nvSpPr>
          <p:cNvPr id="6" name="Text 2"/>
          <p:cNvSpPr txBox="1"/>
          <p:nvPr/>
        </p:nvSpPr>
        <p:spPr>
          <a:xfrm>
            <a:off x="822960" y="5257800"/>
            <a:ext cx="10543032" cy="822960"/>
          </a:xfrm>
          <a:prstGeom prst="rect">
            <a:avLst/>
          </a:prstGeom>
          <a:noFill/>
          <a:ln/>
        </p:spPr>
        <p:txBody>
          <a:bodyPr wrap="square" lIns="0" tIns="0" rIns="0" bIns="0" rtlCol="0" anchor="ctr"/>
          <a:lstStyle/>
          <a:p>
            <a:pPr indent="0" marL="0">
              <a:buNone/>
            </a:pPr>
            <a:r>
              <a:rPr lang="en-US" sz="1600" dirty="0">
                <a:solidFill>
                  <a:schemeClr val="tx1"/>
                </a:solidFill>
              </a:rPr>
              <a:t>Sao dự đoán sát sao thật. Mỗi sản phẩm có 50 review, tỷ lệ vấn đề tính trên số review chê.</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Kiểm chứng trên 500 sản phẩm mô phỏng</a:t>
            </a:r>
            <a:endParaRPr lang="en-US" sz="3000" dirty="0"/>
          </a:p>
        </p:txBody>
      </p:sp>
      <p:sp>
        <p:nvSpPr>
          <p:cNvPr id="4" name="Card"/>
          <p:cNvSpPr/>
          <p:nvPr/>
        </p:nvSpPr>
        <p:spPr>
          <a:xfrm>
            <a:off x="548640" y="1554480"/>
            <a:ext cx="2560320" cy="2103120"/>
          </a:xfrm>
          <a:prstGeom prst="roundRect">
            <a:avLst>
              <a:gd name="adj" fmla="val 4348"/>
            </a:avLst>
          </a:prstGeom>
          <a:solidFill>
            <a:schemeClr val="bg2"/>
          </a:solidFill>
          <a:ln/>
        </p:spPr>
      </p:sp>
      <p:sp>
        <p:nvSpPr>
          <p:cNvPr id="5" name="Text 2"/>
          <p:cNvSpPr txBox="1"/>
          <p:nvPr/>
        </p:nvSpPr>
        <p:spPr>
          <a:xfrm>
            <a:off x="777240" y="169164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0.978</a:t>
            </a:r>
            <a:endParaRPr lang="en-US" sz="4400" dirty="0"/>
          </a:p>
        </p:txBody>
      </p:sp>
      <p:sp>
        <p:nvSpPr>
          <p:cNvPr id="6" name="Text 3"/>
          <p:cNvSpPr txBox="1"/>
          <p:nvPr/>
        </p:nvSpPr>
        <p:spPr>
          <a:xfrm>
            <a:off x="777240" y="2606040"/>
            <a:ext cx="2148840" cy="1005840"/>
          </a:xfrm>
          <a:prstGeom prst="rect">
            <a:avLst/>
          </a:prstGeom>
          <a:noFill/>
          <a:ln/>
        </p:spPr>
        <p:txBody>
          <a:bodyPr wrap="square" lIns="0" tIns="0" rIns="0" bIns="0" rtlCol="0" anchor="t"/>
          <a:lstStyle/>
          <a:p>
            <a:pPr indent="0" marL="0">
              <a:buNone/>
            </a:pPr>
            <a:r>
              <a:rPr lang="en-US" sz="1500" dirty="0">
                <a:solidFill>
                  <a:schemeClr val="tx1"/>
                </a:solidFill>
              </a:rPr>
              <a:t>hệ số Pearson giữa sao thật và sao dự đoán</a:t>
            </a:r>
            <a:endParaRPr lang="en-US" sz="1500" dirty="0"/>
          </a:p>
        </p:txBody>
      </p:sp>
      <p:sp>
        <p:nvSpPr>
          <p:cNvPr id="7" name="Card"/>
          <p:cNvSpPr/>
          <p:nvPr/>
        </p:nvSpPr>
        <p:spPr>
          <a:xfrm>
            <a:off x="3392424" y="1554480"/>
            <a:ext cx="2560320" cy="2103120"/>
          </a:xfrm>
          <a:prstGeom prst="roundRect">
            <a:avLst>
              <a:gd name="adj" fmla="val 4348"/>
            </a:avLst>
          </a:prstGeom>
          <a:solidFill>
            <a:schemeClr val="bg2"/>
          </a:solidFill>
          <a:ln/>
        </p:spPr>
      </p:sp>
      <p:sp>
        <p:nvSpPr>
          <p:cNvPr id="8" name="Text 5"/>
          <p:cNvSpPr txBox="1"/>
          <p:nvPr/>
        </p:nvSpPr>
        <p:spPr>
          <a:xfrm>
            <a:off x="3621024" y="169164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0.178</a:t>
            </a:r>
            <a:endParaRPr lang="en-US" sz="4400" dirty="0"/>
          </a:p>
        </p:txBody>
      </p:sp>
      <p:sp>
        <p:nvSpPr>
          <p:cNvPr id="9" name="Text 6"/>
          <p:cNvSpPr txBox="1"/>
          <p:nvPr/>
        </p:nvSpPr>
        <p:spPr>
          <a:xfrm>
            <a:off x="3621024" y="2606040"/>
            <a:ext cx="2148840" cy="1005840"/>
          </a:xfrm>
          <a:prstGeom prst="rect">
            <a:avLst/>
          </a:prstGeom>
          <a:noFill/>
          <a:ln/>
        </p:spPr>
        <p:txBody>
          <a:bodyPr wrap="square" lIns="0" tIns="0" rIns="0" bIns="0" rtlCol="0" anchor="t"/>
          <a:lstStyle/>
          <a:p>
            <a:pPr indent="0" marL="0">
              <a:buNone/>
            </a:pPr>
            <a:r>
              <a:rPr lang="en-US" sz="1500" dirty="0">
                <a:solidFill>
                  <a:schemeClr val="tx1"/>
                </a:solidFill>
              </a:rPr>
              <a:t>sao sai số trung bình ở cấp sản phẩm</a:t>
            </a:r>
            <a:endParaRPr lang="en-US" sz="1500" dirty="0"/>
          </a:p>
        </p:txBody>
      </p:sp>
      <p:sp>
        <p:nvSpPr>
          <p:cNvPr id="10" name="Card"/>
          <p:cNvSpPr/>
          <p:nvPr/>
        </p:nvSpPr>
        <p:spPr>
          <a:xfrm>
            <a:off x="6236208" y="1554480"/>
            <a:ext cx="2560320" cy="2103120"/>
          </a:xfrm>
          <a:prstGeom prst="roundRect">
            <a:avLst>
              <a:gd name="adj" fmla="val 4348"/>
            </a:avLst>
          </a:prstGeom>
          <a:solidFill>
            <a:schemeClr val="bg2"/>
          </a:solidFill>
          <a:ln/>
        </p:spPr>
      </p:sp>
      <p:sp>
        <p:nvSpPr>
          <p:cNvPr id="11" name="Text 8"/>
          <p:cNvSpPr txBox="1"/>
          <p:nvPr/>
        </p:nvSpPr>
        <p:spPr>
          <a:xfrm>
            <a:off x="6464808" y="169164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+0.046</a:t>
            </a:r>
            <a:endParaRPr lang="en-US" sz="4400" dirty="0"/>
          </a:p>
        </p:txBody>
      </p:sp>
      <p:sp>
        <p:nvSpPr>
          <p:cNvPr id="12" name="Text 9"/>
          <p:cNvSpPr txBox="1"/>
          <p:nvPr/>
        </p:nvSpPr>
        <p:spPr>
          <a:xfrm>
            <a:off x="6464808" y="2606040"/>
            <a:ext cx="2148840" cy="1005840"/>
          </a:xfrm>
          <a:prstGeom prst="rect">
            <a:avLst/>
          </a:prstGeom>
          <a:noFill/>
          <a:ln/>
        </p:spPr>
        <p:txBody>
          <a:bodyPr wrap="square" lIns="0" tIns="0" rIns="0" bIns="0" rtlCol="0" anchor="t"/>
          <a:lstStyle/>
          <a:p>
            <a:pPr indent="0" marL="0">
              <a:buNone/>
            </a:pPr>
            <a:r>
              <a:rPr lang="en-US" sz="1500" dirty="0">
                <a:solidFill>
                  <a:schemeClr val="tx1"/>
                </a:solidFill>
              </a:rPr>
              <a:t>độ lệch trung bình, gần như không thiên lệch</a:t>
            </a:r>
            <a:endParaRPr lang="en-US" sz="1500" dirty="0"/>
          </a:p>
        </p:txBody>
      </p:sp>
      <p:sp>
        <p:nvSpPr>
          <p:cNvPr id="13" name="Card"/>
          <p:cNvSpPr/>
          <p:nvPr/>
        </p:nvSpPr>
        <p:spPr>
          <a:xfrm>
            <a:off x="9079992" y="1554480"/>
            <a:ext cx="2560320" cy="2103120"/>
          </a:xfrm>
          <a:prstGeom prst="roundRect">
            <a:avLst>
              <a:gd name="adj" fmla="val 4348"/>
            </a:avLst>
          </a:prstGeom>
          <a:solidFill>
            <a:schemeClr val="bg2"/>
          </a:solidFill>
          <a:ln/>
        </p:spPr>
      </p:sp>
      <p:sp>
        <p:nvSpPr>
          <p:cNvPr id="14" name="Text 11"/>
          <p:cNvSpPr txBox="1"/>
          <p:nvPr/>
        </p:nvSpPr>
        <p:spPr>
          <a:xfrm>
            <a:off x="9308592" y="169164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95.4%</a:t>
            </a:r>
            <a:endParaRPr lang="en-US" sz="4400" dirty="0"/>
          </a:p>
        </p:txBody>
      </p:sp>
      <p:sp>
        <p:nvSpPr>
          <p:cNvPr id="15" name="Text 12"/>
          <p:cNvSpPr txBox="1"/>
          <p:nvPr/>
        </p:nvSpPr>
        <p:spPr>
          <a:xfrm>
            <a:off x="9308592" y="2606040"/>
            <a:ext cx="2148840" cy="1005840"/>
          </a:xfrm>
          <a:prstGeom prst="rect">
            <a:avLst/>
          </a:prstGeom>
          <a:noFill/>
          <a:ln/>
        </p:spPr>
        <p:txBody>
          <a:bodyPr wrap="square" lIns="0" tIns="0" rIns="0" bIns="0" rtlCol="0" anchor="t"/>
          <a:lstStyle/>
          <a:p>
            <a:pPr indent="0" marL="0">
              <a:buNone/>
            </a:pPr>
            <a:r>
              <a:rPr lang="en-US" sz="1500" dirty="0">
                <a:solidFill>
                  <a:schemeClr val="tx1"/>
                </a:solidFill>
              </a:rPr>
              <a:t>đoán đúng sản phẩm tốt hay không tốt</a:t>
            </a:r>
            <a:endParaRPr lang="en-US" sz="1500" dirty="0"/>
          </a:p>
        </p:txBody>
      </p:sp>
      <p:sp>
        <p:nvSpPr>
          <p:cNvPr id="16" name="Card"/>
          <p:cNvSpPr/>
          <p:nvPr/>
        </p:nvSpPr>
        <p:spPr>
          <a:xfrm>
            <a:off x="548640" y="3886200"/>
            <a:ext cx="5394960" cy="1783080"/>
          </a:xfrm>
          <a:prstGeom prst="roundRect">
            <a:avLst>
              <a:gd name="adj" fmla="val 5128"/>
            </a:avLst>
          </a:prstGeom>
          <a:solidFill>
            <a:schemeClr val="bg2"/>
          </a:solidFill>
          <a:ln/>
        </p:spPr>
      </p:sp>
      <p:sp>
        <p:nvSpPr>
          <p:cNvPr id="17" name="Text 14"/>
          <p:cNvSpPr txBox="1"/>
          <p:nvPr/>
        </p:nvSpPr>
        <p:spPr>
          <a:xfrm>
            <a:off x="822960" y="4023360"/>
            <a:ext cx="4846320" cy="365760"/>
          </a:xfrm>
          <a:prstGeom prst="rect">
            <a:avLst/>
          </a:prstGeom>
          <a:noFill/>
          <a:ln/>
        </p:spPr>
        <p:txBody>
          <a:bodyPr wrap="square" lIns="0" tIns="0" rIns="0" bIns="0" rtlCol="0" anchor="t"/>
          <a:lstStyle/>
          <a:p>
            <a:pPr indent="0" marL="0">
              <a:buNone/>
            </a:pPr>
            <a:r>
              <a:rPr lang="en-US" sz="2000" b="1" dirty="0">
                <a:solidFill>
                  <a:schemeClr val="accent6"/>
                </a:solidFill>
              </a:rPr>
              <a:t>Cách kiểm chứng</a:t>
            </a:r>
            <a:endParaRPr lang="en-US" sz="2000" dirty="0"/>
          </a:p>
        </p:txBody>
      </p:sp>
      <p:sp>
        <p:nvSpPr>
          <p:cNvPr id="18" name="Text 15"/>
          <p:cNvSpPr txBox="1"/>
          <p:nvPr/>
        </p:nvSpPr>
        <p:spPr>
          <a:xfrm>
            <a:off x="822960" y="4526280"/>
            <a:ext cx="4846320" cy="1097280"/>
          </a:xfrm>
          <a:prstGeom prst="rect">
            <a:avLst/>
          </a:prstGeom>
          <a:noFill/>
          <a:ln/>
        </p:spPr>
        <p:txBody>
          <a:bodyPr wrap="square" lIns="0" tIns="0" rIns="0" bIns="0" rtlCol="0" anchor="t"/>
          <a:lstStyle/>
          <a:p>
            <a:pPr indent="0" marL="0">
              <a:buNone/>
            </a:pPr>
            <a:r>
              <a:rPr lang="en-US" sz="1600" dirty="0">
                <a:solidFill>
                  <a:schemeClr val="tx1"/>
                </a:solidFill>
              </a:rPr>
              <a:t>500 sản phẩm mô phỏng, mỗi sản phẩm 50 review ngẫu nhiên từ tập test, tổng 25,000 review.</a:t>
            </a:r>
            <a:endParaRPr lang="en-US" sz="1600" dirty="0"/>
          </a:p>
        </p:txBody>
      </p:sp>
      <p:sp>
        <p:nvSpPr>
          <p:cNvPr id="19" name="Card"/>
          <p:cNvSpPr/>
          <p:nvPr/>
        </p:nvSpPr>
        <p:spPr>
          <a:xfrm>
            <a:off x="6245352" y="3886200"/>
            <a:ext cx="5394960" cy="1783080"/>
          </a:xfrm>
          <a:prstGeom prst="roundRect">
            <a:avLst>
              <a:gd name="adj" fmla="val 5128"/>
            </a:avLst>
          </a:prstGeom>
          <a:solidFill>
            <a:schemeClr val="bg2"/>
          </a:solidFill>
          <a:ln/>
        </p:spPr>
      </p:sp>
      <p:sp>
        <p:nvSpPr>
          <p:cNvPr id="20" name="Text 17"/>
          <p:cNvSpPr txBox="1"/>
          <p:nvPr/>
        </p:nvSpPr>
        <p:spPr>
          <a:xfrm>
            <a:off x="6519672" y="4023360"/>
            <a:ext cx="4846320" cy="365760"/>
          </a:xfrm>
          <a:prstGeom prst="rect">
            <a:avLst/>
          </a:prstGeom>
          <a:noFill/>
          <a:ln/>
        </p:spPr>
        <p:txBody>
          <a:bodyPr wrap="square" lIns="0" tIns="0" rIns="0" bIns="0" rtlCol="0" anchor="t"/>
          <a:lstStyle/>
          <a:p>
            <a:pPr indent="0" marL="0">
              <a:buNone/>
            </a:pPr>
            <a:r>
              <a:rPr lang="en-US" sz="2000" b="1" dirty="0">
                <a:solidFill>
                  <a:schemeClr val="accent6"/>
                </a:solidFill>
              </a:rPr>
              <a:t>Vì sao sai số nhỏ</a:t>
            </a:r>
            <a:endParaRPr lang="en-US" sz="2000" dirty="0"/>
          </a:p>
        </p:txBody>
      </p:sp>
      <p:sp>
        <p:nvSpPr>
          <p:cNvPr id="21" name="Text 18"/>
          <p:cNvSpPr txBox="1"/>
          <p:nvPr/>
        </p:nvSpPr>
        <p:spPr>
          <a:xfrm>
            <a:off x="6519672" y="4526280"/>
            <a:ext cx="4846320" cy="1097280"/>
          </a:xfrm>
          <a:prstGeom prst="rect">
            <a:avLst/>
          </a:prstGeom>
          <a:noFill/>
          <a:ln/>
        </p:spPr>
        <p:txBody>
          <a:bodyPr wrap="square" lIns="0" tIns="0" rIns="0" bIns="0" rtlCol="0" anchor="t"/>
          <a:lstStyle/>
          <a:p>
            <a:pPr indent="0" marL="0">
              <a:buNone/>
            </a:pPr>
            <a:r>
              <a:rPr lang="en-US" sz="1600" dirty="0">
                <a:solidFill>
                  <a:schemeClr val="tx1"/>
                </a:solidFill>
              </a:rPr>
              <a:t>Sai số từng review là 0.612 sao. Gộp 50 review thì lệch lên và lệch xuống triệt tiêu, còn 0.178 sao.</a:t>
            </a:r>
            <a:endParaRPr lang="en-US" sz="1600" dirty="0"/>
          </a:p>
        </p:txBody>
      </p:sp>
      <p:sp>
        <p:nvSpPr>
          <p:cNvPr id="22" name="Text 19"/>
          <p:cNvSpPr txBox="1"/>
          <p:nvPr/>
        </p:nvSpPr>
        <p:spPr>
          <a:xfrm>
            <a:off x="548640" y="5806440"/>
            <a:ext cx="11091672" cy="457200"/>
          </a:xfrm>
          <a:prstGeom prst="rect">
            <a:avLst/>
          </a:prstGeom>
          <a:noFill/>
          <a:ln/>
        </p:spPr>
        <p:txBody>
          <a:bodyPr wrap="square" lIns="0" tIns="0" rIns="0" bIns="0" rtlCol="0" anchor="t"/>
          <a:lstStyle/>
          <a:p>
            <a:pPr indent="0" marL="0">
              <a:buNone/>
            </a:pPr>
            <a:r>
              <a:rPr lang="en-US" sz="1400" dirty="0">
                <a:solidFill>
                  <a:schemeClr val="accent2"/>
                </a:solidFill>
              </a:rPr>
              <a:t>Đây là sản phẩm mô phỏng từ tập test, chưa phải dữ liệu bán hàng thật. Với 292 sản phẩm cách mốc 3.0 ít nhất 0.5 sao, độ chính xác lên tới 99.7%.</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bg1"/>
                </a:solidFill>
              </a:rPr>
              <a:t>Kết quả đạt được</a:t>
            </a:r>
            <a:endParaRPr lang="en-US" sz="3000" dirty="0"/>
          </a:p>
        </p:txBody>
      </p:sp>
      <p:sp>
        <p:nvSpPr>
          <p:cNvPr id="4" name="Text 1"/>
          <p:cNvSpPr txBox="1"/>
          <p:nvPr/>
        </p:nvSpPr>
        <p:spPr>
          <a:xfrm>
            <a:off x="548640" y="1508760"/>
            <a:ext cx="11091672" cy="822960"/>
          </a:xfrm>
          <a:prstGeom prst="rect">
            <a:avLst/>
          </a:prstGeom>
          <a:noFill/>
          <a:ln/>
        </p:spPr>
        <p:txBody>
          <a:bodyPr wrap="square" lIns="0" tIns="0" rIns="0" bIns="0" rtlCol="0" anchor="t"/>
          <a:lstStyle/>
          <a:p>
            <a:pPr indent="0" marL="0">
              <a:buNone/>
            </a:pPr>
            <a:r>
              <a:rPr lang="en-US" sz="2200" b="1" dirty="0">
                <a:solidFill>
                  <a:schemeClr val="bg1"/>
                </a:solidFill>
              </a:rPr>
              <a:t>Mô hình tuyến tính với TF-IDF n-gram: nhẹ, giải thích được và chạy trên máy cá nhân.</a:t>
            </a:r>
            <a:endParaRPr lang="en-US" sz="2200" dirty="0"/>
          </a:p>
        </p:txBody>
      </p:sp>
      <p:sp>
        <p:nvSpPr>
          <p:cNvPr id="5" name="Card"/>
          <p:cNvSpPr/>
          <p:nvPr/>
        </p:nvSpPr>
        <p:spPr>
          <a:xfrm>
            <a:off x="548640" y="2743200"/>
            <a:ext cx="2560320" cy="2926080"/>
          </a:xfrm>
          <a:prstGeom prst="roundRect">
            <a:avLst>
              <a:gd name="adj" fmla="val 3571"/>
            </a:avLst>
          </a:prstGeom>
          <a:solidFill>
            <a:schemeClr val="tx2"/>
          </a:solidFill>
          <a:ln/>
        </p:spPr>
      </p:sp>
      <p:sp>
        <p:nvSpPr>
          <p:cNvPr id="6" name="Text 3"/>
          <p:cNvSpPr txBox="1"/>
          <p:nvPr/>
        </p:nvSpPr>
        <p:spPr>
          <a:xfrm>
            <a:off x="777240" y="297180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54.48%</a:t>
            </a:r>
            <a:endParaRPr lang="en-US" sz="4400" dirty="0"/>
          </a:p>
        </p:txBody>
      </p:sp>
      <p:sp>
        <p:nvSpPr>
          <p:cNvPr id="7" name="Text 4"/>
          <p:cNvSpPr txBox="1"/>
          <p:nvPr/>
        </p:nvSpPr>
        <p:spPr>
          <a:xfrm>
            <a:off x="777240" y="4023360"/>
            <a:ext cx="2148840" cy="1463040"/>
          </a:xfrm>
          <a:prstGeom prst="rect">
            <a:avLst/>
          </a:prstGeom>
          <a:noFill/>
          <a:ln/>
        </p:spPr>
        <p:txBody>
          <a:bodyPr wrap="square" lIns="0" tIns="0" rIns="0" bIns="0" rtlCol="0" anchor="t"/>
          <a:lstStyle/>
          <a:p>
            <a:pPr indent="0" marL="0">
              <a:buNone/>
            </a:pPr>
            <a:r>
              <a:rPr lang="en-US" sz="1600" dirty="0">
                <a:solidFill>
                  <a:schemeClr val="bg1"/>
                </a:solidFill>
              </a:rPr>
              <a:t>Accuracy của Logistic Regression, gần bằng bài gốc (54.64%)</a:t>
            </a:r>
            <a:endParaRPr lang="en-US" sz="1600" dirty="0"/>
          </a:p>
        </p:txBody>
      </p:sp>
      <p:sp>
        <p:nvSpPr>
          <p:cNvPr id="8" name="Card"/>
          <p:cNvSpPr/>
          <p:nvPr/>
        </p:nvSpPr>
        <p:spPr>
          <a:xfrm>
            <a:off x="3392424" y="2743200"/>
            <a:ext cx="2560320" cy="2926080"/>
          </a:xfrm>
          <a:prstGeom prst="roundRect">
            <a:avLst>
              <a:gd name="adj" fmla="val 3571"/>
            </a:avLst>
          </a:prstGeom>
          <a:solidFill>
            <a:schemeClr val="tx2"/>
          </a:solidFill>
          <a:ln/>
        </p:spPr>
      </p:sp>
      <p:sp>
        <p:nvSpPr>
          <p:cNvPr id="9" name="Text 6"/>
          <p:cNvSpPr txBox="1"/>
          <p:nvPr/>
        </p:nvSpPr>
        <p:spPr>
          <a:xfrm>
            <a:off x="3621024" y="297180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89.14%</a:t>
            </a:r>
            <a:endParaRPr lang="en-US" sz="4400" dirty="0"/>
          </a:p>
        </p:txBody>
      </p:sp>
      <p:sp>
        <p:nvSpPr>
          <p:cNvPr id="10" name="Text 7"/>
          <p:cNvSpPr txBox="1"/>
          <p:nvPr/>
        </p:nvSpPr>
        <p:spPr>
          <a:xfrm>
            <a:off x="3621024" y="4023360"/>
            <a:ext cx="2148840" cy="1463040"/>
          </a:xfrm>
          <a:prstGeom prst="rect">
            <a:avLst/>
          </a:prstGeom>
          <a:noFill/>
          <a:ln/>
        </p:spPr>
        <p:txBody>
          <a:bodyPr wrap="square" lIns="0" tIns="0" rIns="0" bIns="0" rtlCol="0" anchor="t"/>
          <a:lstStyle/>
          <a:p>
            <a:pPr indent="0" marL="0">
              <a:buNone/>
            </a:pPr>
            <a:r>
              <a:rPr lang="en-US" sz="1600" dirty="0">
                <a:solidFill>
                  <a:schemeClr val="bg1"/>
                </a:solidFill>
              </a:rPr>
              <a:t>đoán đúng hoặc lệch tối đa 1 sao, MAE 0.612</a:t>
            </a:r>
            <a:endParaRPr lang="en-US" sz="1600" dirty="0"/>
          </a:p>
        </p:txBody>
      </p:sp>
      <p:sp>
        <p:nvSpPr>
          <p:cNvPr id="11" name="Card"/>
          <p:cNvSpPr/>
          <p:nvPr/>
        </p:nvSpPr>
        <p:spPr>
          <a:xfrm>
            <a:off x="6236208" y="2743200"/>
            <a:ext cx="2560320" cy="2926080"/>
          </a:xfrm>
          <a:prstGeom prst="roundRect">
            <a:avLst>
              <a:gd name="adj" fmla="val 3571"/>
            </a:avLst>
          </a:prstGeom>
          <a:solidFill>
            <a:schemeClr val="tx2"/>
          </a:solidFill>
          <a:ln/>
        </p:spPr>
      </p:sp>
      <p:sp>
        <p:nvSpPr>
          <p:cNvPr id="12" name="Text 9"/>
          <p:cNvSpPr txBox="1"/>
          <p:nvPr/>
        </p:nvSpPr>
        <p:spPr>
          <a:xfrm>
            <a:off x="6464808" y="297180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+3.2%</a:t>
            </a:r>
            <a:endParaRPr lang="en-US" sz="4400" dirty="0"/>
          </a:p>
        </p:txBody>
      </p:sp>
      <p:sp>
        <p:nvSpPr>
          <p:cNvPr id="13" name="Text 10"/>
          <p:cNvSpPr txBox="1"/>
          <p:nvPr/>
        </p:nvSpPr>
        <p:spPr>
          <a:xfrm>
            <a:off x="6464808" y="4023360"/>
            <a:ext cx="2148840" cy="1463040"/>
          </a:xfrm>
          <a:prstGeom prst="rect">
            <a:avLst/>
          </a:prstGeom>
          <a:noFill/>
          <a:ln/>
        </p:spPr>
        <p:txBody>
          <a:bodyPr wrap="square" lIns="0" tIns="0" rIns="0" bIns="0" rtlCol="0" anchor="t"/>
          <a:lstStyle/>
          <a:p>
            <a:pPr indent="0" marL="0">
              <a:buNone/>
            </a:pPr>
            <a:r>
              <a:rPr lang="en-US" sz="1600" dirty="0">
                <a:solidFill>
                  <a:schemeClr val="bg1"/>
                </a:solidFill>
              </a:rPr>
              <a:t>Macro F1 nhờ giữ từ phủ định và dùng bigram</a:t>
            </a:r>
            <a:endParaRPr lang="en-US" sz="1600" dirty="0"/>
          </a:p>
        </p:txBody>
      </p:sp>
      <p:sp>
        <p:nvSpPr>
          <p:cNvPr id="14" name="Card"/>
          <p:cNvSpPr/>
          <p:nvPr/>
        </p:nvSpPr>
        <p:spPr>
          <a:xfrm>
            <a:off x="9079992" y="2743200"/>
            <a:ext cx="2560320" cy="2926080"/>
          </a:xfrm>
          <a:prstGeom prst="roundRect">
            <a:avLst>
              <a:gd name="adj" fmla="val 3571"/>
            </a:avLst>
          </a:prstGeom>
          <a:solidFill>
            <a:schemeClr val="tx2"/>
          </a:solidFill>
          <a:ln/>
        </p:spPr>
      </p:sp>
      <p:sp>
        <p:nvSpPr>
          <p:cNvPr id="15" name="Text 12"/>
          <p:cNvSpPr txBox="1"/>
          <p:nvPr/>
        </p:nvSpPr>
        <p:spPr>
          <a:xfrm>
            <a:off x="9308592" y="297180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0.978</a:t>
            </a:r>
            <a:endParaRPr lang="en-US" sz="4400" dirty="0"/>
          </a:p>
        </p:txBody>
      </p:sp>
      <p:sp>
        <p:nvSpPr>
          <p:cNvPr id="16" name="Text 13"/>
          <p:cNvSpPr txBox="1"/>
          <p:nvPr/>
        </p:nvSpPr>
        <p:spPr>
          <a:xfrm>
            <a:off x="9308592" y="4023360"/>
            <a:ext cx="2148840" cy="1463040"/>
          </a:xfrm>
          <a:prstGeom prst="rect">
            <a:avLst/>
          </a:prstGeom>
          <a:noFill/>
          <a:ln/>
        </p:spPr>
        <p:txBody>
          <a:bodyPr wrap="square" lIns="0" tIns="0" rIns="0" bIns="0" rtlCol="0" anchor="t"/>
          <a:lstStyle/>
          <a:p>
            <a:pPr indent="0" marL="0">
              <a:buNone/>
            </a:pPr>
            <a:r>
              <a:rPr lang="en-US" sz="1600" dirty="0">
                <a:solidFill>
                  <a:schemeClr val="bg1"/>
                </a:solidFill>
              </a:rPr>
              <a:t>Pearson ở cấp sản phẩm, sai số chỉ 0.178 sao</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0B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994392" cy="868680"/>
          </a:xfrm>
          <a:prstGeom prst="rect">
            <a:avLst/>
          </a:prstGeom>
          <a:noFill/>
          <a:ln/>
        </p:spPr>
        <p:txBody>
          <a:bodyPr wrap="square" lIns="0" tIns="0" rIns="0" bIns="0" rtlCol="0" anchor="ctr"/>
          <a:lstStyle/>
          <a:p>
            <a:pPr algn="l" indent="0" marL="0">
              <a:buNone/>
            </a:pPr>
            <a:r>
              <a:rPr lang="en-US" sz="3000" b="1" dirty="0">
                <a:solidFill>
                  <a:schemeClr val="tx1"/>
                </a:solidFill>
              </a:rPr>
              <a:t>Hạn chế và hướng phát triển</a:t>
            </a:r>
            <a:endParaRPr lang="en-US" sz="3000" dirty="0"/>
          </a:p>
        </p:txBody>
      </p:sp>
      <p:sp>
        <p:nvSpPr>
          <p:cNvPr id="4" name="Card"/>
          <p:cNvSpPr/>
          <p:nvPr/>
        </p:nvSpPr>
        <p:spPr>
          <a:xfrm>
            <a:off x="548640" y="1554480"/>
            <a:ext cx="5394960" cy="3566160"/>
          </a:xfrm>
          <a:prstGeom prst="roundRect">
            <a:avLst>
              <a:gd name="adj" fmla="val 2564"/>
            </a:avLst>
          </a:prstGeom>
          <a:solidFill>
            <a:schemeClr val="bg2"/>
          </a:solidFill>
          <a:ln/>
        </p:spPr>
      </p:sp>
      <p:sp>
        <p:nvSpPr>
          <p:cNvPr id="5" name="Text 2"/>
          <p:cNvSpPr txBox="1"/>
          <p:nvPr/>
        </p:nvSpPr>
        <p:spPr>
          <a:xfrm>
            <a:off x="868680" y="1783080"/>
            <a:ext cx="4754880" cy="457200"/>
          </a:xfrm>
          <a:prstGeom prst="rect">
            <a:avLst/>
          </a:prstGeom>
          <a:noFill/>
          <a:ln/>
        </p:spPr>
        <p:txBody>
          <a:bodyPr wrap="square" lIns="0" tIns="0" rIns="0" bIns="0" rtlCol="0" anchor="t"/>
          <a:lstStyle/>
          <a:p>
            <a:pPr indent="0" marL="0">
              <a:buNone/>
            </a:pPr>
            <a:r>
              <a:rPr lang="en-US" sz="2400" b="1" dirty="0">
                <a:solidFill>
                  <a:schemeClr val="accent3"/>
                </a:solidFill>
              </a:rPr>
              <a:t>Hạn chế</a:t>
            </a:r>
            <a:endParaRPr lang="en-US" sz="2400" dirty="0"/>
          </a:p>
        </p:txBody>
      </p:sp>
      <p:sp>
        <p:nvSpPr>
          <p:cNvPr id="6" name="Text 3"/>
          <p:cNvSpPr txBox="1"/>
          <p:nvPr/>
        </p:nvSpPr>
        <p:spPr>
          <a:xfrm>
            <a:off x="868680" y="2468880"/>
            <a:ext cx="4754880" cy="25603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TF-IDF chưa xử lý tốt mỉa mai và phủ định đứng xa nhau.</a:t>
            </a:r>
            <a:endParaRPr lang="en-US" sz="2000" dirty="0"/>
          </a:p>
          <a:p>
            <a:pPr marL="342900" indent="-342900">
              <a:spcAft>
                <a:spcPts val="1400"/>
              </a:spcAft>
              <a:buSzPct val="100000"/>
              <a:buChar char="•"/>
            </a:pPr>
            <a:r>
              <a:rPr lang="en-US" sz="2000" dirty="0">
                <a:solidFill>
                  <a:schemeClr val="tx1"/>
                </a:solidFill>
              </a:rPr>
              <a:t>Từ điển khía cạnh là regex tĩnh, phải cập nhật tay.</a:t>
            </a:r>
            <a:endParaRPr lang="en-US" sz="2000" dirty="0"/>
          </a:p>
          <a:p>
            <a:pPr marL="342900" indent="-342900">
              <a:spcAft>
                <a:spcPts val="1400"/>
              </a:spcAft>
              <a:buSzPct val="100000"/>
              <a:buChar char="•"/>
            </a:pPr>
            <a:r>
              <a:rPr lang="en-US" sz="2000" dirty="0">
                <a:solidFill>
                  <a:schemeClr val="tx1"/>
                </a:solidFill>
              </a:rPr>
              <a:t>Mới thử trên tiếng Anh, chưa có tiếng Việt.</a:t>
            </a:r>
            <a:endParaRPr lang="en-US" sz="2000" dirty="0"/>
          </a:p>
        </p:txBody>
      </p:sp>
      <p:sp>
        <p:nvSpPr>
          <p:cNvPr id="7" name="Card"/>
          <p:cNvSpPr/>
          <p:nvPr/>
        </p:nvSpPr>
        <p:spPr>
          <a:xfrm>
            <a:off x="6245352" y="1554480"/>
            <a:ext cx="5394960" cy="3566160"/>
          </a:xfrm>
          <a:prstGeom prst="roundRect">
            <a:avLst>
              <a:gd name="adj" fmla="val 2564"/>
            </a:avLst>
          </a:prstGeom>
          <a:solidFill>
            <a:schemeClr val="bg2"/>
          </a:solidFill>
          <a:ln/>
        </p:spPr>
      </p:sp>
      <p:sp>
        <p:nvSpPr>
          <p:cNvPr id="8" name="Text 5"/>
          <p:cNvSpPr txBox="1"/>
          <p:nvPr/>
        </p:nvSpPr>
        <p:spPr>
          <a:xfrm>
            <a:off x="6565392" y="1783080"/>
            <a:ext cx="4754880" cy="457200"/>
          </a:xfrm>
          <a:prstGeom prst="rect">
            <a:avLst/>
          </a:prstGeom>
          <a:noFill/>
          <a:ln/>
        </p:spPr>
        <p:txBody>
          <a:bodyPr wrap="square" lIns="0" tIns="0" rIns="0" bIns="0" rtlCol="0" anchor="t"/>
          <a:lstStyle/>
          <a:p>
            <a:pPr indent="0" marL="0">
              <a:buNone/>
            </a:pPr>
            <a:r>
              <a:rPr lang="en-US" sz="2400" b="1" dirty="0">
                <a:solidFill>
                  <a:schemeClr val="accent4"/>
                </a:solidFill>
              </a:rPr>
              <a:t>Bước tiếp theo</a:t>
            </a:r>
            <a:endParaRPr lang="en-US" sz="2400" dirty="0"/>
          </a:p>
        </p:txBody>
      </p:sp>
      <p:sp>
        <p:nvSpPr>
          <p:cNvPr id="9" name="Text 6"/>
          <p:cNvSpPr txBox="1"/>
          <p:nvPr/>
        </p:nvSpPr>
        <p:spPr>
          <a:xfrm>
            <a:off x="6565392" y="2468880"/>
            <a:ext cx="4754880" cy="25603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Thử DistilBERT hoặc MobileBERT cho câu mỉa mai.</a:t>
            </a:r>
            <a:endParaRPr lang="en-US" sz="2000" dirty="0"/>
          </a:p>
          <a:p>
            <a:pPr marL="342900" indent="-342900">
              <a:spcAft>
                <a:spcPts val="1400"/>
              </a:spcAft>
              <a:buSzPct val="100000"/>
              <a:buChar char="•"/>
            </a:pPr>
            <a:r>
              <a:rPr lang="en-US" sz="2000" dirty="0">
                <a:solidFill>
                  <a:schemeClr val="tx1"/>
                </a:solidFill>
              </a:rPr>
              <a:t>Tự tìm khía cạnh mới bằng BiLSTM-CRF.</a:t>
            </a:r>
            <a:endParaRPr lang="en-US" sz="2000" dirty="0"/>
          </a:p>
          <a:p>
            <a:pPr marL="342900" indent="-342900">
              <a:spcAft>
                <a:spcPts val="1400"/>
              </a:spcAft>
              <a:buSzPct val="100000"/>
              <a:buChar char="•"/>
            </a:pPr>
            <a:r>
              <a:rPr lang="en-US" sz="2000" dirty="0">
                <a:solidFill>
                  <a:schemeClr val="tx1"/>
                </a:solidFill>
              </a:rPr>
              <a:t>Làm web app Streamlit hoặc FastAPI cho người bán.</a:t>
            </a:r>
            <a:endParaRPr lang="en-US" sz="2000" dirty="0"/>
          </a:p>
        </p:txBody>
      </p:sp>
      <p:sp>
        <p:nvSpPr>
          <p:cNvPr id="10" name="Text 7"/>
          <p:cNvSpPr txBox="1"/>
          <p:nvPr/>
        </p:nvSpPr>
        <p:spPr>
          <a:xfrm>
            <a:off x="548640" y="5440680"/>
            <a:ext cx="11091672" cy="54864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Xin cảm ơn hội đồng đã lắng nghe.</a:t>
            </a:r>
            <a:endParaRPr lang="en-US" sz="2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70"/>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Amazon 5 Sao">
  <a:themeElements>
    <a:clrScheme name="Amazon 5 Sao">
      <a:dk1>
        <a:srgbClr val="1F2328"/>
      </a:dk1>
      <a:lt1>
        <a:srgbClr val="FFFFFF"/>
      </a:lt1>
      <a:dk2>
        <a:srgbClr val="3B4350"/>
      </a:dk2>
      <a:lt2>
        <a:srgbClr val="F2F3F5"/>
      </a:lt2>
      <a:accent1>
        <a:srgbClr val="D9822B"/>
      </a:accent1>
      <a:accent2>
        <a:srgbClr val="5B6770"/>
      </a:accent2>
      <a:accent3>
        <a:srgbClr val="B5483A"/>
      </a:accent3>
      <a:accent4>
        <a:srgbClr val="3E7C6B"/>
      </a:accent4>
      <a:accent5>
        <a:srgbClr val="A9B0B8"/>
      </a:accent5>
      <a:accent6>
        <a:srgbClr val="8C5A2B"/>
      </a:accent6>
      <a:hlink>
        <a:srgbClr val="D9822B"/>
      </a:hlink>
      <a:folHlink>
        <a:srgbClr val="5B6770"/>
      </a:folHlink>
    </a:clrScheme>
    <a:fontScheme name="Amazon 5 Sa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loại đánh giá sản phẩm Amazon theo 5 mức sao</dc:title>
  <dc:subject>PptxGenJS Presentation</dc:subject>
  <dc:creator>Nguyễn Huỳnh Anh Tuấn, Lê Văn Tính, Nguyễn Anh Vũ</dc:creator>
  <cp:lastModifiedBy>Nguyễn Huỳnh Anh Tuấn, Lê Văn Tính, Nguyễn Anh Vũ</cp:lastModifiedBy>
  <cp:revision>1</cp:revision>
  <dcterms:created xsi:type="dcterms:W3CDTF">2026-10-28T11:38:25Z</dcterms:created>
  <dcterms:modified xsi:type="dcterms:W3CDTF">2026-10-28T11:38:25Z</dcterms:modified>
</cp:coreProperties>
</file>